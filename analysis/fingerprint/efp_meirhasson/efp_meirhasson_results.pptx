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EEG Finger-Print (EFP) for DMN / CEN / PDA</a:t>
            </a:r>
          </a:p>
          <a:p>
            <a:r>
              <a:rPr sz="2000">
                <a:solidFill>
                  <a:srgbClr val="555555"/>
                </a:solidFill>
              </a:rPr>
              <a:t>Replicating Meir-Hasson et al. 2014 on the DMNELF simultaneous EEG–fMRI cohort</a:t>
            </a:r>
          </a:p>
          <a:p>
            <a:r>
              <a:rPr sz="1500">
                <a:solidFill>
                  <a:srgbClr val="555555"/>
                </a:solidFill>
              </a:rPr>
              <a:t>Single electrode · Stockwell time-frequency · data-driven bands · sliding-delay ridge · n=17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EFP method (what makes it different)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Single electrode (data-driven best, by validation NMSE) — not multivariate.</a:t>
            </a:r>
          </a:p>
          <a:p>
            <a:pPr>
              <a:spcAft>
                <a:spcPts val="600"/>
              </a:spcAft>
            </a:pPr>
            <a:r>
              <a:rPr sz="1600" b="0"/>
              <a:t>• Stockwell (S-)transform time-frequency at 1 Hz (implemented from scratch, FFT-based).</a:t>
            </a:r>
          </a:p>
          <a:p>
            <a:pPr>
              <a:spcAft>
                <a:spcPts val="600"/>
              </a:spcAft>
            </a:pPr>
            <a:r>
              <a:rPr sz="1600" b="0"/>
              <a:t>• 10 data-driven equal-energy frequency bands (not fixed delta/theta/alpha).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KEY: a [frequency × sliding time-delay] design (0..−12 s) → ridge learns a SEPARATE delay for each frequency. No assumed HRF shape.</a:t>
            </a:r>
          </a:p>
          <a:p>
            <a:pPr>
              <a:spcAft>
                <a:spcPts val="600"/>
              </a:spcAft>
            </a:pPr>
            <a:r>
              <a:rPr sz="1600" b="0"/>
              <a:t>• Double cross-validation: outer m-k-fold block CV (k=5,m=2) + inner RidgeCV for λ.</a:t>
            </a:r>
          </a:p>
          <a:p>
            <a:pPr>
              <a:spcAft>
                <a:spcPts val="600"/>
              </a:spcAft>
            </a:pPr>
            <a:r>
              <a:rPr sz="1600" b="0"/>
              <a:t>• Baselines on same folds: Theta/Alpha ratio (traditional) and fixed-HRF predictor.</a:t>
            </a:r>
          </a:p>
          <a:p>
            <a:pPr>
              <a:spcAft>
                <a:spcPts val="600"/>
              </a:spcAft>
            </a:pPr>
            <a:r>
              <a:rPr sz="1600" b="0"/>
              <a:t>• Built at both native-TR and 4 Hz-upsampled resolution to test the paper's up-sampling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Within-subject: EFP beats both baselines (EFP ≥ HRF ≥ T/A)</a:t>
            </a:r>
          </a:p>
        </p:txBody>
      </p:sp>
      <p:pic>
        <p:nvPicPr>
          <p:cNvPr id="3" name="Picture 2" descr="fig_efp_v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499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/>
              <a:t>• Replicates the paper's ordering across every target; strongest for CEN, PDA, GSR_CEN, GSR_PDA (r≈0.25–0.28). GSR_DMN weakest (r≈0.11–0.17), consistent with our other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Interpretable fingerprints — a learned HRF per frequency</a:t>
            </a:r>
          </a:p>
        </p:txBody>
      </p:sp>
      <p:pic>
        <p:nvPicPr>
          <p:cNvPr id="3" name="Picture 2" descr="efp_group_fingerprint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852160" cy="3344091"/>
          </a:xfrm>
          <a:prstGeom prst="rect">
            <a:avLst/>
          </a:prstGeom>
        </p:spPr>
      </p:pic>
      <p:pic>
        <p:nvPicPr>
          <p:cNvPr id="4" name="Picture 3" descr="efp_group_fingerprint_GSR_CEN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852160" cy="3344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/>
              <a:t>• Group-averaged [band × delay] EFP. Weights peak at ~−4 to −7 s delay — an HRF-plausible lag learned data-drivenly, differing across frequency bands.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EFP vs our prior methods — a clear improvement</a:t>
            </a:r>
          </a:p>
        </p:txBody>
      </p:sp>
      <p:pic>
        <p:nvPicPr>
          <p:cNvPr id="3" name="Picture 2" descr="fi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499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• Within-subject EFP roughly doubles PDA decoding (r=0.26 vs DWT 0.11, HMM 0.10) and improves GSR_CEN (0.26 vs 0.17).</a:t>
            </a:r>
          </a:p>
          <a:p>
            <a:pPr>
              <a:spcAft>
                <a:spcPts val="600"/>
              </a:spcAft>
            </a:pPr>
            <a:r>
              <a:rPr sz="1300" b="0"/>
              <a:t>• Even cross-subject (LOSO) EFP transfers for PDA (r=0.13, p=0.01) — a general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Cross-subject generalization &amp; TR vs 4 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LOSO general fingerprint (train N−1, predict held-out), TR resolution: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E7D32"/>
                </a:solidFill>
              </a:rPr>
              <a:t>– PDA: r=+0.127 (p=0.010, ch Pz)</a:t>
            </a:r>
          </a:p>
          <a:p>
            <a:pPr lvl="1">
              <a:spcAft>
                <a:spcPts val="600"/>
              </a:spcAft>
            </a:pPr>
            <a:r>
              <a:rPr sz="1400" b="0"/>
              <a:t>– CEN: r=+0.084 (p=0.001)</a:t>
            </a:r>
          </a:p>
          <a:p>
            <a:pPr lvl="1">
              <a:spcAft>
                <a:spcPts val="600"/>
              </a:spcAft>
            </a:pPr>
            <a:r>
              <a:rPr sz="1400" b="0"/>
              <a:t>– DMN: r=+0.066 (p=0.002)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B03A2E"/>
                </a:solidFill>
              </a:rPr>
              <a:t>– GSR'd targets transfer weakly across subjects (p&gt;0.05) — GSR removes shared signal.</a:t>
            </a:r>
          </a:p>
          <a:p>
            <a:pPr>
              <a:spcAft>
                <a:spcPts val="600"/>
              </a:spcAft>
            </a:pPr>
            <a:r>
              <a:rPr sz="1600" b="0"/>
              <a:t>• TR vs 4 Hz up-sampling: comparable within-subject accuracy — confirms the paper's finding that up-sampling adds temporal detail but not correlation.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 — EFP fingerprints</a:t>
            </a:r>
          </a:p>
          <a:p>
            <a:r>
              <a:rPr sz="1500">
                <a:solidFill>
                  <a:srgbClr val="555555"/>
                </a:solidFill>
              </a:rPr>
              <a:t>Meir-Hasson Fig 5c/7c analog: [frequency × time-delay] per target</a:t>
            </a:r>
          </a:p>
        </p:txBody>
      </p:sp>
      <p:pic>
        <p:nvPicPr>
          <p:cNvPr id="3" name="Picture 2" descr="paper_fig_fingerprint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6104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II — predictor overlay &amp; electrode topography</a:t>
            </a:r>
          </a:p>
          <a:p>
            <a:r>
              <a:rPr sz="1500">
                <a:solidFill>
                  <a:srgbClr val="555555"/>
                </a:solidFill>
              </a:rPr>
              <a:t>Fig 3d (predictor vs fMRI) and Fig 3e/5b (per-electrode CV correlation r; red=better)</a:t>
            </a:r>
          </a:p>
        </p:txBody>
      </p:sp>
      <p:pic>
        <p:nvPicPr>
          <p:cNvPr id="3" name="Picture 2" descr="paper_fig_predictor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406640" cy="2518258"/>
          </a:xfrm>
          <a:prstGeom prst="rect">
            <a:avLst/>
          </a:prstGeom>
        </p:spPr>
      </p:pic>
      <p:pic>
        <p:nvPicPr>
          <p:cNvPr id="4" name="Picture 3" descr="paper_fig_r_topomap_PDA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280160"/>
            <a:ext cx="2926080" cy="2813538"/>
          </a:xfrm>
          <a:prstGeom prst="rect">
            <a:avLst/>
          </a:prstGeom>
        </p:spPr>
      </p:pic>
      <p:pic>
        <p:nvPicPr>
          <p:cNvPr id="5" name="Picture 4" descr="paper_fig_predictor_CEN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7406640" cy="2518258"/>
          </a:xfrm>
          <a:prstGeom prst="rect">
            <a:avLst/>
          </a:prstGeom>
        </p:spPr>
      </p:pic>
      <p:pic>
        <p:nvPicPr>
          <p:cNvPr id="6" name="Picture 5" descr="paper_fig_r_topomap_CEN_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3840480"/>
            <a:ext cx="2926080" cy="28135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III — post-processing (Fig 2 analog)</a:t>
            </a:r>
          </a:p>
          <a:p>
            <a:r>
              <a:rPr sz="1500">
                <a:solidFill>
                  <a:srgbClr val="555555"/>
                </a:solidFill>
              </a:rPr>
              <a:t>EEG → S-transform → 4 Hz → data-driven bands → band-averaged TF → sliding window; fMRI ROI → 4 Hz + normalized</a:t>
            </a:r>
          </a:p>
        </p:txBody>
      </p:sp>
      <p:pic>
        <p:nvPicPr>
          <p:cNvPr id="3" name="Picture 2" descr="paper_fig2_schematic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451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PDA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765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CEN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CEN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27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GSR_CEN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GSR_CEN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27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Positive control — visual cortex (Fig 5 analog)</a:t>
            </a:r>
          </a:p>
          <a:p>
            <a:r>
              <a:rPr sz="1500">
                <a:solidFill>
                  <a:srgbClr val="555555"/>
                </a:solidFill>
              </a:rPr>
              <a:t>Focal 6mm calcarine sphere (MNI -1,-86,13 ~ V1). Blind EFP localizes posteriorly (group-mean peak Pz; LOSO best O2) with alpha modulation — recovers occipital topography, validating the method</a:t>
            </a:r>
          </a:p>
        </p:txBody>
      </p:sp>
      <p:pic>
        <p:nvPicPr>
          <p:cNvPr id="3" name="Picture 2" descr="paper_fig3_composite_VI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6111545"/>
          </a:xfrm>
          <a:prstGeom prst="rect">
            <a:avLst/>
          </a:prstGeom>
        </p:spPr>
      </p:pic>
      <p:pic>
        <p:nvPicPr>
          <p:cNvPr id="4" name="Picture 3" descr="paper_fig_group_topomap_VIS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737360"/>
            <a:ext cx="2926080" cy="27093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Faithful EFP replication succeeds on DMNELF.</a:t>
            </a:r>
          </a:p>
          <a:p>
            <a:pPr lvl="1">
              <a:spcAft>
                <a:spcPts val="600"/>
              </a:spcAft>
            </a:pPr>
            <a:r>
              <a:rPr sz="1400" b="0"/>
              <a:t>– The sliding-delay single-electrode fingerprint is our best DMN/CEN/PDA decoder to date, within-subject (PDA r≈0.26, CEN r≈0.28).</a:t>
            </a:r>
          </a:p>
          <a:p>
            <a:pPr lvl="1">
              <a:spcAft>
                <a:spcPts val="600"/>
              </a:spcAft>
            </a:pPr>
            <a:r>
              <a:rPr sz="1400" b="0"/>
              <a:t>– A general (LOSO) PDA fingerprint transfers across subjects (r≈0.13, p=0.01) — promising for EEG-only neurofeedback.</a:t>
            </a:r>
          </a:p>
          <a:p>
            <a:pPr lvl="1">
              <a:spcAft>
                <a:spcPts val="600"/>
              </a:spcAft>
            </a:pPr>
            <a:r>
              <a:rPr sz="1400" b="0"/>
              <a:t>– Interpretable [freq × delay] fingerprints show HRF-plausible per-frequency delays — good paper figures.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Caveats</a:t>
            </a:r>
          </a:p>
          <a:p>
            <a:pPr lvl="1">
              <a:spcAft>
                <a:spcPts val="600"/>
              </a:spcAft>
            </a:pPr>
            <a:r>
              <a:rPr sz="1400" b="0"/>
              <a:t>– GSR_DMN remains hard (within and across subjects).</a:t>
            </a:r>
          </a:p>
          <a:p>
            <a:pPr lvl="1">
              <a:spcAft>
                <a:spcPts val="600"/>
              </a:spcAft>
            </a:pPr>
            <a:r>
              <a:rPr sz="1400" b="0"/>
              <a:t>– LOSO uses band-index alignment across per-subject data-driven bands (approximation); a fixed-band group model is the natural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