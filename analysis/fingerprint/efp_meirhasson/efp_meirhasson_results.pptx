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F3A5F"/>
                </a:solidFill>
              </a:rPr>
              <a:t>EEG Finger-Print (EFP) for DMN / CEN / PDA</a:t>
            </a:r>
          </a:p>
          <a:p>
            <a:r>
              <a:rPr sz="2000">
                <a:solidFill>
                  <a:srgbClr val="555555"/>
                </a:solidFill>
              </a:rPr>
              <a:t>Replicating Meir-Hasson et al. 2014 on the DMNELF simultaneous EEG–fMRI cohort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 · n=17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The EFP method (what makes it different)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/>
              <a:t>• Single electrode (data-driven best, by validation NMSE) — not multivariate.</a:t>
            </a:r>
          </a:p>
          <a:p>
            <a:pPr>
              <a:spcAft>
                <a:spcPts val="600"/>
              </a:spcAft>
            </a:pPr>
            <a:r>
              <a:rPr sz="1600" b="0"/>
              <a:t>• Stockwell (S-)transform time-frequency at 1 Hz (implemented from scratch, FFT-based).</a:t>
            </a:r>
          </a:p>
          <a:p>
            <a:pPr>
              <a:spcAft>
                <a:spcPts val="600"/>
              </a:spcAft>
            </a:pPr>
            <a:r>
              <a:rPr sz="1600" b="0"/>
              <a:t>• 10 data-driven equal-energy frequency bands (not fixed delta/theta/alpha).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KEY: a [frequency × sliding time-delay] design (0..−12 s) → ridge learns a SEPARATE delay for each frequency. No assumed HRF shape.</a:t>
            </a:r>
          </a:p>
          <a:p>
            <a:pPr>
              <a:spcAft>
                <a:spcPts val="600"/>
              </a:spcAft>
            </a:pPr>
            <a:r>
              <a:rPr sz="1600" b="0"/>
              <a:t>• Double cross-validation: outer m-k-fold block CV (k=5,m=2) + inner RidgeCV for λ.</a:t>
            </a:r>
          </a:p>
          <a:p>
            <a:pPr>
              <a:spcAft>
                <a:spcPts val="600"/>
              </a:spcAft>
            </a:pPr>
            <a:r>
              <a:rPr sz="1600" b="0"/>
              <a:t>• Baselines on same folds: Theta/Alpha ratio (traditional) and fixed-HRF predictor.</a:t>
            </a:r>
          </a:p>
          <a:p>
            <a:pPr>
              <a:spcAft>
                <a:spcPts val="600"/>
              </a:spcAft>
            </a:pPr>
            <a:r>
              <a:rPr sz="1600" b="0"/>
              <a:t>• Built at both native-TR and 4 Hz-upsampled resolution to test the paper's up-sampling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Within-subject: EFP beats both baselines (EFP ≥ HRF ≥ T/A)</a:t>
            </a:r>
          </a:p>
        </p:txBody>
      </p:sp>
      <p:pic>
        <p:nvPicPr>
          <p:cNvPr id="3" name="Picture 2" descr="fig_efp_vs_bas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52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Replicates the paper's ordering across every target; strongest for CEN, PDA, GSR_CEN, GSR_PDA (r≈0.25–0.28). GSR_DMN weakest (r≈0.11–0.17), consistent with our other pipelines.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Substantial individual variability</a:t>
            </a:r>
          </a:p>
          <a:p>
            <a:r>
              <a:rPr sz="1500">
                <a:solidFill>
                  <a:srgbClr val="555555"/>
                </a:solidFill>
              </a:rPr>
              <a:t>Per-subject EFP r by target (bar = group mean, band = 95% CI). Every target's CI excludes zero, but spread is wide — motivates the subject-specific electrode selection.</a:t>
            </a:r>
          </a:p>
        </p:txBody>
      </p:sp>
      <p:pic>
        <p:nvPicPr>
          <p:cNvPr id="3" name="Picture 2" descr="paper_fig_persubject_scatter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4907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Interpretable fingerprints — a learned HRF per frequency</a:t>
            </a:r>
          </a:p>
        </p:txBody>
      </p:sp>
      <p:pic>
        <p:nvPicPr>
          <p:cNvPr id="3" name="Picture 2" descr="efp_group_fingerprint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852160" cy="3344091"/>
          </a:xfrm>
          <a:prstGeom prst="rect">
            <a:avLst/>
          </a:prstGeom>
        </p:spPr>
      </p:pic>
      <p:pic>
        <p:nvPicPr>
          <p:cNvPr id="4" name="Picture 3" descr="efp_group_fingerprint_GSR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852160" cy="3344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1206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Group-averaged [band × delay] EFP. Weights peak at ~−4 to −7 s delay — an HRF-plausible lag learned data-drivenly, differing across frequency bands.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EFP vs our prior methods — a clear improvement</a:t>
            </a:r>
          </a:p>
        </p:txBody>
      </p:sp>
      <p:pic>
        <p:nvPicPr>
          <p:cNvPr id="3" name="Picture 2" descr="fig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4499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6692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Within-subject EFP roughly doubles PDA decoding (r=0.26 vs DWT 0.11, HMM 0.10) and improves GSR_CEN (0.26 vs 0.17).</a:t>
            </a:r>
          </a:p>
          <a:p>
            <a:pPr>
              <a:spcAft>
                <a:spcPts val="600"/>
              </a:spcAft>
            </a:pPr>
            <a:r>
              <a:rPr sz="1300" b="0"/>
              <a:t>• Even cross-subject (LOSO) EFP transfers for PDA (r=0.13, p=0.01) — a general fingerprint.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Cross-subject generalization &amp; TR vs 4 Hz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LOSO general fingerprint (train N−1, predict held-out), TR resolution: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PDA: r=+0.127 (p=0.010, ch Pz)</a:t>
            </a:r>
          </a:p>
          <a:p>
            <a:pPr lvl="1">
              <a:spcAft>
                <a:spcPts val="600"/>
              </a:spcAft>
            </a:pPr>
            <a:r>
              <a:rPr sz="1400" b="0"/>
              <a:t>– CEN: r=+0.084 (p=0.001)</a:t>
            </a:r>
          </a:p>
          <a:p>
            <a:pPr lvl="1">
              <a:spcAft>
                <a:spcPts val="600"/>
              </a:spcAft>
            </a:pPr>
            <a:r>
              <a:rPr sz="1400" b="0"/>
              <a:t>– DMN: r=+0.066 (p=0.002)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B03A2E"/>
                </a:solidFill>
              </a:rPr>
              <a:t>– GSR'd targets transfer weakly across subjects (p&gt;0.05) — GSR removes shared signal.</a:t>
            </a:r>
          </a:p>
          <a:p>
            <a:pPr>
              <a:spcAft>
                <a:spcPts val="600"/>
              </a:spcAft>
            </a:pPr>
            <a:r>
              <a:rPr sz="1600" b="0"/>
              <a:t>• TR vs 4 Hz up-sampling: comparable within-subject accuracy — confirms the paper's finding that up-sampling adds temporal detail but not correlation.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 — EFP fingerprints</a:t>
            </a:r>
          </a:p>
          <a:p>
            <a:r>
              <a:rPr sz="1500">
                <a:solidFill>
                  <a:srgbClr val="555555"/>
                </a:solidFill>
              </a:rPr>
              <a:t>Meir-Hasson Fig 5c/7c analog: [frequency × time-delay] per target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61044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 — predictor overlay &amp; electrode topography</a:t>
            </a:r>
          </a:p>
          <a:p>
            <a:r>
              <a:rPr sz="1500">
                <a:solidFill>
                  <a:srgbClr val="555555"/>
                </a:solidFill>
              </a:rPr>
              <a:t>Fig 3d (predictor vs fMRI) and Fig 3e/5b (per-electrode CV correlation r; red=better)</a:t>
            </a:r>
          </a:p>
        </p:txBody>
      </p:sp>
      <p:pic>
        <p:nvPicPr>
          <p:cNvPr id="3" name="Picture 2" descr="paper_fig_predictor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406640" cy="2518258"/>
          </a:xfrm>
          <a:prstGeom prst="rect">
            <a:avLst/>
          </a:prstGeom>
        </p:spPr>
      </p:pic>
      <p:pic>
        <p:nvPicPr>
          <p:cNvPr id="4" name="Picture 3" descr="paper_fig_r_topomap_PDA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280160"/>
            <a:ext cx="2926080" cy="2813538"/>
          </a:xfrm>
          <a:prstGeom prst="rect">
            <a:avLst/>
          </a:prstGeom>
        </p:spPr>
      </p:pic>
      <p:pic>
        <p:nvPicPr>
          <p:cNvPr id="5" name="Picture 4" descr="paper_fig_predicto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931920"/>
            <a:ext cx="7406640" cy="2518258"/>
          </a:xfrm>
          <a:prstGeom prst="rect">
            <a:avLst/>
          </a:prstGeom>
        </p:spPr>
      </p:pic>
      <p:pic>
        <p:nvPicPr>
          <p:cNvPr id="6" name="Picture 5" descr="paper_fig_r_topomap_CEN_t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79" y="3840480"/>
            <a:ext cx="2926080" cy="28135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III — post-processing (Fig 2 analog)</a:t>
            </a:r>
          </a:p>
          <a:p>
            <a:r>
              <a:rPr sz="1500">
                <a:solidFill>
                  <a:srgbClr val="555555"/>
                </a:solidFill>
              </a:rPr>
              <a:t>EEG → S-transform → 4 Hz → data-driven bands → band-averaged TF → sliding window; fMRI ROI → 4 Hz + normalized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845197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PDA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7651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Paper-style figures IV — prediction I/O, GSR_CEN (Fig 3 analog)</a:t>
            </a:r>
          </a:p>
          <a:p>
            <a:r>
              <a:rPr sz="1500">
                <a:solidFill>
                  <a:srgbClr val="555555"/>
                </a:solidFill>
              </a:rPr>
              <a:t>a) ROI signal + ROI mask  b) bottom/top-25% EEG TF  c) EFP  d) predictor vs fMRI  e) per-electrode r</a:t>
            </a:r>
          </a:p>
        </p:txBody>
      </p:sp>
      <p:pic>
        <p:nvPicPr>
          <p:cNvPr id="3" name="Picture 2" descr="paper_fig3_composite_GSR_CEN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11430000" cy="81270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Positive control — visual cortex (Fig 5 analog)</a:t>
            </a:r>
          </a:p>
          <a:p>
            <a:r>
              <a:rPr sz="1500">
                <a:solidFill>
                  <a:srgbClr val="555555"/>
                </a:solidFill>
              </a:rPr>
              <a:t>Focal 6mm calcarine sphere (MNI -1,-86,13 ~ V1). Blind EFP localizes posteriorly (group-mean peak Pz; LOSO best O2) with alpha modulation — recovers occipital topography, validating the method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8595360" cy="6111545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73736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</a:rPr>
              <a:t>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Faithful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/>
              <a:t>– The sliding-delay single-electrode fingerprint is our best DMN/CEN/PDA decoder to date, within-subject (PDA r≈0.26, CEN r≈0.28).</a:t>
            </a:r>
          </a:p>
          <a:p>
            <a:pPr lvl="1">
              <a:spcAft>
                <a:spcPts val="600"/>
              </a:spcAft>
            </a:pPr>
            <a:r>
              <a:rPr sz="1400" b="0"/>
              <a:t>– A general (LOSO) PDA fingerprint transfers across subjects (r≈0.13, p=0.01) — promising for EEG-only neurofeedback.</a:t>
            </a:r>
          </a:p>
          <a:p>
            <a:pPr lvl="1">
              <a:spcAft>
                <a:spcPts val="600"/>
              </a:spcAft>
            </a:pPr>
            <a:r>
              <a:rPr sz="1400" b="0"/>
              <a:t>– Interpretable [freq × delay] fingerprints show HRF-plausible per-frequency delays — good paper figures.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Caveats</a:t>
            </a:r>
          </a:p>
          <a:p>
            <a:pPr lvl="1">
              <a:spcAft>
                <a:spcPts val="600"/>
              </a:spcAft>
            </a:pPr>
            <a:r>
              <a:rPr sz="1400" b="0"/>
              <a:t>– GSR_DMN remains hard (within and across subjects).</a:t>
            </a:r>
          </a:p>
          <a:p>
            <a:pPr lvl="1">
              <a:spcAft>
                <a:spcPts val="600"/>
              </a:spcAft>
            </a:pPr>
            <a:r>
              <a:rPr sz="1400" b="0"/>
              <a:t>– LOSO uses band-index alignment across per-subject data-driven bands (approximation); a fixed-band group model is the natural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