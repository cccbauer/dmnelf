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19456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EEG Finger-Print (EFP) → fMRI Network Decoding</a:t>
            </a:r>
          </a:p>
          <a:p>
            <a:r>
              <a:rPr sz="2000">
                <a:solidFill>
                  <a:srgbClr val="555555"/>
                </a:solidFill>
              </a:rPr>
              <a:t>Replicating &amp; extending Meir-Hasson et al. (2014) to DMN / CEN / PDA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</a:t>
            </a:r>
          </a:p>
          <a:p>
            <a:r>
              <a:rPr sz="1400">
                <a:solidFill>
                  <a:srgbClr val="555555"/>
                </a:solidFill>
              </a:rPr>
              <a:t>DMNELF simultaneous EEG–fMRI cohort · n=17 · nested cross-validation (v3, bulletproofed)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Decode fMRI network activity (DMN, CEN) and the PDA neurofeedback target from simultaneous scalp EEG.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Why? So EEG alone — cheap, portable, no scanner — can drive real-time neurofeedback once a mapping is learned.</a:t>
            </a:r>
          </a:p>
          <a:p>
            <a:pPr>
              <a:spcAft>
                <a:spcPts val="600"/>
              </a:spcAft>
            </a:pPr>
            <a:r>
              <a:rPr sz="1800" b="0"/>
              <a:t>• PDA = the actual DMNELF neurofeedback target (personalized CEN − DMN differential). GSR'd targets remove the shared global-arousal signal — the hard, network-specific test.</a:t>
            </a:r>
          </a:p>
          <a:p>
            <a:pPr>
              <a:spcAft>
                <a:spcPts val="600"/>
              </a:spcAft>
            </a:pPr>
            <a:r>
              <a:rPr sz="1800" b="0"/>
              <a:t>• Meir-Hasson's EFP is a single-electrode, HRF-free time-frequency fingerprint. We ask: does it replicate here, beat standard baselines, and generalize to new subjects &amp; a new cohort?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Methods Overview — the EFP pipeline</a:t>
            </a:r>
          </a:p>
          <a:p>
            <a:r>
              <a:rPr sz="1400">
                <a:solidFill>
                  <a:srgbClr val="555555"/>
                </a:solidFill>
              </a:rPr>
              <a:t>EEG → S-transform → data-driven bands → [frequency × sliding-delay] design → ridge → fMRI ROI</a:t>
            </a:r>
          </a:p>
        </p:txBody>
      </p:sp>
      <p:pic>
        <p:nvPicPr>
          <p:cNvPr id="3" name="Picture 2" descr="paper_fig2_schematic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417" y="1160597"/>
            <a:ext cx="7293935" cy="548124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1 — Single electrode + Stockwell time-frequency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EFP uses ONE electrode (data-driven), not a multivariate montage — a deliberately minimal, interpretable model.</a:t>
            </a:r>
          </a:p>
          <a:p>
            <a:pPr>
              <a:spcAft>
                <a:spcPts val="600"/>
              </a:spcAft>
            </a:pPr>
            <a:r>
              <a:rPr sz="1800" b="0"/>
              <a:t>• Per electrode: Stockwell (S-)transform at 1 Hz resolution (FFT-based, implemented from scratch) → an instantaneous time-frequency power map.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• Contrast with our band-power decoder (eeg_bold_coupling): that used 31-channel Hilbert envelopes; EFP trades spatial breadth for temporal-spectral depth at one site.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2 — Data-driven equal-energy frequency bands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Instead of fixed δ/θ/α/β/γ, the spectrum is split into 10 bands of equal cumulative log-power — each carries the same energy.</a:t>
            </a:r>
          </a:p>
          <a:p>
            <a:pPr>
              <a:spcAft>
                <a:spcPts val="600"/>
              </a:spcAft>
            </a:pPr>
            <a:r>
              <a:rPr sz="1800" b="0"/>
              <a:t>• Bands are learned per subject/electrode from the data, then power is averaged within each band and standardized.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This adapts the frequency axis to each person's spectral profile — part of why it is a personalized 'fingerprint'.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3 — [frequency × sliding-delay] design  (the KEY idea)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For each of the 10 bands, build lagged copies over a sliding delay window 0 … −12 s (11 delays at TR).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• Ridge then learns a SEPARATE weight per (band × delay) — i.e. a separate temporal response for every frequency. No canonical HRF is assumed.</a:t>
            </a:r>
          </a:p>
          <a:p>
            <a:pPr>
              <a:spcAft>
                <a:spcPts val="600"/>
              </a:spcAft>
            </a:pPr>
            <a:r>
              <a:rPr sz="1800" b="0"/>
              <a:t>• The learned weight matrix IS the fingerprint: an HRF-like lag profile that can differ across frequency bands (see Results).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• Design size ≈ 10 bands × 11 delays = 110 features from one electrode.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4 — fMRI targets &amp; global-signal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Seven targets (z-scored per run): CEN, DMN, PDA (CEN − DMN differential), plus a VIS positive-control ROI, each in RAW and GSR'd form.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RAW targets include global arousal (a sanity check — easy). GSR'd targets remove the shared signal → the stringent, network-specific test.</a:t>
            </a:r>
          </a:p>
          <a:p>
            <a:pPr>
              <a:spcAft>
                <a:spcPts val="600"/>
              </a:spcAft>
            </a:pPr>
            <a:r>
              <a:rPr sz="1800" b="0"/>
              <a:t>• VIS = focal 6 mm calcarine sphere (MNI −1,−86,13 ≈ V1): a known EEG-visible ROI used to validate that the blind pipeline localizes correctly.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5 — Nested cross-validation (the honest estimator)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Outer contiguous block CV (k=5, m=2) preserves temporal autocorrelation; inner RidgeCV (GCV) picks λ over a 30-value log grid.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• Electrode selection is NESTED: the best electrode is chosen on the inner-training folds and scored ONLY on the held-out outer fold.</a:t>
            </a:r>
          </a:p>
          <a:p>
            <a:pPr>
              <a:spcAft>
                <a:spcPts val="600"/>
              </a:spcAft>
            </a:pPr>
            <a:r>
              <a:rPr sz="1800" b="0"/>
              <a:t>• Reported r = concatenated out-of-fold Pearson correlation (oof_r) — matches Meir-Hasson's 'select on train, evaluate on test' and removes selection optimism.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E7D32"/>
                </a:solidFill>
              </a:rPr>
              <a:t>• Baselines (HRF, T/A) are nested over the SAME candidate electrodes → a fair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6 — Baselines &amp;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HRF baseline: same 10 bands convolved with a fixed canonical HRF (assumes one delay).</a:t>
            </a:r>
          </a:p>
          <a:p>
            <a:pPr>
              <a:spcAft>
                <a:spcPts val="600"/>
              </a:spcAft>
            </a:pPr>
            <a:r>
              <a:rPr sz="1800" b="0"/>
              <a:t>• T/A baseline: traditional theta/alpha ratio, HRF-convolved (the classic EEG index).</a:t>
            </a:r>
          </a:p>
          <a:p>
            <a:pPr>
              <a:spcAft>
                <a:spcPts val="600"/>
              </a:spcAft>
            </a:pPr>
            <a:r>
              <a:rPr sz="1800" b="0"/>
              <a:t>• Group significance: sign-flip permutation on the group-mean r (10k flips).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Electrode topography: per-electrode sign-flip p with Benjamini–Hochberg FDR — 'mark, don't mask' (significant electrodes dotted, map preserved).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Bulletproofing — two artifacts caught &amp; fixed</a:t>
            </a:r>
          </a:p>
          <a:p>
            <a:r>
              <a:rPr sz="1400">
                <a:solidFill>
                  <a:srgbClr val="555555"/>
                </a:solidFill>
              </a:rPr>
              <a:t>Full adversarial audit before write-up (VALIDATION.md). The story SURVIVED honest re-analysis.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B03A2E"/>
                </a:solidFill>
              </a:rPr>
              <a:t>• ① Selection bias — v1 picked the best of ~31 electrodes on the same folds it scored on → within-subject r inflated ~0.05–0.15.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   Fix: nested CV (above). Within-subject numbers now de-biased.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B03A2E"/>
                </a:solidFill>
              </a:rPr>
              <a:t>• ② Normalization asymmetry — EFP features were raw while HRF/T-A were per-run z-scored, deflating EFP's 110 heterogeneous features.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   Fix: per-run standardize the EFP design too. EFP recovered (CEN 0.089 → 0.159; cross-cohort roughly doubled).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Net effect: the bulletproofing STRENGTHENED the EFP result — it did not depend on the bugs.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1 — Within-subject: EFP wins the task-relevant targets</a:t>
            </a:r>
          </a:p>
        </p:txBody>
      </p:sp>
      <p:pic>
        <p:nvPicPr>
          <p:cNvPr id="3" name="Picture 2" descr="ppt_withi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416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60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EFP leads on CEN (0.159), PDA (0.169), GSR_CEN (0.171), GSR_PDA (0.141) — including PDA, the neurofeedback target.</a:t>
            </a:r>
          </a:p>
          <a:p>
            <a:pPr>
              <a:spcAft>
                <a:spcPts val="600"/>
              </a:spcAft>
            </a:pPr>
            <a:r>
              <a:rPr sz="1300" b="0"/>
              <a:t>• T/A edges DMN; HRF edges the two hardest (VIS, GSR_DMN). Honest, fair, nested numbers.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1b — Substantial individual variability</a:t>
            </a:r>
          </a:p>
          <a:p>
            <a:r>
              <a:rPr sz="1400">
                <a:solidFill>
                  <a:srgbClr val="555555"/>
                </a:solidFill>
              </a:rPr>
              <a:t>Per-subject EFP r by target (bar = group mean, band = 95% CI). Wide spread motivates the subject-specific electrode/band selection.</a:t>
            </a:r>
          </a:p>
        </p:txBody>
      </p:sp>
      <p:pic>
        <p:nvPicPr>
          <p:cNvPr id="3" name="Picture 2" descr="paper_fig_persubject_scatter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8138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2 — Same electrode, matched CV: the design itself wins</a:t>
            </a:r>
          </a:p>
        </p:txBody>
      </p:sp>
      <p:pic>
        <p:nvPicPr>
          <p:cNvPr id="3" name="Picture 2" descr="ppt_pane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416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60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At each network's group-peak electrode, with identical estimator, the sliding-delay EFP beats the fixed-HRF design on 6 of 7 targets.</a:t>
            </a:r>
          </a:p>
          <a:p>
            <a:pPr>
              <a:spcAft>
                <a:spcPts val="600"/>
              </a:spcAft>
            </a:pPr>
            <a:r>
              <a:rPr sz="1300" b="0"/>
              <a:t>• Isolates the [freq × delay] design from electrode selection — HRF only edges CEN.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3 — Interpretable fingerprints (a learned HRF per frequency)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659" y="1120048"/>
            <a:ext cx="9629179" cy="53126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4 — Electrode topography with per-electrode FDR</a:t>
            </a:r>
          </a:p>
          <a:p>
            <a:r>
              <a:rPr sz="1400">
                <a:solidFill>
                  <a:srgbClr val="555555"/>
                </a:solidFill>
              </a:rPr>
              <a:t>Per-electrode CV r; black dots = BH-FDR-significant electrodes ('mark, don't mask')</a:t>
            </a:r>
          </a:p>
        </p:txBody>
      </p:sp>
      <p:pic>
        <p:nvPicPr>
          <p:cNvPr id="3" name="Picture 2" descr="paper_fig_r_topomap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566160" cy="3429000"/>
          </a:xfrm>
          <a:prstGeom prst="rect">
            <a:avLst/>
          </a:prstGeom>
        </p:spPr>
      </p:pic>
      <p:pic>
        <p:nvPicPr>
          <p:cNvPr id="4" name="Picture 3" descr="paper_fig_r_topomap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54480"/>
            <a:ext cx="3566160" cy="3429000"/>
          </a:xfrm>
          <a:prstGeom prst="rect">
            <a:avLst/>
          </a:prstGeom>
        </p:spPr>
      </p:pic>
      <p:pic>
        <p:nvPicPr>
          <p:cNvPr id="5" name="Picture 4" descr="paper_fig_r_topomap_GS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54480"/>
            <a:ext cx="356616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949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PDA peaks parietally (Pz); CEN centrally; sensible, spatially-focal topographies survive FDR — not a diffuse everywhere-significant artifact.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5 — Cross-subject generalization (LOSO, n=17)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</a:rPr>
              <a:t>• General fingerprint: train on N−1 subjects at the group-peak electrode, predict the held-out subject (leak-free electrode selection).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</a:rPr>
              <a:t>– PDA: r=+0.161 (p=0.008, Pz)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</a:rPr>
              <a:t>– GSR_PDA: r=+0.161 (p=0.005)   ·   GSR_CEN: r=+0.153 (p=0.011)</a:t>
            </a:r>
          </a:p>
          <a:p>
            <a:pPr lvl="1">
              <a:spcAft>
                <a:spcPts val="600"/>
              </a:spcAft>
            </a:pPr>
            <a:r>
              <a:rPr sz="1500" b="0"/>
              <a:t>– CEN: r=+0.124 (p=0.001)   ·   DMN: r=+0.096 (p=0.011)   ·   VIS: r=+0.050 (p=0.031)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B03A2E"/>
                </a:solidFill>
              </a:rPr>
              <a:t>– GSR_DMN: r=-0.012 (p=0.653) — the only target that fails to transfer.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E7D32"/>
                </a:solidFill>
              </a:rPr>
              <a:t>• 6 of 7 targets transfer across subjects — a genuinely general EEG fingerprint.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6 — External validation: transfers to an independent cohort</a:t>
            </a:r>
          </a:p>
          <a:p>
            <a:r>
              <a:rPr sz="1400">
                <a:solidFill>
                  <a:srgbClr val="555555"/>
                </a:solidFill>
              </a:rPr>
              <a:t>Train the DMNELF general fingerprint (n=17), predict the rtBPD cohort — no rtBPD data in training/selection</a:t>
            </a:r>
          </a:p>
        </p:txBody>
      </p:sp>
      <p:pic>
        <p:nvPicPr>
          <p:cNvPr id="3" name="Picture 2" descr="ppt_ge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766560" cy="3171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• Double replication:</a:t>
            </a:r>
          </a:p>
          <a:p>
            <a:pPr lvl="1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</a:rPr>
              <a:t>– nf1: 7/7 targets significant</a:t>
            </a:r>
          </a:p>
          <a:p>
            <a:pPr lvl="1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</a:rPr>
              <a:t>– nf2: 6/7 significant (GSR_DMN only miss)</a:t>
            </a:r>
          </a:p>
          <a:p>
            <a:pPr lvl="1">
              <a:spcAft>
                <a:spcPts val="600"/>
              </a:spcAft>
            </a:pPr>
            <a:r>
              <a:rPr sz="1200" b="0"/>
              <a:t>– CEN +0.138/+0.113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E7D32"/>
                </a:solidFill>
              </a:rPr>
              <a:t>– PDA +0.067/+0.153</a:t>
            </a:r>
          </a:p>
          <a:p>
            <a:pPr lvl="1">
              <a:spcAft>
                <a:spcPts val="600"/>
              </a:spcAft>
            </a:pPr>
            <a:r>
              <a:rPr sz="1200" b="0"/>
              <a:t>– VIS +0.145/+0.121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E7D32"/>
                </a:solidFill>
              </a:rPr>
              <a:t>– GSR_PDA +0.064/+0.136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• Strongest evidence the EFP captures a real, transferable EEG→BOLD mapping.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Positive control — visual cortex (Meir-Hasson Fig 5 analog)</a:t>
            </a:r>
          </a:p>
          <a:p>
            <a:r>
              <a:rPr sz="1400">
                <a:solidFill>
                  <a:srgbClr val="555555"/>
                </a:solidFill>
              </a:rPr>
              <a:t>Focal 6 mm calcarine sphere (≈V1). The blind EFP localizes posteriorly (peak Oz) with alpha modulation — recovering occipital topography validates the method.</a:t>
            </a:r>
          </a:p>
        </p:txBody>
      </p:sp>
      <p:pic>
        <p:nvPicPr>
          <p:cNvPr id="3" name="Picture 2" descr="paper_fig3_composite_VI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008" y="1380853"/>
            <a:ext cx="7317327" cy="5202827"/>
          </a:xfrm>
          <a:prstGeom prst="rect">
            <a:avLst/>
          </a:prstGeom>
        </p:spPr>
      </p:pic>
      <p:pic>
        <p:nvPicPr>
          <p:cNvPr id="4" name="Picture 3" descr="paper_fig_group_topomap_VIS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828800"/>
            <a:ext cx="2926080" cy="270933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A faithful, bulletproofed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Within-subject: EFP is our best single-electrode decoder — PDA 0.169, CEN 0.159, GSR_CEN 0.171.</a:t>
            </a:r>
          </a:p>
          <a:p>
            <a:pPr lvl="1">
              <a:spcAft>
                <a:spcPts val="600"/>
              </a:spcAft>
            </a:pPr>
            <a:r>
              <a:rPr sz="1400" b="0"/>
              <a:t>– Same-electrode panel: the sliding-delay design beats fixed-HRF 6/7 — the design, not electrode luck, drives it.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LOSO: 6/7 targets transfer across subjects (PDA +0.161, p=0.008).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</a:rPr>
              <a:t>– Cross-cohort: 7/7 (nf1) &amp; 6/7 (nf2) replicate in an independent cohort — a general, transferable fingerprint.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Rigor</a:t>
            </a:r>
          </a:p>
          <a:p>
            <a:pPr lvl="1">
              <a:spcAft>
                <a:spcPts val="600"/>
              </a:spcAft>
            </a:pPr>
            <a:r>
              <a:rPr sz="1400" b="0"/>
              <a:t>– Two audit artifacts (selection bias, normalization) caught and fixed; the result held on honest numbers. v1 frozen at tag efp-preprint-v1.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Deferred controls: purged/gapped CV folds; fixed-band group transfer model (removes the band-index-alignment approximation).</a:t>
            </a:r>
          </a:p>
          <a:p>
            <a:pPr>
              <a:spcAft>
                <a:spcPts val="600"/>
              </a:spcAft>
            </a:pPr>
            <a:r>
              <a:rPr sz="1800" b="0"/>
              <a:t>• 4 Hz (native rate) as supplementary + null-target upsampling control; motion-regression control on base targets.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Real-time path: the LOSO/cross-cohort fingerprint is ready to test as an EEG-only neurofeedback signal for PDA.</a:t>
            </a:r>
          </a:p>
          <a:p>
            <a:pPr>
              <a:spcAft>
                <a:spcPts val="600"/>
              </a:spcAft>
            </a:pPr>
            <a:r>
              <a:rPr sz="1800" b="0"/>
              <a:t>• Revisit the excluded/miscoded subjects, then extend n before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1585</Words>
  <Application>Microsoft Macintosh PowerPoint</Application>
  <PresentationFormat>Widescreen</PresentationFormat>
  <Paragraphs>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Bauer Hoss, Clemens</cp:lastModifiedBy>
  <cp:revision>2</cp:revision>
  <dcterms:created xsi:type="dcterms:W3CDTF">2013-01-27T09:14:16Z</dcterms:created>
  <dcterms:modified xsi:type="dcterms:W3CDTF">2026-07-08T17:31:15Z</dcterms:modified>
  <cp:category/>
</cp:coreProperties>
</file>