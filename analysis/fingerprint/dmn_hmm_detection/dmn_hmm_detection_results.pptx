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3A5F"/>
                </a:solidFill>
              </a:rPr>
              <a:t>Real-Time DMN Detection with a Time-Delay Embedded HMM</a:t>
            </a:r>
          </a:p>
          <a:p>
            <a:r>
              <a:rPr sz="2000">
                <a:solidFill>
                  <a:srgbClr val="555555"/>
                </a:solidFill>
              </a:rPr>
              <a:t>Replicating Cooray et al. (2024) on the DMNELF simultaneous EEG–fMRI cohort</a:t>
            </a:r>
          </a:p>
          <a:p>
            <a:r>
              <a:rPr sz="1500">
                <a:solidFill>
                  <a:srgbClr val="555555"/>
                </a:solidFill>
              </a:rPr>
              <a:t>K=12 TIDE-HMM · 17 subjects · validated against concurrent fMRI (their design could not)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Background &amp;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/>
              <a:t>• Cooray et al. 2024 used a Time-Delay Embedded HMM (osl-dynamics) to detect a DMN state from EEG in real time (LEMON dataset).</a:t>
            </a:r>
          </a:p>
          <a:p>
            <a:pPr lvl="1">
              <a:spcAft>
                <a:spcPts val="600"/>
              </a:spcAft>
            </a:pPr>
            <a:r>
              <a:rPr sz="1500" b="0"/>
              <a:t>– They had NO simultaneous fMRI — the DMN state was identified purely by its spectral signature (posterior alpha + frontal delta/theta).</a:t>
            </a:r>
          </a:p>
          <a:p>
            <a:pPr>
              <a:spcAft>
                <a:spcPts val="600"/>
              </a:spcAft>
            </a:pPr>
            <a:r>
              <a:rPr sz="1700" b="0"/>
              <a:t>• DMNELF advantage: simultaneous EEG–fMRI lets us validate the HMM's DMN state DIRECTLY against concurrent fMRI DMN — a stronger test.</a:t>
            </a:r>
          </a:p>
          <a:p>
            <a:pPr>
              <a:spcAft>
                <a:spcPts val="600"/>
              </a:spcAft>
            </a:pPr>
            <a:r>
              <a:rPr sz="1700" b="0"/>
              <a:t>• Questions:</a:t>
            </a:r>
          </a:p>
          <a:p>
            <a:pPr lvl="1">
              <a:spcAft>
                <a:spcPts val="600"/>
              </a:spcAft>
            </a:pPr>
            <a:r>
              <a:rPr sz="1500" b="0"/>
              <a:t>– 1. Does a DMN-like HMM state exist, and does it track real fMRI DMN?</a:t>
            </a:r>
          </a:p>
          <a:p>
            <a:pPr lvl="1">
              <a:spcAft>
                <a:spcPts val="600"/>
              </a:spcAft>
            </a:pPr>
            <a:r>
              <a:rPr sz="1500" b="0"/>
              <a:t>– 2. Does the spectral heuristic pick the same state as fMRI validation?</a:t>
            </a:r>
          </a:p>
          <a:p>
            <a:pPr lvl="1">
              <a:spcAft>
                <a:spcPts val="600"/>
              </a:spcAft>
            </a:pPr>
            <a:r>
              <a:rPr sz="1500" b="0"/>
              <a:t>– 3. Is single-state occupancy a useful real-time decoder vs our DWT+stats regression?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/>
              <a:t>• EEG: resting-state, 1–45 Hz, 250 Hz; 31 channels; 17 subjects × 2 runs (33 rest runs, ~3.5M samples).</a:t>
            </a:r>
          </a:p>
          <a:p>
            <a:pPr>
              <a:spcAft>
                <a:spcPts val="600"/>
              </a:spcAft>
            </a:pPr>
            <a:r>
              <a:rPr sz="1600" b="0"/>
              <a:t>• Feature prep: time-delay embedding (n=7) + PCA→80 components (99.8% variance), whitened &amp; standardized.</a:t>
            </a:r>
          </a:p>
          <a:p>
            <a:pPr>
              <a:spcAft>
                <a:spcPts val="600"/>
              </a:spcAft>
            </a:pPr>
            <a:r>
              <a:rPr sz="1600" b="0"/>
              <a:t>• Model: HMM, K=12 states, learn_covariances (osl-dynamics); random-subset initialization ×10, 20 epochs.</a:t>
            </a:r>
          </a:p>
          <a:p>
            <a:pPr>
              <a:spcAft>
                <a:spcPts val="600"/>
              </a:spcAft>
            </a:pPr>
            <a:r>
              <a:rPr sz="1600" b="0"/>
              <a:t>• DMN-state identification (our contribution): bin each state's occupancy to TR (1.2 s), HRF-convolve, correlate vs simultaneous fMRI DMN / CEN / PDA (+ GSR'd).</a:t>
            </a:r>
          </a:p>
          <a:p>
            <a:pPr>
              <a:spcAft>
                <a:spcPts val="600"/>
              </a:spcAft>
            </a:pPr>
            <a:r>
              <a:rPr sz="1600" b="0"/>
              <a:t>• Cross-check: per-state multitaper spectra → posterior-alpha / frontal-theta signature (paper's method).</a:t>
            </a:r>
          </a:p>
          <a:p>
            <a:pPr>
              <a:spcAft>
                <a:spcPts val="600"/>
              </a:spcAft>
            </a:pPr>
            <a:r>
              <a:rPr sz="1600" b="0"/>
              <a:t>• Feedback validation: apply trained HMM (same PCA transform) to 67 feedback runs; correlate State-7 occupancy vs fMRI; compare to regression benchmark.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The HMM fits cleanly — 12 healthy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/>
              <a:t>• All 12 states used (fractional occupancy 0.03–0.12); 100% of timepoints confidently assigned (max-alpha &gt; 0.5).</a:t>
            </a:r>
          </a:p>
          <a:p>
            <a:pPr>
              <a:spcAft>
                <a:spcPts val="600"/>
              </a:spcAft>
            </a:pPr>
            <a:r>
              <a:rPr sz="1700" b="0"/>
              <a:t>• Distinct state covariances (pairwise Frobenius 5.8–83); transition stickiness 0.50–0.97.</a:t>
            </a:r>
          </a:p>
          <a:p>
            <a:pPr lvl="1">
              <a:spcAft>
                <a:spcPts val="600"/>
              </a:spcAft>
            </a:pPr>
            <a:r>
              <a:rPr sz="1500" b="0"/>
              <a:t>– State 12 = high-amplitude artifact/movement state (covariance trace 694 vs ~30–77) — excluded from interpretation.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</a:rPr>
              <a:t>– Note: an early 'degenerate occupancy' printout was a reporting bug (one-hot vs integer), not model collapse.</a:t>
            </a:r>
          </a:p>
        </p:txBody>
      </p:sp>
      <p:pic>
        <p:nvPicPr>
          <p:cNvPr id="4" name="Picture 3" descr="state_topomaps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2743200"/>
            <a:ext cx="7772400" cy="5829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State 7 = DMN state in rest — but weak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/>
              <a:t>• State 7 is the DMN state across all three fMRI criteria (rest, 33 runs):</a:t>
            </a:r>
          </a:p>
          <a:p>
            <a:pPr lvl="1">
              <a:spcAft>
                <a:spcPts val="600"/>
              </a:spcAft>
            </a:pPr>
            <a:r>
              <a:rPr sz="1500" b="0"/>
              <a:t>– +corr with raw fMRI DMN: r = +0.050</a:t>
            </a:r>
          </a:p>
          <a:p>
            <a:pPr lvl="1">
              <a:spcAft>
                <a:spcPts val="600"/>
              </a:spcAft>
            </a:pPr>
            <a:r>
              <a:rPr sz="1500" b="0"/>
              <a:t>– +corr with GSR'd DMN:    r = +0.056</a:t>
            </a:r>
          </a:p>
          <a:p>
            <a:pPr lvl="1">
              <a:spcAft>
                <a:spcPts val="600"/>
              </a:spcAft>
            </a:pPr>
            <a:r>
              <a:rPr sz="1500" b="0"/>
              <a:t>– −corr with PDA (CEN−DMN): r = -0.037</a:t>
            </a:r>
          </a:p>
          <a:p>
            <a:pPr>
              <a:spcAft>
                <a:spcPts val="600"/>
              </a:spcAft>
            </a:pPr>
            <a:r>
              <a:rPr sz="1700" b="0"/>
              <a:t>• Internally consistent (DMN-positive, PDA-negative) → a real DMN-like state exists.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B03A2E"/>
                </a:solidFill>
              </a:rPr>
              <a:t>• BUT weak: r ≈ 0.05–0.06, vs multivariate DWT+stats regression GSR_DMN r≈0.12 / GSR_CEN r≈0.17.</a:t>
            </a:r>
          </a:p>
          <a:p>
            <a:pPr>
              <a:spcAft>
                <a:spcPts val="600"/>
              </a:spcAft>
            </a:pPr>
            <a:r>
              <a:rPr sz="1700" b="0"/>
              <a:t>• A single state's occupancy is a weaker DMN readout than continuous multivariate regression.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The spectral heuristic disagrees with fMRI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/>
              <a:t>• Paper's DMN signature = posterior ALPHA high + frontal DELTA/THETA high.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B03A2E"/>
                </a:solidFill>
              </a:rPr>
              <a:t>– State 7 (the fMRI-DMN state) has LOW alpha: frontal rank 11/12, posterior rank 9/12.</a:t>
            </a:r>
          </a:p>
          <a:p>
            <a:pPr>
              <a:spcAft>
                <a:spcPts val="600"/>
              </a:spcAft>
            </a:pPr>
            <a:r>
              <a:rPr sz="1700" b="0"/>
              <a:t>• The classic posterior-alpha state (State 10) is slightly NEGATIVE with fMRI DMN (r≈−0.05) — consistent with the known alpha↔DMN-BOLD anticorrelation.</a:t>
            </a:r>
          </a:p>
          <a:p>
            <a:pPr>
              <a:spcAft>
                <a:spcPts val="600"/>
              </a:spcAft>
            </a:pPr>
            <a:r>
              <a:rPr sz="1700" b="0"/>
              <a:t>• → In our data the spectral heuristic would pick the WRONG state.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F3A5F"/>
                </a:solidFill>
              </a:rPr>
              <a:t>• Only detectable because we have simultaneous fMRI — the caveat the original design could not see.</a:t>
            </a:r>
          </a:p>
        </p:txBody>
      </p:sp>
      <p:pic>
        <p:nvPicPr>
          <p:cNvPr id="4" name="Picture 3" descr="dmn_state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3108960"/>
            <a:ext cx="6126480" cy="35008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Feedback: the DMN label shifts — State 7 tracks CEN/PDA</a:t>
            </a:r>
          </a:p>
        </p:txBody>
      </p:sp>
      <p:pic>
        <p:nvPicPr>
          <p:cNvPr id="3" name="Picture 2" descr="feedback_state7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766560" cy="35524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463040"/>
            <a:ext cx="4572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/>
              <a:t>Across 67 feedback runs, State-7 occupancy: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D32"/>
                </a:solidFill>
              </a:rPr>
              <a:t>GSR_CEN  r = +0.115  (p&lt;0.001)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D32"/>
                </a:solidFill>
              </a:rPr>
              <a:t>GSR_PDA  r = +0.096  (p=0.001)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D32"/>
                </a:solidFill>
              </a:rPr>
              <a:t>PDA        r = +0.094  (p=0.001)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B03A2E"/>
                </a:solidFill>
              </a:rPr>
              <a:t>DMN / GSR_DMN ≈ null-to-negative</a:t>
            </a:r>
          </a:p>
          <a:p>
            <a:pPr>
              <a:spcAft>
                <a:spcPts val="600"/>
              </a:spcAft>
            </a:pPr>
            <a:r>
              <a:rPr sz="1500" b="0"/>
              <a:t/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</a:rPr>
              <a:t>The state that was DMN-positive in REST tracks CEN/PDA in FEEDBACK — its identity is task-dependent.</a:t>
            </a:r>
          </a:p>
          <a:p>
            <a:pPr>
              <a:spcAft>
                <a:spcPts val="600"/>
              </a:spcAft>
            </a:pPr>
            <a:r>
              <a:rPr sz="1500" b="0"/>
              <a:t/>
            </a:r>
          </a:p>
          <a:p>
            <a:pPr>
              <a:spcAft>
                <a:spcPts val="600"/>
              </a:spcAft>
            </a:pPr>
            <a:r>
              <a:rPr sz="1500" b="0"/>
              <a:t>PDA (CEN↑/DMN↓) is the neurofeedback target: a single interpretable, real-time-friendly state decodes it significantly.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</a:rPr>
              <a:t>• What worked</a:t>
            </a:r>
          </a:p>
          <a:p>
            <a:pPr lvl="1">
              <a:spcAft>
                <a:spcPts val="600"/>
              </a:spcAft>
            </a:pPr>
            <a:r>
              <a:rPr sz="1400" b="0"/>
              <a:t>– TIDE-HMM fits cleanly on 17 subjects; a DMN-like state exists and was validated against concurrent fMRI.</a:t>
            </a:r>
          </a:p>
          <a:p>
            <a:pPr lvl="1">
              <a:spcAft>
                <a:spcPts val="600"/>
              </a:spcAft>
            </a:pPr>
            <a:r>
              <a:rPr sz="1400" b="0"/>
              <a:t>– In feedback, State-7 occupancy significantly decodes GSR_CEN (r=0.115***) and PDA (r=0.096**) — the neurofeedback target.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</a:rPr>
              <a:t>• What simultaneous fMRI revealed (novel vs the paper)</a:t>
            </a:r>
          </a:p>
          <a:p>
            <a:pPr lvl="1">
              <a:spcAft>
                <a:spcPts val="600"/>
              </a:spcAft>
            </a:pPr>
            <a:r>
              <a:rPr sz="1400" b="0"/>
              <a:t>– The spectral heuristic picks the wrong state — the fMRI-DMN state is not the posterior-alpha one.</a:t>
            </a:r>
          </a:p>
          <a:p>
            <a:pPr lvl="1">
              <a:spcAft>
                <a:spcPts val="600"/>
              </a:spcAft>
            </a:pPr>
            <a:r>
              <a:rPr sz="1400" b="0"/>
              <a:t>– The 'DMN state' identity is task-dependent (rest→DMN-ish, feedback→CEN/PDA).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</a:rPr>
              <a:t>• Recommendation</a:t>
            </a:r>
          </a:p>
          <a:p>
            <a:pPr lvl="1">
              <a:spcAft>
                <a:spcPts val="600"/>
              </a:spcAft>
            </a:pPr>
            <a:r>
              <a:rPr sz="1400" b="0"/>
              <a:t>– DWT+stats multivariate regression remains the primary decoder (stronger, task-stable).</a:t>
            </a:r>
          </a:p>
          <a:p>
            <a:pPr lvl="1">
              <a:spcAft>
                <a:spcPts val="600"/>
              </a:spcAft>
            </a:pPr>
            <a:r>
              <a:rPr sz="1400" b="0"/>
              <a:t>– HMM is a valuable complementary / interpretability tool and a candidate real-time single-state readout, with the task-shift caveat.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