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Wavelet-Based EEG Features for fMRI Network Decoding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D5A6BD"/>
                </a:solidFill>
                <a:latin typeface="Calibri"/>
              </a:defRPr>
            </a:pPr>
            <a:r>
              <a:t>DWT Statistical Features Improve Cross-Subject Transfer by 56%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20"/>
              </a:spcAft>
              <a:defRPr sz="1800">
                <a:solidFill>
                  <a:srgbClr val="888888"/>
                </a:solidFill>
                <a:latin typeface="Calibri"/>
              </a:defRPr>
            </a:pPr>
            <a:r>
              <a:t>17 subjects  •  simultaneous EEG-fMRI  •  neurofeedback task</a:t>
            </a:r>
          </a:p>
          <a:p>
            <a:pPr algn="ctr">
              <a:spcAft>
                <a:spcPts val="720"/>
              </a:spcAft>
              <a:defRPr sz="1800">
                <a:solidFill>
                  <a:srgbClr val="888888"/>
                </a:solidFill>
                <a:latin typeface="Calibri"/>
              </a:defRPr>
            </a:pPr>
            <a:r>
              <a:t>DMNELF Project  •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5F8A"/>
                </a:solidFill>
                <a:latin typeface="Calibri"/>
              </a:defRPr>
            </a:pPr>
            <a:r>
              <a:t>Motivation: Why Wavelets?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Current pipeline: Hilbert envelope → 5 fixed bands → per-TR power → HRF</a:t>
            </a:r>
          </a:p>
          <a:p>
            <a:pPr>
              <a:spcAft>
                <a:spcPts val="64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  → Captures only amplitude envelope (power)</a:t>
            </a:r>
          </a:p>
          <a:p>
            <a:pPr>
              <a:spcAft>
                <a:spcPts val="64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  → Misses signal variability, complexity, and transient dynamics</a:t>
            </a:r>
          </a:p>
          <a:p>
            <a:pPr>
              <a:spcAft>
                <a:spcPts val="640"/>
              </a:spcAft>
              <a:defRPr sz="160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64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Wavelet transform (most common EEG feature method — Saeidi et al. 2021):</a:t>
            </a:r>
          </a:p>
          <a:p>
            <a:pPr>
              <a:spcAft>
                <a:spcPts val="64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  → Adaptive time-frequency resolution</a:t>
            </a:r>
          </a:p>
          <a:p>
            <a:pPr>
              <a:spcAft>
                <a:spcPts val="64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  → Can extract statistical features beyond power</a:t>
            </a:r>
          </a:p>
          <a:p>
            <a:pPr>
              <a:spcAft>
                <a:spcPts val="640"/>
              </a:spcAft>
              <a:defRPr sz="160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64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Key idea from Santaji &amp; Desai (2020):</a:t>
            </a:r>
          </a:p>
          <a:p>
            <a:pPr>
              <a:spcAft>
                <a:spcPts val="64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  Wavelet coefficient statistics (mean, std, entropy, energy) per sub-band</a:t>
            </a:r>
          </a:p>
          <a:p>
            <a:pPr>
              <a:spcAft>
                <a:spcPts val="64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  achieved 97.8% accuracy for sleep stage classification with Random Forest</a:t>
            </a:r>
          </a:p>
          <a:p>
            <a:pPr>
              <a:spcAft>
                <a:spcPts val="640"/>
              </a:spcAft>
              <a:defRPr sz="160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64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Our hypothesis: wavelet statistics capture within-TR dynamics</a:t>
            </a:r>
          </a:p>
          <a:p>
            <a:pPr>
              <a:spcAft>
                <a:spcPts val="64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that instantaneous power amplitude averages out</a:t>
            </a:r>
          </a:p>
          <a:p>
            <a:pPr>
              <a:spcAft>
                <a:spcPts val="64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  → Better features for cross-subject generalization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Methods: 4 Feature Extraction Approaches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1. Hilbert Envelope (baseline)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   Bandpass → |Hilbert| → per-TR mean → log → HRF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   155 features (31 ch × 5 bands × 1 power)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2. Morlet CWT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   Continuous wavelet at band center frequencies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   155 features (same shape as Hilbert)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3. DWT (db4, 7 levels)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   Discrete decomposition → coefficient energy per TR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   155 features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4. DWT + Statistical Features ★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   Per channel × band × TR, extract 4 features: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     • Energy (Σ coeff²)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     • Mean |coeff|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     • Std (variability within TR)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     • Shannon entropy (complexity)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   620 features (31 ch × 5 bands × 4 stats)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0972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All methods share: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  → HRF convolution (canonical double-gamma)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  → CAR (remove spatial mean per band)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  → Per-run z-scoring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Evaluation: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  Within-subject: 5-fold contiguous CV, ElasticNet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  Cross-subject: LOSO, Ridge α=1000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  Targets: GSR'd CEN, PDA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  17 subjects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DWT db4 at 500 Hz, 7 levels: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  cD7 ≈ δ (2–4 Hz)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  cD6 ≈ θ (4–8 Hz)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  cD5 ≈ α (8–16 Hz)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  cD4 ≈ β (16–31 Hz)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  cD3 ≈ γ (31–63 Hz)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7B2D8E"/>
                </a:solidFill>
                <a:latin typeface="Calibri"/>
              </a:defRPr>
            </a:pPr>
            <a:r>
              <a:t>Results: Wavelet vs Hilbert</a:t>
            </a:r>
          </a:p>
        </p:txBody>
      </p:sp>
      <p:pic>
        <p:nvPicPr>
          <p:cNvPr id="3" name="Picture 2" descr="wavelet_vs_hilber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4522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548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DWT+stats (620f) beats Hilbert (155f) by 56% cross-subject for GSR CEN (0.179 vs 0.115).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Morlet CWT and DWT power-only match Hilbert — the gain is from statistical features, not the wavelet itself.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Full Comparison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2C2C"/>
                </a:solidFill>
                <a:latin typeface="Calibri"/>
              </a:defRPr>
            </a:pPr>
            <a:r>
              <a:t>GSR'd CEN:</a:t>
            </a:r>
          </a:p>
          <a:p>
            <a:pPr>
              <a:spcAft>
                <a:spcPts val="600"/>
              </a:spcAft>
              <a:defRPr sz="150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2C2C2C"/>
                </a:solidFill>
                <a:latin typeface="Calibri"/>
              </a:defRPr>
            </a:pPr>
            <a:r>
              <a:t>  Method              Within-subj r     Cross-subj r    Features</a:t>
            </a:r>
          </a:p>
          <a:p>
            <a:pPr>
              <a:spcAft>
                <a:spcPts val="600"/>
              </a:spcAft>
              <a:defRPr sz="1500">
                <a:solidFill>
                  <a:srgbClr val="2C2C2C"/>
                </a:solidFill>
                <a:latin typeface="Calibri"/>
              </a:defRPr>
            </a:pPr>
            <a:r>
              <a:t>  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600"/>
              </a:spcAft>
              <a:defRPr sz="1500">
                <a:solidFill>
                  <a:srgbClr val="2C2C2C"/>
                </a:solidFill>
                <a:latin typeface="Calibri"/>
              </a:defRPr>
            </a:pPr>
            <a:r>
              <a:t>  DWT + stats          +0.268  ***       +0.179  **       620</a:t>
            </a:r>
          </a:p>
          <a:p>
            <a:pPr>
              <a:spcAft>
                <a:spcPts val="600"/>
              </a:spcAft>
              <a:defRPr sz="1500">
                <a:solidFill>
                  <a:srgbClr val="2C2C2C"/>
                </a:solidFill>
                <a:latin typeface="Calibri"/>
              </a:defRPr>
            </a:pPr>
            <a:r>
              <a:t>  Hilbert (baseline)   +0.215  ***       +0.115  **       155</a:t>
            </a:r>
          </a:p>
          <a:p>
            <a:pPr>
              <a:spcAft>
                <a:spcPts val="600"/>
              </a:spcAft>
              <a:defRPr sz="1500">
                <a:solidFill>
                  <a:srgbClr val="2C2C2C"/>
                </a:solidFill>
                <a:latin typeface="Calibri"/>
              </a:defRPr>
            </a:pPr>
            <a:r>
              <a:t>  DWT (power only)     +0.179  ***       +0.113  **       155</a:t>
            </a:r>
          </a:p>
          <a:p>
            <a:pPr>
              <a:spcAft>
                <a:spcPts val="600"/>
              </a:spcAft>
              <a:defRPr sz="1500">
                <a:solidFill>
                  <a:srgbClr val="2C2C2C"/>
                </a:solidFill>
                <a:latin typeface="Calibri"/>
              </a:defRPr>
            </a:pPr>
            <a:r>
              <a:t>  Morlet CWT           +0.179  ***       +0.109  **       155</a:t>
            </a:r>
          </a:p>
          <a:p>
            <a:pPr>
              <a:spcAft>
                <a:spcPts val="600"/>
              </a:spcAft>
              <a:defRPr sz="150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2C2C2C"/>
                </a:solidFill>
                <a:latin typeface="Calibri"/>
              </a:defRPr>
            </a:pPr>
            <a:r>
              <a:t>PDA (CEN−DMN):</a:t>
            </a:r>
          </a:p>
          <a:p>
            <a:pPr>
              <a:spcAft>
                <a:spcPts val="600"/>
              </a:spcAft>
              <a:defRPr sz="150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2C2C2C"/>
                </a:solidFill>
                <a:latin typeface="Calibri"/>
              </a:defRPr>
            </a:pPr>
            <a:r>
              <a:t>  DWT + stats          +0.175  *         +0.155  **       620</a:t>
            </a:r>
          </a:p>
          <a:p>
            <a:pPr>
              <a:spcAft>
                <a:spcPts val="600"/>
              </a:spcAft>
              <a:defRPr sz="1500">
                <a:solidFill>
                  <a:srgbClr val="2C2C2C"/>
                </a:solidFill>
                <a:latin typeface="Calibri"/>
              </a:defRPr>
            </a:pPr>
            <a:r>
              <a:t>  Hilbert (baseline)   +0.146  **        +0.105  **       155</a:t>
            </a:r>
          </a:p>
          <a:p>
            <a:pPr>
              <a:spcAft>
                <a:spcPts val="600"/>
              </a:spcAft>
              <a:defRPr sz="1500">
                <a:solidFill>
                  <a:srgbClr val="2C2C2C"/>
                </a:solidFill>
                <a:latin typeface="Calibri"/>
              </a:defRPr>
            </a:pPr>
            <a:r>
              <a:t>  DWT (power only)     +0.183  ***       +0.075           155</a:t>
            </a:r>
          </a:p>
          <a:p>
            <a:pPr>
              <a:spcAft>
                <a:spcPts val="600"/>
              </a:spcAft>
              <a:defRPr sz="1500">
                <a:solidFill>
                  <a:srgbClr val="2C2C2C"/>
                </a:solidFill>
                <a:latin typeface="Calibri"/>
              </a:defRPr>
            </a:pPr>
            <a:r>
              <a:t>  Morlet CWT           +0.134  *         +0.086  *        155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5F8A"/>
                </a:solidFill>
                <a:latin typeface="Calibri"/>
              </a:defRPr>
            </a:pPr>
            <a:r>
              <a:t>Cross-Subject Prediction + Calibration (DWT+Stats, 3 Subjects)</a:t>
            </a:r>
          </a:p>
        </p:txBody>
      </p:sp>
      <p:pic>
        <p:nvPicPr>
          <p:cNvPr id="3" name="Picture 2" descr="dwt_stats_predicted_3su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11795760" cy="699881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Bottom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20"/>
              </a:spcAft>
              <a:defRPr sz="1800">
                <a:solidFill>
                  <a:srgbClr val="DDDDDD"/>
                </a:solidFill>
                <a:latin typeface="Calibri"/>
              </a:defRPr>
            </a:pPr>
            <a:r>
              <a:t>DWT statistical features (energy, mean, std, entropy) substantially improve</a:t>
            </a:r>
          </a:p>
          <a:p>
            <a:pPr algn="ctr">
              <a:spcAft>
                <a:spcPts val="720"/>
              </a:spcAft>
              <a:defRPr sz="1800">
                <a:solidFill>
                  <a:srgbClr val="DDDDDD"/>
                </a:solidFill>
                <a:latin typeface="Calibri"/>
              </a:defRPr>
            </a:pPr>
            <a:r>
              <a:t>cross-subject EEG → fMRI decoding over Hilbert envelope power</a:t>
            </a:r>
          </a:p>
          <a:p>
            <a:pPr algn="ctr">
              <a:spcAft>
                <a:spcPts val="720"/>
              </a:spcAft>
              <a:defRPr sz="1800">
                <a:solidFill>
                  <a:srgbClr val="DDDDDD"/>
                </a:solidFill>
                <a:latin typeface="Calibri"/>
              </a:defRPr>
            </a:pPr>
          </a:p>
          <a:p>
            <a:pPr algn="ctr">
              <a:spcAft>
                <a:spcPts val="720"/>
              </a:spcAft>
              <a:defRPr sz="1800">
                <a:solidFill>
                  <a:srgbClr val="DDDDDD"/>
                </a:solidFill>
                <a:latin typeface="Calibri"/>
              </a:defRPr>
            </a:pPr>
            <a:r>
              <a:t>GSR CEN cross-subject:  r = 0.179  (p = 0.001)  —  +56% vs Hilbert</a:t>
            </a:r>
          </a:p>
          <a:p>
            <a:pPr algn="ctr">
              <a:spcAft>
                <a:spcPts val="720"/>
              </a:spcAft>
              <a:defRPr sz="1800">
                <a:solidFill>
                  <a:srgbClr val="DDDDDD"/>
                </a:solidFill>
                <a:latin typeface="Calibri"/>
              </a:defRPr>
            </a:pPr>
            <a:r>
              <a:t>PDA cross-subject:       r = 0.155  (p = 0.006)  —  +47% vs Hilbert</a:t>
            </a:r>
          </a:p>
          <a:p>
            <a:pPr algn="ctr">
              <a:spcAft>
                <a:spcPts val="720"/>
              </a:spcAft>
              <a:defRPr sz="1800">
                <a:solidFill>
                  <a:srgbClr val="DDDDDD"/>
                </a:solidFill>
                <a:latin typeface="Calibri"/>
              </a:defRPr>
            </a:pPr>
          </a:p>
          <a:p>
            <a:pPr algn="ctr">
              <a:spcAft>
                <a:spcPts val="720"/>
              </a:spcAft>
              <a:defRPr sz="1800">
                <a:solidFill>
                  <a:srgbClr val="DDDDDD"/>
                </a:solidFill>
                <a:latin typeface="Calibri"/>
              </a:defRPr>
            </a:pPr>
            <a:r>
              <a:t>The improvement comes from STATISTICAL features, not the wavelet decomposition —</a:t>
            </a:r>
          </a:p>
          <a:p>
            <a:pPr algn="ctr">
              <a:spcAft>
                <a:spcPts val="720"/>
              </a:spcAft>
              <a:defRPr sz="1800">
                <a:solidFill>
                  <a:srgbClr val="DDDDDD"/>
                </a:solidFill>
                <a:latin typeface="Calibri"/>
              </a:defRPr>
            </a:pPr>
            <a:r>
              <a:t>Morlet CWT and DWT power-only match Hilbert at 155 features</a:t>
            </a:r>
          </a:p>
          <a:p>
            <a:pPr algn="ctr">
              <a:spcAft>
                <a:spcPts val="720"/>
              </a:spcAft>
              <a:defRPr sz="1800">
                <a:solidFill>
                  <a:srgbClr val="DDDDDD"/>
                </a:solidFill>
                <a:latin typeface="Calibri"/>
              </a:defRPr>
            </a:pPr>
          </a:p>
          <a:p>
            <a:pPr algn="ctr">
              <a:spcAft>
                <a:spcPts val="720"/>
              </a:spcAft>
              <a:defRPr sz="1800">
                <a:solidFill>
                  <a:srgbClr val="DDDDDD"/>
                </a:solidFill>
                <a:latin typeface="Calibri"/>
              </a:defRPr>
            </a:pPr>
            <a:r>
              <a:t>Within-TR variability (std) and complexity (entropy) of wavelet coefficients</a:t>
            </a:r>
          </a:p>
          <a:p>
            <a:pPr algn="ctr">
              <a:spcAft>
                <a:spcPts val="720"/>
              </a:spcAft>
              <a:defRPr sz="1800">
                <a:solidFill>
                  <a:srgbClr val="DDDDDD"/>
                </a:solidFill>
                <a:latin typeface="Calibri"/>
              </a:defRPr>
            </a:pPr>
            <a:r>
              <a:t>carry network-specific information that amplitude envelope averages out</a:t>
            </a:r>
          </a:p>
          <a:p>
            <a:pPr algn="ctr">
              <a:spcAft>
                <a:spcPts val="720"/>
              </a:spcAft>
              <a:defRPr sz="1800">
                <a:solidFill>
                  <a:srgbClr val="DDDDDD"/>
                </a:solidFill>
                <a:latin typeface="Calibri"/>
              </a:defRPr>
            </a:pPr>
          </a:p>
          <a:p>
            <a:pPr algn="ctr">
              <a:spcAft>
                <a:spcPts val="720"/>
              </a:spcAft>
              <a:defRPr sz="1800">
                <a:solidFill>
                  <a:srgbClr val="DDDDDD"/>
                </a:solidFill>
                <a:latin typeface="Calibri"/>
              </a:defRPr>
            </a:pPr>
            <a:r>
              <a:t>Recommended pipeline: DWT db4 + stats → CAR → Ridge + pseudo-target calibration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5F8A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Combine DWT+stats with pseudo-target calibration</a:t>
            </a:r>
          </a:p>
          <a:p>
            <a:pPr>
              <a:spcAft>
                <a:spcPts val="64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   Current best with Hilbert: group r=0.12 → calibrated r=0.16</a:t>
            </a:r>
          </a:p>
          <a:p>
            <a:pPr>
              <a:spcAft>
                <a:spcPts val="64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   With DWT+stats group r=0.18 → calibrated expected r ≈ 0.22+?</a:t>
            </a:r>
          </a:p>
          <a:p>
            <a:pPr>
              <a:spcAft>
                <a:spcPts val="640"/>
              </a:spcAft>
              <a:defRPr sz="160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64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Test DWT+stats statistical features on source-localized EEG</a:t>
            </a:r>
          </a:p>
          <a:p>
            <a:pPr>
              <a:spcAft>
                <a:spcPts val="64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   Wavelet stats may be even more powerful in source space</a:t>
            </a:r>
          </a:p>
          <a:p>
            <a:pPr>
              <a:spcAft>
                <a:spcPts val="64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   where topography variability is reduced</a:t>
            </a:r>
          </a:p>
          <a:p>
            <a:pPr>
              <a:spcAft>
                <a:spcPts val="640"/>
              </a:spcAft>
              <a:defRPr sz="160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64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Feature selection: which of the 4 stats matter most?</a:t>
            </a:r>
          </a:p>
          <a:p>
            <a:pPr>
              <a:spcAft>
                <a:spcPts val="64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   Entropy vs std vs energy vs mean — ablation study</a:t>
            </a:r>
          </a:p>
          <a:p>
            <a:pPr>
              <a:spcAft>
                <a:spcPts val="640"/>
              </a:spcAft>
              <a:defRPr sz="160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64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Real-time implementation</a:t>
            </a:r>
          </a:p>
          <a:p>
            <a:pPr>
              <a:spcAft>
                <a:spcPts val="64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   DWT is fast (O(n)) — suitable for real-time EEG processing</a:t>
            </a:r>
          </a:p>
          <a:p>
            <a:pPr>
              <a:spcAft>
                <a:spcPts val="64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   Unlike CWT which is O(n·m) where m = number of scales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