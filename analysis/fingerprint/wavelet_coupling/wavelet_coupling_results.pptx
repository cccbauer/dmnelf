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Wavelet-Based EEG Features for fMRI Network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5A6BD"/>
                </a:solidFill>
                <a:latin typeface="Calibri"/>
              </a:defRPr>
            </a:pPr>
            <a:r>
              <a:t>DWT Statistical Features Improve Cross-Subject Transfer by 56%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17 subjects  •  simultaneous EEG-fMRI  •  neurofeedback task</a:t>
            </a:r>
          </a:p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DMNELF Project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Motivation: Why Wavelets?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Current pipeline: Hilbert envelope → 5 fixed bands → per-TR power → HRF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Captures only amplitude envelope (power)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Misses signal variability, complexity, and transient dynamics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Wavelet transform (most common EEG feature method — Saeidi et al. 2021):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Adaptive time-frequency resolution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Can extract statistical features beyond power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Key idea from Santaji &amp; Desai (2020):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Wavelet coefficient statistics (mean, std, entropy, energy) per sub-band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achieved 97.8% accuracy for sleep stage classification with Random Forest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Our hypothesis: wavelet statistics capture within-TR dynamics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that instantaneous power amplitude averages out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Better features for cross-subject generalization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Methods: 4 Feature Extraction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1. Hilbert Envelope (baseline)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Bandpass → |Hilbert| → per-TR mean → log → HRF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155 features (31 ch × 5 bands × 1 power)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2. Morlet CWT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Continuous wavelet at band center frequencies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155 features (same shape as Hilbert)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3. DWT (db4, 7 levels)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Discrete decomposition → coefficient energy per TR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155 features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4. DWT + Statistical Features ★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Per channel × band × TR, extract 4 features: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  • Energy (Σ coeff²)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  • Mean |coeff|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  • Std (variability within TR)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  • Shannon entropy (complexity)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 620 features (31 ch × 5 bands × 4 stats)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All methods share: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→ HRF convolution (canonical double-gamma)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→ CAR (remove spatial mean per band)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→ Per-run z-scoring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Evaluation: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Within-subject: 5-fold contiguous CV, ElasticNet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Cross-subject: LOSO, Ridge α=1000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Targets: GSR'd CEN, PDA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17 subjects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DWT db4 at 500 Hz, 7 levels: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cD7 ≈ δ (2–4 Hz)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cD6 ≈ θ (4–8 Hz)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cD5 ≈ α (8–16 Hz)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cD4 ≈ β (16–31 Hz)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cD3 ≈ γ (31–63 Hz)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2D8E"/>
                </a:solidFill>
                <a:latin typeface="Calibri"/>
              </a:defRPr>
            </a:pPr>
            <a:r>
              <a:t>Results: Wavelet vs Hilbert</a:t>
            </a:r>
          </a:p>
        </p:txBody>
      </p:sp>
      <p:pic>
        <p:nvPicPr>
          <p:cNvPr id="3" name="Picture 2" descr="wavelet_vs_hilbe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522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DWT+stats (620f) beats Hilbert (155f) by 56% cross-subject for GSR CEN (0.179 vs 0.115).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Morlet CWT and DWT power-only match Hilbert — the gain is from statistical features, not the wavelet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Full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GSR'd CEN: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Method              Within-subj r     Cross-subj r    Features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DWT + stats          +0.268  ***       +0.179  **       620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Hilbert (baseline)   +0.215  ***       +0.115  **       155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DWT (power only)     +0.179  ***       +0.113  **       155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Morlet CWT           +0.179  ***       +0.109  **       155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PDA (CEN−DMN):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DWT + stats          +0.175  *         +0.155  **       620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Hilbert (baseline)   +0.146  **        +0.105  **       155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DWT (power only)     +0.183  ***       +0.075           155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Morlet CWT           +0.134  *         +0.086  *        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5F8A"/>
                </a:solidFill>
                <a:latin typeface="Calibri"/>
              </a:defRPr>
            </a:pPr>
            <a:r>
              <a:t>Cross-Subject Prediction + Calibration (DWT+Stats, 3 Subjects)</a:t>
            </a:r>
          </a:p>
        </p:txBody>
      </p:sp>
      <p:pic>
        <p:nvPicPr>
          <p:cNvPr id="3" name="Picture 2" descr="dwt_stats_predicted_3s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69988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DWT statistical features are the best EEG features for fMRI network decoding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Cross-subject (no fMRI, no calibration):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GSR'd CEN:  r = 0.179  (p = 0.001)  — strong, actionable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PDA:            r = 0.155  (p = 0.006)  — viable for NF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GSR'd DMN:  r = 0.099  (p = 0.04)    — marginal, needs source space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What works:   wavelet stats (std, entropy) &gt; raw power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What doesn't: infraslow bands, PLV connectivity, Morlet CWT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Practical pipeline for EEG-only CEN neurofeedback: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DWT db4 + stats → CAR → group Ridge model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+ 1-run pseudo-target calibration (baseline→feedback block)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→ predict CEN (or PDA) in real-time, no fMRI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Combine DWT+stats with pseudo-target calibration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Current best with Hilbert: group r=0.12 → calibrated r=0.16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With DWT+stats group r=0.18 → calibrated expected r ≈ 0.22+?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Test DWT+stats statistical features on source-localized EEG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Wavelet stats may be even more powerful in source space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where topography variability is reduced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Feature selection: which of the 4 stats matter most?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Entropy vs std vs energy vs mean — ablation study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Real-time implementation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DWT is fast (O(n)) — suitable for real-time EEG processing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Unlike CWT which is O(n·m) where m = number of scales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90000"/>
                </a:solidFill>
                <a:latin typeface="Calibri"/>
              </a:defRPr>
            </a:pPr>
            <a:r>
              <a:t>Can We Decode DMN? Infraslow + Connectivity Test</a:t>
            </a:r>
          </a:p>
        </p:txBody>
      </p:sp>
      <p:pic>
        <p:nvPicPr>
          <p:cNvPr id="3" name="Picture 2" descr="dmn_featur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35161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DMN is marginally decodable with DWT+stats (r=0.10, p=0.04) — first positive cross-subject DMN result.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Infraslow (0.01 Hz) does NOT help. PLV connectivity fails cross-subject (too subject-specific).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Adding PLV to power features dilutes the signal. DWT+stats alone remains best for all targets.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DMN Decoding: Full Results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GSR'd DMN (the hard target):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Method                Cross-subj r    p           n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DWT+stats (1-40Hz)    +0.099          0.04  *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DWT+stats IS          +0.093          *   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PLV (1-40Hz)          +0.014          n.s.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PLV IS                −0.018          n.s.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Combined              +0.005          n.s.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Combined IS           −0.006          n.s.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For comparison — GSR'd CEN with same methods: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DWT+stats (1-40Hz)    +0.179          0.001 **    17   ← still best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DWT+stats IS          +0.177          **  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PLV                   +0.073          *           17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Combined              +0.130          **        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61D"/>
                </a:solidFill>
                <a:latin typeface="Calibri"/>
              </a:defRPr>
            </a:pPr>
            <a:r>
              <a:t>Implications for EEG-Only Neurofeedback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The original NF paradigm feeds back PDA = CEN − DMN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For EEG-only NF, three options: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Option A: EEG-PDA = predicted CEN − predicted DMN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 CEN: r=0.18, DMN: r=0.10 → subtraction adds noise from weak DMN decoder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Option B: Decode PDA directly (CEN−DMN as single target)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 r = 0.155 cross-subject — the model learns the difference pattern directly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 Avoids combining two noisy estimates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Option C: Feed back CEN only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 r = 0.179 cross-subject — strongest single decoder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 CEN up-regulation is the active component; DMN suppression follows passively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Recommendation: Option B (direct PDA) for parity with fMRI paradigm,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Option C (CEN only) as practical fallback with stronger signal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DMN at r=0.10 is a real but weak signal — needs source localization to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