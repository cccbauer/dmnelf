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6" r:id="rId19"/>
    <p:sldId id="273" r:id="rId20"/>
    <p:sldId id="277" r:id="rId22"/>
    <p:sldId id="278" r:id="rId28"/>
    <p:sldId id="279" r:id="rId29"/>
    <p:sldId id="280" r:id="rId30"/>
    <p:sldId id="281" r:id="rId31"/>
    <p:sldId id="282" r:id="rId32"/>
    <p:sldId id="283" r:id="rId33"/>
    <p:sldId id="284" r:id="rId3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800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0.xml"/><Relationship Id="rId23" Type="http://schemas.openxmlformats.org/officeDocument/2006/relationships/slide" Target="slides/slide22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13716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Multivariate EEG Band Power → fMRI Network Decoding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AACCFF"/>
                </a:solidFill>
                <a:latin typeface="Calibri"/>
              </a:defRPr>
            </a:pPr>
            <a:r>
              <a:t>Decoding DMN and CEN from simultaneous EEG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8912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19"/>
              </a:spcAft>
              <a:defRPr sz="1800" b="0">
                <a:solidFill>
                  <a:srgbClr val="888888"/>
                </a:solidFill>
                <a:latin typeface="Calibri"/>
              </a:defRPr>
            </a:pPr>
            <a:r>
              <a:t>17 subjects  •  simultaneous EEG-fMRI  •  neurofeedback task</a:t>
            </a:r>
          </a:p>
          <a:p>
            <a:pPr algn="ctr">
              <a:spcAft>
                <a:spcPts val="719"/>
              </a:spcAft>
              <a:defRPr sz="1800" b="0">
                <a:solidFill>
                  <a:srgbClr val="888888"/>
                </a:solidFill>
                <a:latin typeface="Calibri"/>
              </a:defRPr>
            </a:pPr>
            <a:r>
              <a:t>DMNELF Project  •  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C5F8A"/>
                </a:solidFill>
                <a:latin typeface="Calibri"/>
              </a:defRPr>
            </a:pPr>
            <a:r>
              <a:t>The Goal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6858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19"/>
              </a:spcAft>
              <a:defRPr sz="1800" b="0">
                <a:solidFill>
                  <a:srgbClr val="2C2C2C"/>
                </a:solidFill>
                <a:latin typeface="Calibri"/>
              </a:defRPr>
            </a:pPr>
            <a:r>
              <a:t>Decode fMRI network activity (DMN, CEN) from simultaneous EEG</a:t>
            </a:r>
          </a:p>
          <a:p>
            <a:pPr>
              <a:spcAft>
                <a:spcPts val="719"/>
              </a:spcAft>
              <a:defRPr sz="1800" b="0">
                <a:solidFill>
                  <a:srgbClr val="2C2C2C"/>
                </a:solidFill>
                <a:latin typeface="Calibri"/>
              </a:defRPr>
            </a:pPr>
            <a:endParaRPr/>
          </a:p>
          <a:p>
            <a:pPr>
              <a:spcAft>
                <a:spcPts val="719"/>
              </a:spcAft>
              <a:defRPr sz="1800" b="0">
                <a:solidFill>
                  <a:srgbClr val="2C2C2C"/>
                </a:solidFill>
                <a:latin typeface="Calibri"/>
              </a:defRPr>
            </a:pPr>
            <a:r>
              <a:t>Why? So EEG alone can drive real-time neurofeedback without the MRI scanner</a:t>
            </a:r>
          </a:p>
          <a:p>
            <a:pPr>
              <a:spcAft>
                <a:spcPts val="719"/>
              </a:spcAft>
              <a:defRPr sz="1800" b="0">
                <a:solidFill>
                  <a:srgbClr val="2C2C2C"/>
                </a:solidFill>
                <a:latin typeface="Calibri"/>
              </a:defRPr>
            </a:pPr>
            <a:endParaRPr/>
          </a:p>
          <a:p>
            <a:pPr>
              <a:spcAft>
                <a:spcPts val="719"/>
              </a:spcAft>
              <a:defRPr sz="1800" b="0">
                <a:solidFill>
                  <a:srgbClr val="2C2C2C"/>
                </a:solidFill>
                <a:latin typeface="Calibri"/>
              </a:defRPr>
            </a:pPr>
            <a:r>
              <a:t>Data:</a:t>
            </a:r>
          </a:p>
          <a:p>
            <a:pPr>
              <a:spcAft>
                <a:spcPts val="719"/>
              </a:spcAft>
              <a:defRPr sz="1800" b="0">
                <a:solidFill>
                  <a:srgbClr val="2C2C2C"/>
                </a:solidFill>
                <a:latin typeface="Calibri"/>
              </a:defRPr>
            </a:pPr>
            <a:r>
              <a:t>•  17 subjects, simultaneous EEG-fMRI</a:t>
            </a:r>
          </a:p>
          <a:p>
            <a:pPr>
              <a:spcAft>
                <a:spcPts val="719"/>
              </a:spcAft>
              <a:defRPr sz="1800" b="0">
                <a:solidFill>
                  <a:srgbClr val="2C2C2C"/>
                </a:solidFill>
                <a:latin typeface="Calibri"/>
              </a:defRPr>
            </a:pPr>
            <a:r>
              <a:t>•  4 runs × 125 TRs (TR = 1.2s), neurofeedback task</a:t>
            </a:r>
          </a:p>
          <a:p>
            <a:pPr>
              <a:spcAft>
                <a:spcPts val="719"/>
              </a:spcAft>
              <a:defRPr sz="1800" b="0">
                <a:solidFill>
                  <a:srgbClr val="2C2C2C"/>
                </a:solidFill>
                <a:latin typeface="Calibri"/>
              </a:defRPr>
            </a:pPr>
            <a:r>
              <a:t>•  31 EEG channels (10-20), preprocessed at 500 Hz</a:t>
            </a:r>
          </a:p>
          <a:p>
            <a:pPr>
              <a:spcAft>
                <a:spcPts val="719"/>
              </a:spcAft>
              <a:defRPr sz="1800" b="0">
                <a:solidFill>
                  <a:srgbClr val="2C2C2C"/>
                </a:solidFill>
                <a:latin typeface="Calibri"/>
              </a:defRPr>
            </a:pPr>
            <a:r>
              <a:t>•  fMRI: personalized DMN and CEN ROI timeseries</a:t>
            </a:r>
          </a:p>
        </p:txBody>
      </p:sp>
      <p:pic>
        <p:nvPicPr>
          <p:cNvPr id="4" name="Picture 3" descr="methods_ri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914400"/>
            <a:ext cx="4389120" cy="266677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C5F8A"/>
                </a:solidFill>
                <a:latin typeface="Calibri"/>
              </a:defRPr>
            </a:pPr>
            <a:r>
              <a:t>Methods Overview</a:t>
            </a:r>
          </a:p>
        </p:txBody>
      </p:sp>
      <p:pic>
        <p:nvPicPr>
          <p:cNvPr id="3" name="Picture 2" descr="methods_ri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2242" y="812565"/>
            <a:ext cx="9498419" cy="577111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C5F8A"/>
                </a:solidFill>
                <a:latin typeface="Calibri"/>
              </a:defRPr>
            </a:pPr>
            <a:r>
              <a:t>Step 1 — EEG Feature Extraction: Hilbert Envelope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9"/>
              </a:spcAft>
              <a:defRPr sz="1600" b="0">
                <a:solidFill>
                  <a:srgbClr val="2C2C2C"/>
                </a:solidFill>
                <a:latin typeface="Calibri"/>
              </a:defRPr>
            </a:pPr>
            <a:r>
              <a:t>For each TR (1.2s), compute power in 5 bands per channel:</a:t>
            </a:r>
          </a:p>
          <a:p>
            <a:pPr>
              <a:spcAft>
                <a:spcPts val="639"/>
              </a:spcAft>
              <a:defRPr sz="1600" b="0">
                <a:solidFill>
                  <a:srgbClr val="2C2C2C"/>
                </a:solidFill>
                <a:latin typeface="Calibri"/>
              </a:defRPr>
            </a:pPr>
            <a:r>
              <a:t>    δ (1–4)  θ (4–8)  α (8–13)  β (13–30)  γ (30–40 Hz)</a:t>
            </a:r>
          </a:p>
          <a:p>
            <a:pPr>
              <a:spcAft>
                <a:spcPts val="639"/>
              </a:spcAft>
              <a:defRPr sz="1600" b="0">
                <a:solidFill>
                  <a:srgbClr val="2C2C2C"/>
                </a:solidFill>
                <a:latin typeface="Calibri"/>
              </a:defRPr>
            </a:pPr>
            <a:endParaRPr/>
          </a:p>
          <a:p>
            <a:pPr>
              <a:spcAft>
                <a:spcPts val="639"/>
              </a:spcAft>
              <a:defRPr sz="1600" b="0">
                <a:solidFill>
                  <a:srgbClr val="2C2C2C"/>
                </a:solidFill>
                <a:latin typeface="Calibri"/>
              </a:defRPr>
            </a:pPr>
            <a:r>
              <a:t>1. Bandpass filter → isolate each band</a:t>
            </a:r>
          </a:p>
          <a:p>
            <a:pPr>
              <a:spcAft>
                <a:spcPts val="639"/>
              </a:spcAft>
              <a:defRPr sz="1600" b="0">
                <a:solidFill>
                  <a:srgbClr val="2C2C2C"/>
                </a:solidFill>
                <a:latin typeface="Calibri"/>
              </a:defRPr>
            </a:pPr>
            <a:r>
              <a:t>2. Hilbert transform → analytic signal</a:t>
            </a:r>
          </a:p>
          <a:p>
            <a:pPr>
              <a:spcAft>
                <a:spcPts val="639"/>
              </a:spcAft>
              <a:defRPr sz="1600" b="0">
                <a:solidFill>
                  <a:srgbClr val="2C2C2C"/>
                </a:solidFill>
                <a:latin typeface="Calibri"/>
              </a:defRPr>
            </a:pPr>
            <a:r>
              <a:t>3. |analytic| = instantaneous amplitude envelope</a:t>
            </a:r>
          </a:p>
          <a:p>
            <a:pPr>
              <a:spcAft>
                <a:spcPts val="639"/>
              </a:spcAft>
              <a:defRPr sz="1600" b="0">
                <a:solidFill>
                  <a:srgbClr val="2C2C2C"/>
                </a:solidFill>
                <a:latin typeface="Calibri"/>
              </a:defRPr>
            </a:pPr>
            <a:r>
              <a:t>4. Average per TR → log transform</a:t>
            </a:r>
          </a:p>
          <a:p>
            <a:pPr>
              <a:spcAft>
                <a:spcPts val="639"/>
              </a:spcAft>
              <a:defRPr sz="1600" b="0">
                <a:solidFill>
                  <a:srgbClr val="2C2C2C"/>
                </a:solidFill>
                <a:latin typeface="Calibri"/>
              </a:defRPr>
            </a:pPr>
            <a:endParaRPr/>
          </a:p>
          <a:p>
            <a:pPr>
              <a:spcAft>
                <a:spcPts val="639"/>
              </a:spcAft>
              <a:defRPr sz="1600" b="0">
                <a:solidFill>
                  <a:srgbClr val="2C2C2C"/>
                </a:solidFill>
                <a:latin typeface="Calibri"/>
              </a:defRPr>
            </a:pPr>
            <a:r>
              <a:t>Result: 31 channels × 5 bands = 155 features / TR</a:t>
            </a:r>
          </a:p>
          <a:p>
            <a:pPr>
              <a:spcAft>
                <a:spcPts val="639"/>
              </a:spcAft>
              <a:defRPr sz="1600" b="0">
                <a:solidFill>
                  <a:srgbClr val="2C2C2C"/>
                </a:solidFill>
                <a:latin typeface="Calibri"/>
              </a:defRPr>
            </a:pPr>
            <a:endParaRPr/>
          </a:p>
          <a:p>
            <a:pPr>
              <a:spcAft>
                <a:spcPts val="639"/>
              </a:spcAft>
              <a:defRPr sz="1600" b="0">
                <a:solidFill>
                  <a:srgbClr val="2C2C2C"/>
                </a:solidFill>
                <a:latin typeface="Calibri"/>
              </a:defRPr>
            </a:pPr>
            <a:r>
              <a:t>Why Hilbert over FFT?</a:t>
            </a:r>
          </a:p>
          <a:p>
            <a:pPr>
              <a:spcAft>
                <a:spcPts val="639"/>
              </a:spcAft>
              <a:defRPr sz="1600" b="0">
                <a:solidFill>
                  <a:srgbClr val="2C2C2C"/>
                </a:solidFill>
                <a:latin typeface="Calibri"/>
              </a:defRPr>
            </a:pPr>
            <a:r>
              <a:t>Preserves temporal dynamics at the TR timescale</a:t>
            </a:r>
          </a:p>
        </p:txBody>
      </p:sp>
      <p:pic>
        <p:nvPicPr>
          <p:cNvPr id="4" name="Picture 3" descr="hilbert_illust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097280"/>
            <a:ext cx="6217920" cy="255662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C5F8A"/>
                </a:solidFill>
                <a:latin typeface="Calibri"/>
              </a:defRPr>
            </a:pPr>
            <a:r>
              <a:t>Step 2 — HRF Convolution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79"/>
              </a:spcAft>
              <a:defRPr sz="1700" b="0">
                <a:solidFill>
                  <a:srgbClr val="2C2C2C"/>
                </a:solidFill>
                <a:latin typeface="Calibri"/>
              </a:defRPr>
            </a:pPr>
            <a:r>
              <a:t>EEG is instantaneous, BOLD is delayed ~6s</a:t>
            </a:r>
          </a:p>
          <a:p>
            <a:pPr>
              <a:spcAft>
                <a:spcPts val="679"/>
              </a:spcAft>
              <a:defRPr sz="1700" b="0">
                <a:solidFill>
                  <a:srgbClr val="2C2C2C"/>
                </a:solidFill>
                <a:latin typeface="Calibri"/>
              </a:defRPr>
            </a:pPr>
            <a:endParaRPr/>
          </a:p>
          <a:p>
            <a:pPr>
              <a:spcAft>
                <a:spcPts val="679"/>
              </a:spcAft>
              <a:defRPr sz="1700" b="0">
                <a:solidFill>
                  <a:srgbClr val="2C2C2C"/>
                </a:solidFill>
                <a:latin typeface="Calibri"/>
              </a:defRPr>
            </a:pPr>
            <a:r>
              <a:t>Convolve EEG band power with the canonical</a:t>
            </a:r>
          </a:p>
          <a:p>
            <a:pPr>
              <a:spcAft>
                <a:spcPts val="679"/>
              </a:spcAft>
              <a:defRPr sz="1700" b="0">
                <a:solidFill>
                  <a:srgbClr val="2C2C2C"/>
                </a:solidFill>
                <a:latin typeface="Calibri"/>
              </a:defRPr>
            </a:pPr>
            <a:r>
              <a:t>hemodynamic response function (HRF):</a:t>
            </a:r>
          </a:p>
          <a:p>
            <a:pPr>
              <a:spcAft>
                <a:spcPts val="679"/>
              </a:spcAft>
              <a:defRPr sz="1700" b="0">
                <a:solidFill>
                  <a:srgbClr val="2C2C2C"/>
                </a:solidFill>
                <a:latin typeface="Calibri"/>
              </a:defRPr>
            </a:pPr>
            <a:endParaRPr/>
          </a:p>
          <a:p>
            <a:pPr>
              <a:spcAft>
                <a:spcPts val="679"/>
              </a:spcAft>
              <a:defRPr sz="1700" b="0">
                <a:solidFill>
                  <a:srgbClr val="2C2C2C"/>
                </a:solidFill>
                <a:latin typeface="Calibri"/>
              </a:defRPr>
            </a:pPr>
            <a:r>
              <a:t>•  Double-gamma model, 32s duration</a:t>
            </a:r>
          </a:p>
          <a:p>
            <a:pPr>
              <a:spcAft>
                <a:spcPts val="679"/>
              </a:spcAft>
              <a:defRPr sz="1700" b="0">
                <a:solidFill>
                  <a:srgbClr val="2C2C2C"/>
                </a:solidFill>
                <a:latin typeface="Calibri"/>
              </a:defRPr>
            </a:pPr>
            <a:r>
              <a:t>•  Peak at ~6s (main response)</a:t>
            </a:r>
          </a:p>
          <a:p>
            <a:pPr>
              <a:spcAft>
                <a:spcPts val="679"/>
              </a:spcAft>
              <a:defRPr sz="1700" b="0">
                <a:solidFill>
                  <a:srgbClr val="2C2C2C"/>
                </a:solidFill>
                <a:latin typeface="Calibri"/>
              </a:defRPr>
            </a:pPr>
            <a:r>
              <a:t>•  Undershoot at ~16s</a:t>
            </a:r>
          </a:p>
          <a:p>
            <a:pPr>
              <a:spcAft>
                <a:spcPts val="679"/>
              </a:spcAft>
              <a:defRPr sz="1700" b="0">
                <a:solidFill>
                  <a:srgbClr val="2C2C2C"/>
                </a:solidFill>
                <a:latin typeface="Calibri"/>
              </a:defRPr>
            </a:pPr>
            <a:endParaRPr/>
          </a:p>
          <a:p>
            <a:pPr>
              <a:spcAft>
                <a:spcPts val="679"/>
              </a:spcAft>
              <a:defRPr sz="1700" b="0">
                <a:solidFill>
                  <a:srgbClr val="2C2C2C"/>
                </a:solidFill>
                <a:latin typeface="Calibri"/>
              </a:defRPr>
            </a:pPr>
            <a:r>
              <a:t>This temporally aligns EEG features with</a:t>
            </a:r>
          </a:p>
          <a:p>
            <a:pPr>
              <a:spcAft>
                <a:spcPts val="679"/>
              </a:spcAft>
              <a:defRPr sz="1700" b="0">
                <a:solidFill>
                  <a:srgbClr val="2C2C2C"/>
                </a:solidFill>
                <a:latin typeface="Calibri"/>
              </a:defRPr>
            </a:pPr>
            <a:r>
              <a:t>the fMRI signal they should predict</a:t>
            </a:r>
          </a:p>
        </p:txBody>
      </p:sp>
      <p:pic>
        <p:nvPicPr>
          <p:cNvPr id="4" name="Picture 3" descr="hrf_standal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188720"/>
            <a:ext cx="5760720" cy="284393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C5F8A"/>
                </a:solidFill>
                <a:latin typeface="Calibri"/>
              </a:defRPr>
            </a:pPr>
            <a:r>
              <a:t>Step 3 — Common Average Re-referencing (CAR)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79"/>
              </a:spcAft>
              <a:defRPr sz="1700" b="0">
                <a:solidFill>
                  <a:srgbClr val="2C2C2C"/>
                </a:solidFill>
                <a:latin typeface="Calibri"/>
              </a:defRPr>
            </a:pPr>
            <a:r>
              <a:t>At each TR, subtract the spatial mean across 31 channels within each band</a:t>
            </a:r>
          </a:p>
          <a:p>
            <a:pPr>
              <a:spcAft>
                <a:spcPts val="679"/>
              </a:spcAft>
              <a:defRPr sz="1700" b="0">
                <a:solidFill>
                  <a:srgbClr val="2C2C2C"/>
                </a:solidFill>
                <a:latin typeface="Calibri"/>
              </a:defRPr>
            </a:pPr>
            <a:r>
              <a:t>Removes the global broadband EEG component (= arousal) from the predictor side (X)</a:t>
            </a:r>
          </a:p>
        </p:txBody>
      </p:sp>
      <p:pic>
        <p:nvPicPr>
          <p:cNvPr id="4" name="Picture 3" descr="car_illust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0"/>
            <a:ext cx="11612880" cy="300912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C5F8A"/>
                </a:solidFill>
                <a:latin typeface="Calibri"/>
              </a:defRPr>
            </a:pPr>
            <a:r>
              <a:t>Step 4 — fMRI Targets &amp; Global Signal Regression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Four targets (z-scored per run):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   RAW DMN — includes arousal (sanity check)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   GSR'd DMN — arousal removed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   GSR'd CEN — arousal removed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   PDA (CEN − DMN) — intrinsically arousal-free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endParaRPr/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GSR removes arousal from the target side (y):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   DMN(t) = β₀ + β₁ × global_signal(t) + residual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   Keep only the residual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endParaRPr/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DMN loads on global signal at r ≈ 0.70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→ ~50% of DMN variance is just arousal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endParaRPr/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CAR (EEG) + GSR (fMRI) = arousal removed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from both sides of the equation</a:t>
            </a:r>
          </a:p>
        </p:txBody>
      </p:sp>
      <p:pic>
        <p:nvPicPr>
          <p:cNvPr id="4" name="Picture 3" descr="gsr_illust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097280"/>
            <a:ext cx="6126480" cy="303439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C5F8A"/>
                </a:solidFill>
                <a:latin typeface="Calibri"/>
              </a:defRPr>
            </a:pPr>
            <a:r>
              <a:t>Step 5 — Ridge vs ElasticNet Regression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Both: linear regression + regularization penalty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(prevents overfitting with 155 correlated features)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endParaRPr/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Ridge (L2): penalty = Σ weight²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•  Shrinks all weights toward zero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•  Never sets any to exactly zero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•  "Use everything, trust nothing too much"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endParaRPr/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ElasticNet (L1 + L2): penalty = mix of |weight| + weight²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•  L1 can push weights to exactly zero → feature selection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•  L2 handles correlated features gracefully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•  Sparser, more interpretable model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endParaRPr/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ElasticNet won: zeroed only 6% of features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→ confirms the signal is genuinely distributed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   but pruning noise improved generalization</a:t>
            </a:r>
          </a:p>
        </p:txBody>
      </p:sp>
      <p:pic>
        <p:nvPicPr>
          <p:cNvPr id="4" name="Picture 3" descr="ridge_vs_enet_illust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097280"/>
            <a:ext cx="5943600" cy="246817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C5F8A"/>
                </a:solidFill>
                <a:latin typeface="Calibri"/>
              </a:defRPr>
            </a:pPr>
            <a:r>
              <a:t>Step 5 — Cross-Validation Schemes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79"/>
              </a:spcAft>
              <a:defRPr sz="1700" b="0">
                <a:solidFill>
                  <a:srgbClr val="2C2C2C"/>
                </a:solidFill>
                <a:latin typeface="Calibri"/>
              </a:defRPr>
            </a:pPr>
            <a:r>
              <a:t>No shuffle — contiguous blocks preserve temporal autocorrelation (shuffled KFold gives spurious r = 0.5–0.75)</a:t>
            </a:r>
          </a:p>
        </p:txBody>
      </p:sp>
      <p:pic>
        <p:nvPicPr>
          <p:cNvPr id="4" name="Picture 3" descr="cv_schem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286000"/>
            <a:ext cx="11612880" cy="39435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C5F8A"/>
                </a:solidFill>
                <a:latin typeface="Calibri"/>
              </a:defRPr>
            </a:pPr>
            <a:r>
              <a:t>Step 6 — Statistical Testing (Permutation Nulls)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No parametric assumptions — pure permutation tests: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endParaRPr/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Per-subject: circular-shift null (10K)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•  Shift fMRI target by random lag within each run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•  Preserves autocorrelation structure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•  Refit model → null r distribution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•  p = fraction of null r ≥ observed r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endParaRPr/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Group: sign-flip null (10K)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•  Randomly flip sign of each subject's mean r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•  Compute null group mean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•  Tests cohort-level effect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endParaRPr/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Both are non-parametric, FWER-controlled</a:t>
            </a:r>
          </a:p>
        </p:txBody>
      </p:sp>
      <p:pic>
        <p:nvPicPr>
          <p:cNvPr id="4" name="Picture 3" descr="permutation_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097280"/>
            <a:ext cx="5943600" cy="263946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990000"/>
                </a:solidFill>
                <a:latin typeface="Calibri"/>
              </a:defRPr>
            </a:pPr>
            <a:r>
              <a:t>Step A — Univariate Screen: It's All Arousal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9"/>
              </a:spcAft>
              <a:defRPr sz="1600" b="0">
                <a:solidFill>
                  <a:srgbClr val="2C2C2C"/>
                </a:solidFill>
                <a:latin typeface="Calibri"/>
              </a:defRPr>
            </a:pPr>
            <a:r>
              <a:t>Raw EEG band power couples to DMN at r ≈ 0.30</a:t>
            </a:r>
          </a:p>
          <a:p>
            <a:pPr>
              <a:spcAft>
                <a:spcPts val="639"/>
              </a:spcAft>
              <a:defRPr sz="1600" b="0">
                <a:solidFill>
                  <a:srgbClr val="2C2C2C"/>
                </a:solidFill>
                <a:latin typeface="Calibri"/>
              </a:defRPr>
            </a:pPr>
            <a:r>
              <a:t>→ pipeline is sound (alignment, HRF, artifacts OK)</a:t>
            </a:r>
          </a:p>
          <a:p>
            <a:pPr>
              <a:spcAft>
                <a:spcPts val="639"/>
              </a:spcAft>
              <a:defRPr sz="1600" b="0">
                <a:solidFill>
                  <a:srgbClr val="2C2C2C"/>
                </a:solidFill>
                <a:latin typeface="Calibri"/>
              </a:defRPr>
            </a:pPr>
            <a:endParaRPr/>
          </a:p>
          <a:p>
            <a:pPr>
              <a:spcAft>
                <a:spcPts val="639"/>
              </a:spcAft>
              <a:defRPr sz="1600" b="0">
                <a:solidFill>
                  <a:srgbClr val="2C2C2C"/>
                </a:solidFill>
                <a:latin typeface="Calibri"/>
              </a:defRPr>
            </a:pPr>
            <a:r>
              <a:t>BUT: coupling is 100% arousal/vigilance:</a:t>
            </a:r>
          </a:p>
          <a:p>
            <a:pPr>
              <a:spcAft>
                <a:spcPts val="639"/>
              </a:spcAft>
              <a:defRPr sz="1600" b="0">
                <a:solidFill>
                  <a:srgbClr val="2C2C2C"/>
                </a:solidFill>
                <a:latin typeface="Calibri"/>
              </a:defRPr>
            </a:pPr>
            <a:r>
              <a:t>•  Uniform across ALL channels and bands</a:t>
            </a:r>
          </a:p>
          <a:p>
            <a:pPr>
              <a:spcAft>
                <a:spcPts val="639"/>
              </a:spcAft>
              <a:defRPr sz="1600" b="0">
                <a:solidFill>
                  <a:srgbClr val="2C2C2C"/>
                </a:solidFill>
                <a:latin typeface="Calibri"/>
              </a:defRPr>
            </a:pPr>
            <a:r>
              <a:t>•  Tracks fMRI global signal at r ≈ 0.45</a:t>
            </a:r>
          </a:p>
          <a:p>
            <a:pPr>
              <a:spcAft>
                <a:spcPts val="639"/>
              </a:spcAft>
              <a:defRPr sz="1600" b="0">
                <a:solidFill>
                  <a:srgbClr val="2C2C2C"/>
                </a:solidFill>
                <a:latin typeface="Calibri"/>
              </a:defRPr>
            </a:pPr>
            <a:r>
              <a:t>•  Collapses to r = 0 after partialling global signal</a:t>
            </a:r>
          </a:p>
          <a:p>
            <a:pPr>
              <a:spcAft>
                <a:spcPts val="639"/>
              </a:spcAft>
              <a:defRPr sz="1600" b="0">
                <a:solidFill>
                  <a:srgbClr val="2C2C2C"/>
                </a:solidFill>
                <a:latin typeface="Calibri"/>
              </a:defRPr>
            </a:pPr>
            <a:r>
              <a:t>•  = aperiodic 1/f broadband shift, not oscillatory</a:t>
            </a:r>
          </a:p>
          <a:p>
            <a:pPr>
              <a:spcAft>
                <a:spcPts val="639"/>
              </a:spcAft>
              <a:defRPr sz="1600" b="0">
                <a:solidFill>
                  <a:srgbClr val="2C2C2C"/>
                </a:solidFill>
                <a:latin typeface="Calibri"/>
              </a:defRPr>
            </a:pPr>
            <a:endParaRPr/>
          </a:p>
          <a:p>
            <a:pPr>
              <a:spcAft>
                <a:spcPts val="639"/>
              </a:spcAft>
              <a:defRPr sz="1600" b="0">
                <a:solidFill>
                  <a:srgbClr val="2C2C2C"/>
                </a:solidFill>
                <a:latin typeface="Calibri"/>
              </a:defRPr>
            </a:pPr>
            <a:r>
              <a:t>After CAR or GSR:</a:t>
            </a:r>
          </a:p>
          <a:p>
            <a:pPr>
              <a:spcAft>
                <a:spcPts val="639"/>
              </a:spcAft>
              <a:defRPr sz="1600" b="0">
                <a:solidFill>
                  <a:srgbClr val="2C2C2C"/>
                </a:solidFill>
                <a:latin typeface="Calibri"/>
              </a:defRPr>
            </a:pPr>
            <a:r>
              <a:t>   nothing survives group correction</a:t>
            </a:r>
          </a:p>
          <a:p>
            <a:pPr>
              <a:spcAft>
                <a:spcPts val="639"/>
              </a:spcAft>
              <a:defRPr sz="1600" b="0">
                <a:solidFill>
                  <a:srgbClr val="2C2C2C"/>
                </a:solidFill>
                <a:latin typeface="Calibri"/>
              </a:defRPr>
            </a:pPr>
            <a:endParaRPr/>
          </a:p>
          <a:p>
            <a:pPr>
              <a:spcAft>
                <a:spcPts val="639"/>
              </a:spcAft>
              <a:defRPr sz="1600" b="0">
                <a:solidFill>
                  <a:srgbClr val="2C2C2C"/>
                </a:solidFill>
                <a:latin typeface="Calibri"/>
              </a:defRPr>
            </a:pPr>
            <a:r>
              <a:t>→ Dead end for univariate (single channel) decoding</a:t>
            </a:r>
          </a:p>
          <a:p>
            <a:pPr>
              <a:spcAft>
                <a:spcPts val="639"/>
              </a:spcAft>
              <a:defRPr sz="1600" b="0">
                <a:solidFill>
                  <a:srgbClr val="2C2C2C"/>
                </a:solidFill>
                <a:latin typeface="Calibri"/>
              </a:defRPr>
            </a:pPr>
            <a:r>
              <a:t>→ Need multivariate approach (Step B)</a:t>
            </a:r>
          </a:p>
        </p:txBody>
      </p:sp>
      <p:pic>
        <p:nvPicPr>
          <p:cNvPr id="4" name="Picture 3" descr="coupling_group_RA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731520"/>
            <a:ext cx="5486400" cy="2400300"/>
          </a:xfrm>
          <a:prstGeom prst="rect">
            <a:avLst/>
          </a:prstGeom>
        </p:spPr>
      </p:pic>
      <p:pic>
        <p:nvPicPr>
          <p:cNvPr id="5" name="Picture 4" descr="identify_glob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3657600"/>
            <a:ext cx="5486400" cy="1524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8761D"/>
                </a:solidFill>
                <a:latin typeface="Calibri"/>
              </a:defRPr>
            </a:pPr>
            <a:r>
              <a:t>Step B — Multivariate Decoder: POSITIVE RESULT</a:t>
            </a:r>
          </a:p>
        </p:txBody>
      </p:sp>
      <p:pic>
        <p:nvPicPr>
          <p:cNvPr id="3" name="Picture 2" descr="group_bar_ridge_vs_en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11612880" cy="4532263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C5F8A"/>
                </a:solidFill>
                <a:latin typeface="Calibri"/>
              </a:defRPr>
            </a:pPr>
            <a:r>
              <a:t>Per-Subject Decoding Performance</a:t>
            </a:r>
          </a:p>
        </p:txBody>
      </p:sp>
      <p:pic>
        <p:nvPicPr>
          <p:cNvPr id="3" name="Picture 2" descr="subject_heatmap_en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11612880" cy="531219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C5F8A"/>
                </a:solidFill>
                <a:latin typeface="Calibri"/>
              </a:defRPr>
            </a:pPr>
            <a:r>
              <a:t>Cross-Run Generalization (5-fold vs LORO)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79"/>
              </a:spcAft>
              <a:defRPr sz="1700" b="0">
                <a:solidFill>
                  <a:srgbClr val="2C2C2C"/>
                </a:solidFill>
                <a:latin typeface="Calibri"/>
              </a:defRPr>
            </a:pPr>
            <a:r>
              <a:t>Signal holds across runs — not just within-run autocorrelation leakage</a:t>
            </a:r>
          </a:p>
        </p:txBody>
      </p:sp>
      <p:pic>
        <p:nvPicPr>
          <p:cNvPr id="4" name="Picture 3" descr="5fold_vs_loro_pai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828800"/>
            <a:ext cx="11612880" cy="290468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C5F8A"/>
                </a:solidFill>
                <a:latin typeface="Calibri"/>
              </a:defRPr>
            </a:pPr>
            <a:r>
              <a:t>ElasticNet Weight Topography — GSR'd CEN</a:t>
            </a:r>
          </a:p>
        </p:txBody>
      </p:sp>
      <p:pic>
        <p:nvPicPr>
          <p:cNvPr id="3" name="Picture 2" descr="topomap_enet_GSR_CEN_5f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9701" y="914400"/>
            <a:ext cx="9888279" cy="572933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C5F8A"/>
                </a:solidFill>
                <a:latin typeface="Calibri"/>
              </a:defRPr>
            </a:pPr>
            <a:r>
              <a:t>Top Features: What Drives the Decoder?</a:t>
            </a:r>
          </a:p>
        </p:txBody>
      </p:sp>
      <p:pic>
        <p:nvPicPr>
          <p:cNvPr id="3" name="Picture 2" descr="feature_importance_GSR_C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400"/>
            <a:ext cx="5760720" cy="2867516"/>
          </a:xfrm>
          <a:prstGeom prst="rect">
            <a:avLst/>
          </a:prstGeom>
        </p:spPr>
      </p:pic>
      <p:pic>
        <p:nvPicPr>
          <p:cNvPr id="4" name="Picture 3" descr="feature_importance_P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914400"/>
            <a:ext cx="5760720" cy="286635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C5F8A"/>
                </a:solidFill>
                <a:latin typeface="Calibri"/>
              </a:defRPr>
            </a:pPr>
            <a:r>
              <a:rPr dirty="0"/>
              <a:t>EEG-Predicted vs True fMRI (</a:t>
            </a:r>
            <a:r>
              <a:rPr lang="en-US" dirty="0"/>
              <a:t>Best &amp; </a:t>
            </a:r>
            <a:r>
              <a:rPr dirty="0"/>
              <a:t>Worst Subject)</a:t>
            </a:r>
          </a:p>
        </p:txBody>
      </p:sp>
      <p:pic>
        <p:nvPicPr>
          <p:cNvPr id="3" name="Picture 2" descr="predicted_timeseries_best_wor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09867"/>
            <a:ext cx="10813312" cy="3704403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C90B69-DBDA-8547-A71F-7073C8060F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49F9757-643D-81FE-E2CD-07710B7F717D}"/>
              </a:ext>
            </a:extLst>
          </p:cNvPr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C5F8A"/>
                </a:solidFill>
                <a:latin typeface="Calibri"/>
              </a:defRPr>
            </a:pPr>
            <a:r>
              <a:rPr dirty="0"/>
              <a:t>EEG-Predicted vs True fMRI (Best </a:t>
            </a:r>
            <a:r>
              <a:rPr lang="en-US" dirty="0"/>
              <a:t>&amp; Worst </a:t>
            </a:r>
            <a:r>
              <a:rPr dirty="0"/>
              <a:t>Subject)</a:t>
            </a:r>
          </a:p>
        </p:txBody>
      </p:sp>
      <p:pic>
        <p:nvPicPr>
          <p:cNvPr id="4" name="Picture 3" descr="loro_timeseries_best_worst.png">
            <a:extLst>
              <a:ext uri="{FF2B5EF4-FFF2-40B4-BE49-F238E27FC236}">
                <a16:creationId xmlns:a16="http://schemas.microsoft.com/office/drawing/2014/main" id="{4C35C89F-EE4B-FF08-6925-B9E24543DE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522583"/>
            <a:ext cx="11612880" cy="3981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365394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C5F8A"/>
                </a:solidFill>
                <a:latin typeface="Calibri"/>
              </a:defRPr>
            </a:pPr>
            <a:r>
              <a:t>ElasticNet Weight Matrix (Group Mean, GSR'd CEN)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Key findings: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endParaRPr/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•  F4 alpha is the single most reliable feature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   (right-frontal alpha → CEN, 13/17 agree)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endParaRPr/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•  Consistent with frontal alpha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   asymmetry literature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endParaRPr/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•  Signal is distributed and broadband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   — no single band or region dominates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endParaRPr/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•  Only 6% of weights zeroed out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   → truly distributed, not sparse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endParaRPr/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•  Good cross-subject consistency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   (10–14/17 subjects agree on sign)</a:t>
            </a:r>
          </a:p>
        </p:txBody>
      </p:sp>
      <p:pic>
        <p:nvPicPr>
          <p:cNvPr id="4" name="Picture 3" descr="topomap_enet_PDA_5f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6818" y="1227623"/>
            <a:ext cx="7598735" cy="4402754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C5F8A"/>
                </a:solidFill>
                <a:latin typeface="Calibri"/>
              </a:defRPr>
            </a:pPr>
            <a:r>
              <a:t>Validation: New Subject dmnelf016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0"/>
              </a:spcAft>
              <a:defRPr sz="1400" b="0">
                <a:solidFill>
                  <a:srgbClr val="2C2C2C"/>
                </a:solidFill>
                <a:latin typeface="Calibri"/>
              </a:defRPr>
            </a:pPr>
            <a:r>
              <a:t>Within-subject decoding (ElasticNet, same pipeline):</a:t>
            </a:r>
          </a:p>
          <a:p>
            <a:pPr>
              <a:spcAft>
                <a:spcPts val="560"/>
              </a:spcAft>
              <a:defRPr sz="1400" b="0">
                <a:solidFill>
                  <a:srgbClr val="2C2C2C"/>
                </a:solidFill>
                <a:latin typeface="Calibri"/>
              </a:defRPr>
            </a:pPr>
            <a:endParaRPr/>
          </a:p>
          <a:p>
            <a:pPr>
              <a:spcAft>
                <a:spcPts val="560"/>
              </a:spcAft>
              <a:defRPr sz="1400" b="0">
                <a:solidFill>
                  <a:srgbClr val="2C2C2C"/>
                </a:solidFill>
                <a:latin typeface="Calibri"/>
              </a:defRPr>
            </a:pPr>
            <a:r>
              <a:t>5-fold contiguous CV:</a:t>
            </a:r>
          </a:p>
          <a:p>
            <a:pPr>
              <a:spcAft>
                <a:spcPts val="560"/>
              </a:spcAft>
              <a:defRPr sz="1400" b="0">
                <a:solidFill>
                  <a:srgbClr val="2C2C2C"/>
                </a:solidFill>
                <a:latin typeface="Calibri"/>
              </a:defRPr>
            </a:pPr>
            <a:r>
              <a:t>   GSR'd CEN:  r = +0.240   p = 0.033 *</a:t>
            </a:r>
          </a:p>
          <a:p>
            <a:pPr>
              <a:spcAft>
                <a:spcPts val="560"/>
              </a:spcAft>
              <a:defRPr sz="1400" b="0">
                <a:solidFill>
                  <a:srgbClr val="2C2C2C"/>
                </a:solidFill>
                <a:latin typeface="Calibri"/>
              </a:defRPr>
            </a:pPr>
            <a:r>
              <a:t>   RAW DMN:     r = +0.220   p = 0.046 *</a:t>
            </a:r>
          </a:p>
          <a:p>
            <a:pPr>
              <a:spcAft>
                <a:spcPts val="560"/>
              </a:spcAft>
              <a:defRPr sz="1400" b="0">
                <a:solidFill>
                  <a:srgbClr val="2C2C2C"/>
                </a:solidFill>
                <a:latin typeface="Calibri"/>
              </a:defRPr>
            </a:pPr>
            <a:r>
              <a:t>   PDA:            r = +0.157   p = 0.124</a:t>
            </a:r>
          </a:p>
          <a:p>
            <a:pPr>
              <a:spcAft>
                <a:spcPts val="560"/>
              </a:spcAft>
              <a:defRPr sz="1400" b="0">
                <a:solidFill>
                  <a:srgbClr val="2C2C2C"/>
                </a:solidFill>
                <a:latin typeface="Calibri"/>
              </a:defRPr>
            </a:pPr>
            <a:r>
              <a:t>   GSR'd DMN:  r = −0.056   p = 0.784</a:t>
            </a:r>
          </a:p>
          <a:p>
            <a:pPr>
              <a:spcAft>
                <a:spcPts val="560"/>
              </a:spcAft>
              <a:defRPr sz="1400" b="0">
                <a:solidFill>
                  <a:srgbClr val="2C2C2C"/>
                </a:solidFill>
                <a:latin typeface="Calibri"/>
              </a:defRPr>
            </a:pPr>
            <a:endParaRPr/>
          </a:p>
          <a:p>
            <a:pPr>
              <a:spcAft>
                <a:spcPts val="560"/>
              </a:spcAft>
              <a:defRPr sz="1400" b="0">
                <a:solidFill>
                  <a:srgbClr val="2C2C2C"/>
                </a:solidFill>
                <a:latin typeface="Calibri"/>
              </a:defRPr>
            </a:pPr>
            <a:r>
              <a:t>LORO (cross-run):</a:t>
            </a:r>
          </a:p>
          <a:p>
            <a:pPr>
              <a:spcAft>
                <a:spcPts val="560"/>
              </a:spcAft>
              <a:defRPr sz="1400" b="0">
                <a:solidFill>
                  <a:srgbClr val="2C2C2C"/>
                </a:solidFill>
                <a:latin typeface="Calibri"/>
              </a:defRPr>
            </a:pPr>
            <a:r>
              <a:t>   PDA:            r = +0.219   p = 0.024 *</a:t>
            </a:r>
          </a:p>
          <a:p>
            <a:pPr>
              <a:spcAft>
                <a:spcPts val="560"/>
              </a:spcAft>
              <a:defRPr sz="1400" b="0">
                <a:solidFill>
                  <a:srgbClr val="2C2C2C"/>
                </a:solidFill>
                <a:latin typeface="Calibri"/>
              </a:defRPr>
            </a:pPr>
            <a:r>
              <a:t>   RAW DMN:     r = +0.197   p = 0.034 *</a:t>
            </a:r>
          </a:p>
          <a:p>
            <a:pPr>
              <a:spcAft>
                <a:spcPts val="560"/>
              </a:spcAft>
              <a:defRPr sz="1400" b="0">
                <a:solidFill>
                  <a:srgbClr val="2C2C2C"/>
                </a:solidFill>
                <a:latin typeface="Calibri"/>
              </a:defRPr>
            </a:pPr>
            <a:r>
              <a:t>   GSR'd CEN:  r = +0.156   p = 0.088</a:t>
            </a:r>
          </a:p>
          <a:p>
            <a:pPr>
              <a:spcAft>
                <a:spcPts val="560"/>
              </a:spcAft>
              <a:defRPr sz="1400" b="0">
                <a:solidFill>
                  <a:srgbClr val="2C2C2C"/>
                </a:solidFill>
                <a:latin typeface="Calibri"/>
              </a:defRPr>
            </a:pPr>
            <a:r>
              <a:t>   GSR'd DMN:  r = −0.151   p = 0.926</a:t>
            </a:r>
          </a:p>
          <a:p>
            <a:pPr>
              <a:spcAft>
                <a:spcPts val="560"/>
              </a:spcAft>
              <a:defRPr sz="1400" b="0">
                <a:solidFill>
                  <a:srgbClr val="2C2C2C"/>
                </a:solidFill>
                <a:latin typeface="Calibri"/>
              </a:defRPr>
            </a:pPr>
            <a:endParaRPr/>
          </a:p>
          <a:p>
            <a:pPr>
              <a:spcAft>
                <a:spcPts val="560"/>
              </a:spcAft>
              <a:defRPr sz="1400" b="0">
                <a:solidFill>
                  <a:srgbClr val="2C2C2C"/>
                </a:solidFill>
                <a:latin typeface="Calibri"/>
              </a:defRPr>
            </a:pPr>
            <a:r>
              <a:t>Signal exists in 016 at group-level performance.</a:t>
            </a:r>
          </a:p>
          <a:p>
            <a:pPr>
              <a:spcAft>
                <a:spcPts val="560"/>
              </a:spcAft>
              <a:defRPr sz="1400" b="0">
                <a:solidFill>
                  <a:srgbClr val="2C2C2C"/>
                </a:solidFill>
                <a:latin typeface="Calibri"/>
              </a:defRPr>
            </a:pPr>
            <a:r>
              <a:t>CEN decodable, DMN not — subject-specific pattern.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0" y="5029200"/>
            <a:ext cx="5943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80"/>
              </a:spcAft>
              <a:defRPr sz="1200" b="0">
                <a:solidFill>
                  <a:srgbClr val="888888"/>
                </a:solidFill>
                <a:latin typeface="Calibri"/>
              </a:defRPr>
            </a:pPr>
            <a:r>
              <a:t>MURFI real-time PDA vs offline PDA (fMRIPrep):</a:t>
            </a:r>
          </a:p>
          <a:p>
            <a:pPr>
              <a:spcAft>
                <a:spcPts val="480"/>
              </a:spcAft>
              <a:defRPr sz="1200" b="0">
                <a:solidFill>
                  <a:srgbClr val="888888"/>
                </a:solidFill>
                <a:latin typeface="Calibri"/>
              </a:defRPr>
            </a:pPr>
            <a:r>
              <a:t>r = 0.12–0.36 per run — feedback was ~30% true signal</a:t>
            </a:r>
          </a:p>
          <a:p>
            <a:pPr>
              <a:spcAft>
                <a:spcPts val="480"/>
              </a:spcAft>
              <a:defRPr sz="1200" b="0">
                <a:solidFill>
                  <a:srgbClr val="888888"/>
                </a:solidFill>
                <a:latin typeface="Calibri"/>
              </a:defRPr>
            </a:pPr>
            <a:r>
              <a:t>Gap = motion confounds not regressed in real-time</a:t>
            </a:r>
          </a:p>
        </p:txBody>
      </p:sp>
      <p:pic>
        <p:nvPicPr>
          <p:cNvPr id="6" name="Picture 5" descr="dmnelf016_predicted_vs_tr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914400"/>
            <a:ext cx="6583680" cy="4077741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C5F8A"/>
                </a:solidFill>
                <a:latin typeface="Calibri"/>
              </a:defRPr>
            </a:pPr>
            <a:r>
              <a:t>Validation: New Subject dmnelf016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0"/>
              </a:spcAft>
              <a:defRPr sz="1400" b="0">
                <a:solidFill>
                  <a:srgbClr val="2C2C2C"/>
                </a:solidFill>
                <a:latin typeface="Calibri"/>
              </a:defRPr>
            </a:pPr>
            <a:r>
              <a:t>Within-subject decoding (ElasticNet, same pipeline):</a:t>
            </a:r>
          </a:p>
          <a:p>
            <a:pPr>
              <a:spcAft>
                <a:spcPts val="560"/>
              </a:spcAft>
              <a:defRPr sz="1400" b="0">
                <a:solidFill>
                  <a:srgbClr val="2C2C2C"/>
                </a:solidFill>
                <a:latin typeface="Calibri"/>
              </a:defRPr>
            </a:pPr>
            <a:endParaRPr/>
          </a:p>
          <a:p>
            <a:pPr>
              <a:spcAft>
                <a:spcPts val="560"/>
              </a:spcAft>
              <a:defRPr sz="1400" b="0">
                <a:solidFill>
                  <a:srgbClr val="2C2C2C"/>
                </a:solidFill>
                <a:latin typeface="Calibri"/>
              </a:defRPr>
            </a:pPr>
            <a:r>
              <a:t>5-fold contiguous CV:</a:t>
            </a:r>
          </a:p>
          <a:p>
            <a:pPr>
              <a:spcAft>
                <a:spcPts val="560"/>
              </a:spcAft>
              <a:defRPr sz="1400" b="0">
                <a:solidFill>
                  <a:srgbClr val="2C2C2C"/>
                </a:solidFill>
                <a:latin typeface="Calibri"/>
              </a:defRPr>
            </a:pPr>
            <a:r>
              <a:t>   GSR'd CEN:  r = +0.240   p = 0.033 *</a:t>
            </a:r>
          </a:p>
          <a:p>
            <a:pPr>
              <a:spcAft>
                <a:spcPts val="560"/>
              </a:spcAft>
              <a:defRPr sz="1400" b="0">
                <a:solidFill>
                  <a:srgbClr val="2C2C2C"/>
                </a:solidFill>
                <a:latin typeface="Calibri"/>
              </a:defRPr>
            </a:pPr>
            <a:r>
              <a:t>   RAW DMN:     r = +0.220   p = 0.046 *</a:t>
            </a:r>
          </a:p>
          <a:p>
            <a:pPr>
              <a:spcAft>
                <a:spcPts val="560"/>
              </a:spcAft>
              <a:defRPr sz="1400" b="0">
                <a:solidFill>
                  <a:srgbClr val="2C2C2C"/>
                </a:solidFill>
                <a:latin typeface="Calibri"/>
              </a:defRPr>
            </a:pPr>
            <a:r>
              <a:t>   PDA:            r = +0.157   p = 0.124</a:t>
            </a:r>
          </a:p>
          <a:p>
            <a:pPr>
              <a:spcAft>
                <a:spcPts val="560"/>
              </a:spcAft>
              <a:defRPr sz="1400" b="0">
                <a:solidFill>
                  <a:srgbClr val="2C2C2C"/>
                </a:solidFill>
                <a:latin typeface="Calibri"/>
              </a:defRPr>
            </a:pPr>
            <a:r>
              <a:t>   GSR'd DMN:  r = −0.056   p = 0.784</a:t>
            </a:r>
          </a:p>
          <a:p>
            <a:pPr>
              <a:spcAft>
                <a:spcPts val="560"/>
              </a:spcAft>
              <a:defRPr sz="1400" b="0">
                <a:solidFill>
                  <a:srgbClr val="2C2C2C"/>
                </a:solidFill>
                <a:latin typeface="Calibri"/>
              </a:defRPr>
            </a:pPr>
            <a:endParaRPr/>
          </a:p>
          <a:p>
            <a:pPr>
              <a:spcAft>
                <a:spcPts val="560"/>
              </a:spcAft>
              <a:defRPr sz="1400" b="0">
                <a:solidFill>
                  <a:srgbClr val="2C2C2C"/>
                </a:solidFill>
                <a:latin typeface="Calibri"/>
              </a:defRPr>
            </a:pPr>
            <a:r>
              <a:t>LORO (cross-run):</a:t>
            </a:r>
          </a:p>
          <a:p>
            <a:pPr>
              <a:spcAft>
                <a:spcPts val="560"/>
              </a:spcAft>
              <a:defRPr sz="1400" b="0">
                <a:solidFill>
                  <a:srgbClr val="2C2C2C"/>
                </a:solidFill>
                <a:latin typeface="Calibri"/>
              </a:defRPr>
            </a:pPr>
            <a:r>
              <a:t>   PDA:            r = +0.219   p = 0.024 *</a:t>
            </a:r>
          </a:p>
          <a:p>
            <a:pPr>
              <a:spcAft>
                <a:spcPts val="560"/>
              </a:spcAft>
              <a:defRPr sz="1400" b="0">
                <a:solidFill>
                  <a:srgbClr val="2C2C2C"/>
                </a:solidFill>
                <a:latin typeface="Calibri"/>
              </a:defRPr>
            </a:pPr>
            <a:r>
              <a:t>   RAW DMN:     r = +0.197   p = 0.034 *</a:t>
            </a:r>
          </a:p>
          <a:p>
            <a:pPr>
              <a:spcAft>
                <a:spcPts val="560"/>
              </a:spcAft>
              <a:defRPr sz="1400" b="0">
                <a:solidFill>
                  <a:srgbClr val="2C2C2C"/>
                </a:solidFill>
                <a:latin typeface="Calibri"/>
              </a:defRPr>
            </a:pPr>
            <a:r>
              <a:t>   GSR'd CEN:  r = +0.156   p = 0.088</a:t>
            </a:r>
          </a:p>
          <a:p>
            <a:pPr>
              <a:spcAft>
                <a:spcPts val="560"/>
              </a:spcAft>
              <a:defRPr sz="1400" b="0">
                <a:solidFill>
                  <a:srgbClr val="2C2C2C"/>
                </a:solidFill>
                <a:latin typeface="Calibri"/>
              </a:defRPr>
            </a:pPr>
            <a:r>
              <a:t>   GSR'd DMN:  r = −0.151   p = 0.926</a:t>
            </a:r>
          </a:p>
          <a:p>
            <a:pPr>
              <a:spcAft>
                <a:spcPts val="560"/>
              </a:spcAft>
              <a:defRPr sz="1400" b="0">
                <a:solidFill>
                  <a:srgbClr val="2C2C2C"/>
                </a:solidFill>
                <a:latin typeface="Calibri"/>
              </a:defRPr>
            </a:pPr>
            <a:endParaRPr/>
          </a:p>
          <a:p>
            <a:pPr>
              <a:spcAft>
                <a:spcPts val="560"/>
              </a:spcAft>
              <a:defRPr sz="1400" b="0">
                <a:solidFill>
                  <a:srgbClr val="2C2C2C"/>
                </a:solidFill>
                <a:latin typeface="Calibri"/>
              </a:defRPr>
            </a:pPr>
            <a:r>
              <a:t>Signal exists in 016 at group-level performance.</a:t>
            </a:r>
          </a:p>
          <a:p>
            <a:pPr>
              <a:spcAft>
                <a:spcPts val="560"/>
              </a:spcAft>
              <a:defRPr sz="1400" b="0">
                <a:solidFill>
                  <a:srgbClr val="2C2C2C"/>
                </a:solidFill>
                <a:latin typeface="Calibri"/>
              </a:defRPr>
            </a:pPr>
            <a:r>
              <a:t>CEN decodable, DMN not — subject-specific pattern.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0" y="5029200"/>
            <a:ext cx="5943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80"/>
              </a:spcAft>
              <a:defRPr sz="1200" b="0">
                <a:solidFill>
                  <a:srgbClr val="888888"/>
                </a:solidFill>
                <a:latin typeface="Calibri"/>
              </a:defRPr>
            </a:pPr>
            <a:r>
              <a:t>MURFI real-time PDA vs offline PDA (fMRIPrep):</a:t>
            </a:r>
          </a:p>
          <a:p>
            <a:pPr>
              <a:spcAft>
                <a:spcPts val="480"/>
              </a:spcAft>
              <a:defRPr sz="1200" b="0">
                <a:solidFill>
                  <a:srgbClr val="888888"/>
                </a:solidFill>
                <a:latin typeface="Calibri"/>
              </a:defRPr>
            </a:pPr>
            <a:r>
              <a:t>r = 0.12–0.36 per run — feedback was ~30% true signal</a:t>
            </a:r>
          </a:p>
          <a:p>
            <a:pPr>
              <a:spcAft>
                <a:spcPts val="480"/>
              </a:spcAft>
              <a:defRPr sz="1200" b="0">
                <a:solidFill>
                  <a:srgbClr val="888888"/>
                </a:solidFill>
                <a:latin typeface="Calibri"/>
              </a:defRPr>
            </a:pPr>
            <a:r>
              <a:t>Gap = motion confounds not regressed in real-time</a:t>
            </a:r>
          </a:p>
        </p:txBody>
      </p:sp>
      <p:pic>
        <p:nvPicPr>
          <p:cNvPr id="6" name="Picture 5" descr="dmnelf016_predicted_vs_tr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914400"/>
            <a:ext cx="6583680" cy="4077741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C5F8A"/>
                </a:solidFill>
                <a:latin typeface="Calibri"/>
              </a:defRPr>
            </a:pPr>
            <a:r>
              <a:t>Cross-Subject EEG Fingerprint (LOSO, n=17)</a:t>
            </a:r>
          </a:p>
        </p:txBody>
      </p:sp>
      <p:pic>
        <p:nvPicPr>
          <p:cNvPr id="3" name="Picture 2" descr="loso_fingerprint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11612880" cy="43290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5720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0"/>
              </a:spcAft>
              <a:defRPr sz="1400" b="0">
                <a:solidFill>
                  <a:srgbClr val="2C2C2C"/>
                </a:solidFill>
                <a:latin typeface="Calibri"/>
              </a:defRPr>
            </a:pPr>
            <a:r>
              <a:t>Atlas CEN (r=0.12, p=0.0002) and GSR'd CEN (r=0.11, p=0.003) are decodable cross-subject</a:t>
            </a:r>
          </a:p>
          <a:p>
            <a:pPr>
              <a:spcAft>
                <a:spcPts val="560"/>
              </a:spcAft>
              <a:defRPr sz="1400" b="0">
                <a:solidFill>
                  <a:srgbClr val="2C2C2C"/>
                </a:solidFill>
                <a:latin typeface="Calibri"/>
              </a:defRPr>
            </a:pPr>
            <a:r>
              <a:t>with EEG only — no fMRI calibration needed. DMN is never decodable cross-subject.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C5F8A"/>
                </a:solidFill>
                <a:latin typeface="Calibri"/>
              </a:defRPr>
            </a:pPr>
            <a:r>
              <a:t>Cross-Subject Decoding: Per-Subject Results</a:t>
            </a:r>
          </a:p>
        </p:txBody>
      </p:sp>
      <p:pic>
        <p:nvPicPr>
          <p:cNvPr id="3" name="Picture 2" descr="loso_per_subject_top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11612880" cy="3612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5720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0"/>
              </a:spcAft>
              <a:defRPr sz="1400" b="0">
                <a:solidFill>
                  <a:srgbClr val="2C2C2C"/>
                </a:solidFill>
                <a:latin typeface="Calibri"/>
              </a:defRPr>
            </a:pPr>
            <a:r>
              <a:t>Atlas CEN: 16/17 subjects positive. GSR'd CEN: 13/17 positive. PDA: 14/17 positive.</a:t>
            </a:r>
          </a:p>
          <a:p>
            <a:pPr>
              <a:spcAft>
                <a:spcPts val="560"/>
              </a:spcAft>
              <a:defRPr sz="1400" b="0">
                <a:solidFill>
                  <a:srgbClr val="2C2C2C"/>
                </a:solidFill>
                <a:latin typeface="Calibri"/>
              </a:defRPr>
            </a:pPr>
            <a:r>
              <a:t>The cross-subject fingerprint is consistent — not driven by outlier subjects.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C5F8A"/>
                </a:solidFill>
                <a:latin typeface="Calibri"/>
              </a:defRPr>
            </a:pPr>
            <a:r>
              <a:t>Cross-Subject Decoding: Per-Subject Results</a:t>
            </a:r>
          </a:p>
        </p:txBody>
      </p:sp>
      <p:pic>
        <p:nvPicPr>
          <p:cNvPr id="3" name="Picture 2" descr="loso_per_subject_top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11612880" cy="3612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5720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0"/>
              </a:spcAft>
              <a:defRPr sz="1400" b="0">
                <a:solidFill>
                  <a:srgbClr val="2C2C2C"/>
                </a:solidFill>
                <a:latin typeface="Calibri"/>
              </a:defRPr>
            </a:pPr>
            <a:r>
              <a:t>Atlas CEN: 16/17 subjects positive. GSR'd CEN: 13/17 positive. PDA: 14/17 positive.</a:t>
            </a:r>
          </a:p>
          <a:p>
            <a:pPr>
              <a:spcAft>
                <a:spcPts val="560"/>
              </a:spcAft>
              <a:defRPr sz="1400" b="0">
                <a:solidFill>
                  <a:srgbClr val="2C2C2C"/>
                </a:solidFill>
                <a:latin typeface="Calibri"/>
              </a:defRPr>
            </a:pPr>
            <a:r>
              <a:t>The cross-subject fingerprint is consistent — not driven by outlier subjects.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C5F8A"/>
                </a:solidFill>
                <a:latin typeface="Calibri"/>
              </a:defRPr>
            </a:pPr>
            <a:r>
              <a:t>Within-Subject vs Cross-Subject 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GSR'd CEN decoding (per subject):</a:t>
            </a:r>
          </a:p>
          <a:p>
            <a:pPr>
              <a:spcAft>
                <a:spcPts val="600"/>
              </a:spcAft>
              <a:defRPr sz="1500" b="0">
                <a:solidFill>
                  <a:srgbClr val="2C2C2C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Within-subject:  mean r = 0.215</a:t>
            </a:r>
          </a:p>
          <a:p>
            <a:pPr>
              <a:spcAft>
                <a:spcPts val="600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   (train on 3 of own runs, test on 4th)</a:t>
            </a:r>
          </a:p>
          <a:p>
            <a:pPr>
              <a:spcAft>
                <a:spcPts val="600"/>
              </a:spcAft>
              <a:defRPr sz="1500" b="0">
                <a:solidFill>
                  <a:srgbClr val="2C2C2C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Cross-subject:   mean r = 0.115</a:t>
            </a:r>
          </a:p>
          <a:p>
            <a:pPr>
              <a:spcAft>
                <a:spcPts val="600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   (train on 16 others, test on held-out)</a:t>
            </a:r>
          </a:p>
          <a:p>
            <a:pPr>
              <a:spcAft>
                <a:spcPts val="600"/>
              </a:spcAft>
              <a:defRPr sz="1500" b="0">
                <a:solidFill>
                  <a:srgbClr val="2C2C2C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Cross captures ~50% of within signal.</a:t>
            </a:r>
          </a:p>
          <a:p>
            <a:pPr>
              <a:spcAft>
                <a:spcPts val="600"/>
              </a:spcAft>
              <a:defRPr sz="1500" b="0">
                <a:solidFill>
                  <a:srgbClr val="2C2C2C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The gap reflects subject-specific EEG</a:t>
            </a:r>
          </a:p>
          <a:p>
            <a:pPr>
              <a:spcAft>
                <a:spcPts val="600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topography that a group model cannot</a:t>
            </a:r>
          </a:p>
          <a:p>
            <a:pPr>
              <a:spcAft>
                <a:spcPts val="600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adapt to without individual data.</a:t>
            </a:r>
          </a:p>
        </p:txBody>
      </p:sp>
      <p:pic>
        <p:nvPicPr>
          <p:cNvPr id="4" name="Picture 3" descr="within_vs_cross_subj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914400"/>
            <a:ext cx="6400800" cy="3801364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8761D"/>
                </a:solidFill>
                <a:latin typeface="Calibri"/>
              </a:defRPr>
            </a:pPr>
            <a:r>
              <a:t>Pseudo-Target Calibration (No fMRI Needed)</a:t>
            </a:r>
          </a:p>
        </p:txBody>
      </p:sp>
      <p:pic>
        <p:nvPicPr>
          <p:cNvPr id="3" name="Picture 2" descr="pseudo_calibration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05840"/>
            <a:ext cx="11612880" cy="454837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3891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0"/>
              </a:spcAft>
              <a:defRPr sz="1400" b="0">
                <a:solidFill>
                  <a:srgbClr val="2C2C2C"/>
                </a:solidFill>
                <a:latin typeface="Calibri"/>
              </a:defRPr>
            </a:pPr>
            <a:r>
              <a:t>Use the baseline→feedback block transition from 1 feedback run as a pseudo-target.</a:t>
            </a:r>
          </a:p>
          <a:p>
            <a:pPr>
              <a:spcAft>
                <a:spcPts val="560"/>
              </a:spcAft>
              <a:defRPr sz="1400" b="0">
                <a:solidFill>
                  <a:srgbClr val="2C2C2C"/>
                </a:solidFill>
                <a:latin typeface="Calibri"/>
              </a:defRPr>
            </a:pPr>
            <a:r>
              <a:t>No fMRI needed — just the task timing (20 TRs rest, then feedback onset).</a:t>
            </a:r>
          </a:p>
          <a:p>
            <a:pPr>
              <a:spcAft>
                <a:spcPts val="560"/>
              </a:spcAft>
              <a:defRPr sz="1400" b="0">
                <a:solidFill>
                  <a:srgbClr val="2C2C2C"/>
                </a:solidFill>
                <a:latin typeface="Calibri"/>
              </a:defRPr>
            </a:pPr>
          </a:p>
          <a:p>
            <a:pPr>
              <a:spcAft>
                <a:spcPts val="560"/>
              </a:spcAft>
              <a:defRPr sz="1400" b="0">
                <a:solidFill>
                  <a:srgbClr val="2C2C2C"/>
                </a:solidFill>
                <a:latin typeface="Calibri"/>
              </a:defRPr>
            </a:pPr>
            <a:r>
              <a:t>Pseudo-target calibration (r=0.159) matches fMRI calibration (r=0.165)</a:t>
            </a:r>
          </a:p>
          <a:p>
            <a:pPr>
              <a:spcAft>
                <a:spcPts val="560"/>
              </a:spcAft>
              <a:defRPr sz="1400" b="0">
                <a:solidFill>
                  <a:srgbClr val="2C2C2C"/>
                </a:solidFill>
                <a:latin typeface="Calibri"/>
              </a:defRPr>
            </a:pPr>
            <a:r>
              <a:t>and beats the group model alone (r=0.118) by 35%.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Updated Bottom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80"/>
              </a:spcAft>
              <a:defRPr sz="1700" b="0">
                <a:solidFill>
                  <a:srgbClr val="DDDDDD"/>
                </a:solidFill>
                <a:latin typeface="Calibri"/>
              </a:defRPr>
            </a:pPr>
            <a:r>
              <a:t>Within-subject: EEG decodes CEN (r=0.21) and PDA (r=0.15) — signal exists</a:t>
            </a:r>
          </a:p>
          <a:p>
            <a:pPr algn="ctr">
              <a:spcAft>
                <a:spcPts val="680"/>
              </a:spcAft>
              <a:defRPr sz="1700" b="0">
                <a:solidFill>
                  <a:srgbClr val="DDDDDD"/>
                </a:solidFill>
                <a:latin typeface="Calibri"/>
              </a:defRPr>
            </a:pPr>
          </a:p>
          <a:p>
            <a:pPr algn="ctr">
              <a:spcAft>
                <a:spcPts val="680"/>
              </a:spcAft>
              <a:defRPr sz="1700" b="0">
                <a:solidFill>
                  <a:srgbClr val="DDDDDD"/>
                </a:solidFill>
                <a:latin typeface="Calibri"/>
              </a:defRPr>
            </a:pPr>
            <a:r>
              <a:t>Cross-subject: a general EEG fingerprint for CEN works without fMRI calibration</a:t>
            </a:r>
          </a:p>
          <a:p>
            <a:pPr algn="ctr">
              <a:spcAft>
                <a:spcPts val="680"/>
              </a:spcAft>
              <a:defRPr sz="1700" b="0">
                <a:solidFill>
                  <a:srgbClr val="DDDDDD"/>
                </a:solidFill>
                <a:latin typeface="Calibri"/>
              </a:defRPr>
            </a:pPr>
            <a:r>
              <a:t>   Atlas CEN:  r = 0.12,  p = 0.0002  (16/17 subjects positive)</a:t>
            </a:r>
          </a:p>
          <a:p>
            <a:pPr algn="ctr">
              <a:spcAft>
                <a:spcPts val="680"/>
              </a:spcAft>
              <a:defRPr sz="1700" b="0">
                <a:solidFill>
                  <a:srgbClr val="DDDDDD"/>
                </a:solidFill>
                <a:latin typeface="Calibri"/>
              </a:defRPr>
            </a:pPr>
            <a:r>
              <a:t>   GSR'd CEN:  r = 0.11,  p = 0.003   (13/17 subjects positive)</a:t>
            </a:r>
          </a:p>
          <a:p>
            <a:pPr algn="ctr">
              <a:spcAft>
                <a:spcPts val="680"/>
              </a:spcAft>
              <a:defRPr sz="1700" b="0">
                <a:solidFill>
                  <a:srgbClr val="DDDDDD"/>
                </a:solidFill>
                <a:latin typeface="Calibri"/>
              </a:defRPr>
            </a:pPr>
          </a:p>
          <a:p>
            <a:pPr algn="ctr">
              <a:spcAft>
                <a:spcPts val="680"/>
              </a:spcAft>
              <a:defRPr sz="1700" b="0">
                <a:solidFill>
                  <a:srgbClr val="DDDDDD"/>
                </a:solidFill>
                <a:latin typeface="Calibri"/>
              </a:defRPr>
            </a:pPr>
            <a:r>
              <a:t>Pseudo-target calibration (1 feedback run, no fMRI) boosts r from 0.12 to 0.16</a:t>
            </a:r>
          </a:p>
          <a:p>
            <a:pPr algn="ctr">
              <a:spcAft>
                <a:spcPts val="680"/>
              </a:spcAft>
              <a:defRPr sz="1700" b="0">
                <a:solidFill>
                  <a:srgbClr val="DDDDDD"/>
                </a:solidFill>
                <a:latin typeface="Calibri"/>
              </a:defRPr>
            </a:pPr>
            <a:r>
              <a:t>— matches fMRI calibration performance using only task timing</a:t>
            </a:r>
          </a:p>
          <a:p>
            <a:pPr algn="ctr">
              <a:spcAft>
                <a:spcPts val="680"/>
              </a:spcAft>
              <a:defRPr sz="1700" b="0">
                <a:solidFill>
                  <a:srgbClr val="DDDDDD"/>
                </a:solidFill>
                <a:latin typeface="Calibri"/>
              </a:defRPr>
            </a:pPr>
          </a:p>
          <a:p>
            <a:pPr algn="ctr">
              <a:spcAft>
                <a:spcPts val="680"/>
              </a:spcAft>
              <a:defRPr sz="1700" b="0">
                <a:solidFill>
                  <a:srgbClr val="DDDDDD"/>
                </a:solidFill>
                <a:latin typeface="Calibri"/>
              </a:defRPr>
            </a:pPr>
            <a:r>
              <a:t>The general fingerprint captures ~50% of the within-subject signal</a:t>
            </a:r>
          </a:p>
          <a:p>
            <a:pPr algn="ctr">
              <a:spcAft>
                <a:spcPts val="680"/>
              </a:spcAft>
              <a:defRPr sz="1700" b="0">
                <a:solidFill>
                  <a:srgbClr val="DDDDDD"/>
                </a:solidFill>
                <a:latin typeface="Calibri"/>
              </a:defRPr>
            </a:pPr>
            <a:r>
              <a:t>The remaining gap is due to individual EEG topography</a:t>
            </a:r>
          </a:p>
          <a:p>
            <a:pPr algn="ctr">
              <a:spcAft>
                <a:spcPts val="680"/>
              </a:spcAft>
              <a:defRPr sz="1700" b="0">
                <a:solidFill>
                  <a:srgbClr val="DDDDDD"/>
                </a:solidFill>
                <a:latin typeface="Calibri"/>
              </a:defRPr>
            </a:pPr>
          </a:p>
          <a:p>
            <a:pPr algn="ctr">
              <a:spcAft>
                <a:spcPts val="680"/>
              </a:spcAft>
              <a:defRPr sz="1700" b="0">
                <a:solidFill>
                  <a:srgbClr val="DDDDDD"/>
                </a:solidFill>
                <a:latin typeface="Calibri"/>
              </a:defRPr>
            </a:pPr>
            <a:r>
              <a:t>F4 alpha (right-frontal) remains the most consistent feature across subjects</a:t>
            </a:r>
          </a:p>
          <a:p>
            <a:pPr algn="ctr">
              <a:spcAft>
                <a:spcPts val="680"/>
              </a:spcAft>
              <a:defRPr sz="1700" b="0">
                <a:solidFill>
                  <a:srgbClr val="DDDDDD"/>
                </a:solidFill>
                <a:latin typeface="Calibri"/>
              </a:defRPr>
            </a:pPr>
          </a:p>
          <a:p>
            <a:pPr algn="ctr">
              <a:spcAft>
                <a:spcPts val="680"/>
              </a:spcAft>
              <a:defRPr sz="1700" b="0">
                <a:solidFill>
                  <a:srgbClr val="DDDDDD"/>
                </a:solidFill>
                <a:latin typeface="Calibri"/>
              </a:defRPr>
            </a:pPr>
            <a:r>
              <a:t>Deploy: group Ridge + 1-run pseudo-target calibration for EEG-only CEN NF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C5F8A"/>
                </a:solidFill>
                <a:latin typeface="Calibri"/>
              </a:defRPr>
            </a:pPr>
            <a:r>
              <a:t>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40"/>
              </a:spcAft>
              <a:defRPr sz="1600" b="0">
                <a:solidFill>
                  <a:srgbClr val="2C2C2C"/>
                </a:solidFill>
                <a:latin typeface="Calibri"/>
              </a:defRPr>
            </a:pPr>
            <a:r>
              <a:t>Close the within/cross gap:</a:t>
            </a:r>
          </a:p>
          <a:p>
            <a:pPr>
              <a:spcAft>
                <a:spcPts val="640"/>
              </a:spcAft>
              <a:defRPr sz="1600" b="0">
                <a:solidFill>
                  <a:srgbClr val="2C2C2C"/>
                </a:solidFill>
                <a:latin typeface="Calibri"/>
              </a:defRPr>
            </a:pPr>
            <a:r>
              <a:t>   Source-space features (beamformer) to remove sensor-level topography variability</a:t>
            </a:r>
          </a:p>
          <a:p>
            <a:pPr>
              <a:spcAft>
                <a:spcPts val="640"/>
              </a:spcAft>
              <a:defRPr sz="1600" b="0">
                <a:solidFill>
                  <a:srgbClr val="2C2C2C"/>
                </a:solidFill>
                <a:latin typeface="Calibri"/>
              </a:defRPr>
            </a:pPr>
            <a:r>
              <a:t>   Domain adaptation / Riemannian alignment across subjects</a:t>
            </a:r>
          </a:p>
          <a:p>
            <a:pPr>
              <a:spcAft>
                <a:spcPts val="640"/>
              </a:spcAft>
              <a:defRPr sz="1600" b="0">
                <a:solidFill>
                  <a:srgbClr val="2C2C2C"/>
                </a:solidFill>
                <a:latin typeface="Calibri"/>
              </a:defRPr>
            </a:pPr>
          </a:p>
          <a:p>
            <a:pPr>
              <a:spcAft>
                <a:spcPts val="640"/>
              </a:spcAft>
              <a:defRPr sz="1600" b="0">
                <a:solidFill>
                  <a:srgbClr val="2C2C2C"/>
                </a:solidFill>
                <a:latin typeface="Calibri"/>
              </a:defRPr>
            </a:pPr>
            <a:r>
              <a:t>Improve the general fingerprint:</a:t>
            </a:r>
          </a:p>
          <a:p>
            <a:pPr>
              <a:spcAft>
                <a:spcPts val="640"/>
              </a:spcAft>
              <a:defRPr sz="1600" b="0">
                <a:solidFill>
                  <a:srgbClr val="2C2C2C"/>
                </a:solidFill>
                <a:latin typeface="Calibri"/>
              </a:defRPr>
            </a:pPr>
            <a:r>
              <a:t>   Add more subjects (current n=17, target n=30+)</a:t>
            </a:r>
          </a:p>
          <a:p>
            <a:pPr>
              <a:spcAft>
                <a:spcPts val="640"/>
              </a:spcAft>
              <a:defRPr sz="1600" b="0">
                <a:solidFill>
                  <a:srgbClr val="2C2C2C"/>
                </a:solidFill>
                <a:latin typeface="Calibri"/>
              </a:defRPr>
            </a:pPr>
            <a:r>
              <a:t>   Test connectivity features (phase-locking, coherence) alongside power</a:t>
            </a:r>
          </a:p>
          <a:p>
            <a:pPr>
              <a:spcAft>
                <a:spcPts val="640"/>
              </a:spcAft>
              <a:defRPr sz="1600" b="0">
                <a:solidFill>
                  <a:srgbClr val="2C2C2C"/>
                </a:solidFill>
                <a:latin typeface="Calibri"/>
              </a:defRPr>
            </a:pPr>
            <a:r>
              <a:t>   Microstate dynamics as complementary features</a:t>
            </a:r>
          </a:p>
          <a:p>
            <a:pPr>
              <a:spcAft>
                <a:spcPts val="640"/>
              </a:spcAft>
              <a:defRPr sz="1600" b="0">
                <a:solidFill>
                  <a:srgbClr val="2C2C2C"/>
                </a:solidFill>
                <a:latin typeface="Calibri"/>
              </a:defRPr>
            </a:pPr>
          </a:p>
          <a:p>
            <a:pPr>
              <a:spcAft>
                <a:spcPts val="640"/>
              </a:spcAft>
              <a:defRPr sz="1600" b="0">
                <a:solidFill>
                  <a:srgbClr val="2C2C2C"/>
                </a:solidFill>
                <a:latin typeface="Calibri"/>
              </a:defRPr>
            </a:pPr>
            <a:r>
              <a:t>Real-time deployment:</a:t>
            </a:r>
          </a:p>
          <a:p>
            <a:pPr>
              <a:spcAft>
                <a:spcPts val="640"/>
              </a:spcAft>
              <a:defRPr sz="1600" b="0">
                <a:solidFill>
                  <a:srgbClr val="2C2C2C"/>
                </a:solidFill>
                <a:latin typeface="Calibri"/>
              </a:defRPr>
            </a:pPr>
            <a:r>
              <a:t>   Implement group Ridge model in MURFI for EEG-only CEN feedback</a:t>
            </a:r>
          </a:p>
          <a:p>
            <a:pPr>
              <a:spcAft>
                <a:spcPts val="640"/>
              </a:spcAft>
              <a:defRPr sz="1600" b="0">
                <a:solidFill>
                  <a:srgbClr val="2C2C2C"/>
                </a:solidFill>
                <a:latin typeface="Calibri"/>
              </a:defRPr>
            </a:pPr>
            <a:r>
              <a:t>   Compare EEG-only NF outcomes vs EEG-fMRI NF outcomes</a:t>
            </a:r>
          </a:p>
          <a:p>
            <a:pPr>
              <a:spcAft>
                <a:spcPts val="640"/>
              </a:spcAft>
              <a:defRPr sz="1600" b="0">
                <a:solidFill>
                  <a:srgbClr val="2C2C2C"/>
                </a:solidFill>
                <a:latin typeface="Calibri"/>
              </a:defRPr>
            </a:pPr>
          </a:p>
          <a:p>
            <a:pPr>
              <a:spcAft>
                <a:spcPts val="640"/>
              </a:spcAft>
              <a:defRPr sz="1600" b="0">
                <a:solidFill>
                  <a:srgbClr val="2C2C2C"/>
                </a:solidFill>
                <a:latin typeface="Calibri"/>
              </a:defRPr>
            </a:pPr>
            <a:r>
              <a:t>Task-based calibration (if fMRI available):</a:t>
            </a:r>
          </a:p>
          <a:p>
            <a:pPr>
              <a:spcAft>
                <a:spcPts val="640"/>
              </a:spcAft>
              <a:defRPr sz="1600" b="0">
                <a:solidFill>
                  <a:srgbClr val="2C2C2C"/>
                </a:solidFill>
                <a:latin typeface="Calibri"/>
              </a:defRPr>
            </a:pPr>
            <a:r>
              <a:t>   Use 1 feedback run with fMRI to calibrate (not rest — rest hurts)</a:t>
            </a:r>
          </a:p>
          <a:p>
            <a:pPr>
              <a:spcAft>
                <a:spcPts val="640"/>
              </a:spcAft>
              <a:defRPr sz="1600" b="0">
                <a:solidFill>
                  <a:srgbClr val="2C2C2C"/>
                </a:solidFill>
                <a:latin typeface="Calibri"/>
              </a:defRPr>
            </a:pPr>
            <a:r>
              <a:t>   Then switch to EEG-only for remaining runs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C5F8A"/>
                </a:solidFill>
                <a:latin typeface="Calibri"/>
              </a:defRPr>
            </a:pPr>
            <a:r>
              <a:t>Cross-Subject Prediction + Pseudo-Calibration (3 Subjects)</a:t>
            </a:r>
          </a:p>
        </p:txBody>
      </p:sp>
      <p:pic>
        <p:nvPicPr>
          <p:cNvPr id="3" name="Picture 2" descr="cross_subject_predicted_3sub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400"/>
            <a:ext cx="11795760" cy="699881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7893ce20-a697-4fd6-a4da-14011f6a471d}" enabled="1" method="Standard" siteId="{a8eec281-aaa3-4dae-ac9b-9a398b9215e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603</TotalTime>
  <Words>1224</Words>
  <Application>Microsoft Macintosh PowerPoint</Application>
  <PresentationFormat>Widescreen</PresentationFormat>
  <Paragraphs>175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Bauer Hoss, Clemens</cp:lastModifiedBy>
  <cp:revision>4</cp:revision>
  <dcterms:created xsi:type="dcterms:W3CDTF">2013-01-27T09:14:16Z</dcterms:created>
  <dcterms:modified xsi:type="dcterms:W3CDTF">2026-06-26T23:42:06Z</dcterms:modified>
  <cp:category/>
</cp:coreProperties>
</file>