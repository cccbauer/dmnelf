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6" r:id="rId19"/>
    <p:sldId id="273" r:id="rId20"/>
    <p:sldId id="277" r:id="rId22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0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Multivariate EEG Band Power → fMRI Network Decoding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ACCFF"/>
                </a:solidFill>
                <a:latin typeface="Calibri"/>
              </a:defRPr>
            </a:pPr>
            <a:r>
              <a:t>Decoding DMN and CEN from simultaneous EEG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19"/>
              </a:spcAft>
              <a:defRPr sz="1800" b="0">
                <a:solidFill>
                  <a:srgbClr val="888888"/>
                </a:solidFill>
                <a:latin typeface="Calibri"/>
              </a:defRPr>
            </a:pPr>
            <a:r>
              <a:t>17 subjects  •  simultaneous EEG-fMRI  •  neurofeedback task</a:t>
            </a:r>
          </a:p>
          <a:p>
            <a:pPr algn="ctr">
              <a:spcAft>
                <a:spcPts val="719"/>
              </a:spcAft>
              <a:defRPr sz="1800" b="0">
                <a:solidFill>
                  <a:srgbClr val="888888"/>
                </a:solidFill>
                <a:latin typeface="Calibri"/>
              </a:defRPr>
            </a:pPr>
            <a:r>
              <a:t>DMNELF Project  •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Decode fMRI network activity (DMN, CEN) from simultaneous EEG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Why? So EEG alone can drive real-time neurofeedback without the MRI scanner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Data: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17 subjects, simultaneous EEG-fMRI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4 runs × 125 TRs (TR = 1.2s), neurofeedback task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31 EEG channels (10-20), preprocessed at 500 Hz</a:t>
            </a:r>
          </a:p>
          <a:p>
            <a:pPr>
              <a:spcAft>
                <a:spcPts val="719"/>
              </a:spcAft>
              <a:defRPr sz="1800" b="0">
                <a:solidFill>
                  <a:srgbClr val="2C2C2C"/>
                </a:solidFill>
                <a:latin typeface="Calibri"/>
              </a:defRPr>
            </a:pPr>
            <a:r>
              <a:t>•  fMRI: personalized DMN and CEN ROI timeseries</a:t>
            </a:r>
          </a:p>
        </p:txBody>
      </p:sp>
      <p:pic>
        <p:nvPicPr>
          <p:cNvPr id="4" name="Picture 3" descr="methods_r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914400"/>
            <a:ext cx="4389120" cy="26667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Methods Overview</a:t>
            </a:r>
          </a:p>
        </p:txBody>
      </p:sp>
      <p:pic>
        <p:nvPicPr>
          <p:cNvPr id="3" name="Picture 2" descr="methods_r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242" y="812565"/>
            <a:ext cx="9498419" cy="57711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1 — EEG Feature Extraction: Hilbert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For each TR (1.2s), compute power in 5 bands per channel: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 δ (1–4)  θ (4–8)  α (8–13)  β (13–30)  γ (30–40 Hz)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1. Bandpass filter → isolate each band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2. Hilbert transform → analytic signal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3. |analytic| = instantaneous amplitude envelope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4. Average per TR → log transform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Result: 31 channels × 5 bands = 155 features / TR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Why Hilbert over FFT?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Preserves temporal dynamics at the TR timescale</a:t>
            </a:r>
          </a:p>
        </p:txBody>
      </p:sp>
      <p:pic>
        <p:nvPicPr>
          <p:cNvPr id="4" name="Picture 3" descr="hilbert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97280"/>
            <a:ext cx="6217920" cy="25566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2 — HRF Convolution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EEG is instantaneous, BOLD is delayed ~6s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Convolve EEG band power with the canonical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hemodynamic response function (HRF):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•  Double-gamma model, 32s duration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•  Peak at ~6s (main response)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•  Undershoot at ~16s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This temporally aligns EEG features with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the fMRI signal they should predict</a:t>
            </a:r>
          </a:p>
        </p:txBody>
      </p:sp>
      <p:pic>
        <p:nvPicPr>
          <p:cNvPr id="4" name="Picture 3" descr="hrf_stand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760720" cy="28439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3 — Common Average Re-referencing (CAR)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At each TR, subtract the spatial mean across 31 channels within each band</a:t>
            </a:r>
          </a:p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Removes the global broadband EEG component (= arousal) from the predictor side (X)</a:t>
            </a:r>
          </a:p>
        </p:txBody>
      </p:sp>
      <p:pic>
        <p:nvPicPr>
          <p:cNvPr id="4" name="Picture 3" descr="car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11612880" cy="30091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4 — fMRI Targets &amp; Global Signal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Four targets (z-scored per run):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RAW DMN — includes arousal (sanity check)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GSR'd DMN — arousal removed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GSR'd CEN — arousal removed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PDA (CEN − DMN) — intrinsically arousal-free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GSR removes arousal from the target side (y):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DMN(t) = β₀ + β₁ × global_signal(t) + residual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Keep only the residual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DMN loads on global signal at r ≈ 0.70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→ ~50% of DMN variance is just arousal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CAR (EEG) + GSR (fMRI) = arousal removed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from both sides of the equation</a:t>
            </a:r>
          </a:p>
        </p:txBody>
      </p:sp>
      <p:pic>
        <p:nvPicPr>
          <p:cNvPr id="4" name="Picture 3" descr="gsr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097280"/>
            <a:ext cx="6126480" cy="30343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5 — Ridge vs ElasticNet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Both: linear regression + regularization penalty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(prevents overfitting with 155 correlated features)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Ridge (L2): penalty = Σ weight²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Shrinks all weights toward zero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Never sets any to exactly zero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"Use everything, trust nothing too much"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ElasticNet (L1 + L2): penalty = mix of |weight| + weight²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L1 can push weights to exactly zero → feature selection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L2 handles correlated features gracefully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Sparser, more interpretable model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ElasticNet won: zeroed only 6% of features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→ confirms the signal is genuinely distributed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but pruning noise improved generalization</a:t>
            </a:r>
          </a:p>
        </p:txBody>
      </p:sp>
      <p:pic>
        <p:nvPicPr>
          <p:cNvPr id="4" name="Picture 3" descr="ridge_vs_enet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943600" cy="24681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5 — Cross-Validation Schemes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No shuffle — contiguous blocks preserve temporal autocorrelation (shuffled KFold gives spurious r = 0.5–0.75)</a:t>
            </a:r>
          </a:p>
        </p:txBody>
      </p:sp>
      <p:pic>
        <p:nvPicPr>
          <p:cNvPr id="4" name="Picture 3" descr="cv_sc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0"/>
            <a:ext cx="11612880" cy="39435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Step 6 — Statistical Testing (Permutation Nulls)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No parametric assumptions — pure permutation tests: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Per-subject: circular-shift null (10K)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Shift fMRI target by random lag within each run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Preserves autocorrelation structure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Refit model → null r distribution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p = fraction of null r ≥ observed r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Group: sign-flip null (10K)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Randomly flip sign of each subject's mean r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Compute null group mean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Tests cohort-level effect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Both are non-parametric, FWER-controlled</a:t>
            </a:r>
          </a:p>
        </p:txBody>
      </p:sp>
      <p:pic>
        <p:nvPicPr>
          <p:cNvPr id="4" name="Picture 3" descr="permutatio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943600" cy="26394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990000"/>
                </a:solidFill>
                <a:latin typeface="Calibri"/>
              </a:defRPr>
            </a:pPr>
            <a:r>
              <a:t>Step A — Univariate Screen: It's All Arousal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Raw EEG band power couples to DMN at r ≈ 0.30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→ pipeline is sound (alignment, HRF, artifacts OK)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BUT: coupling is 100% arousal/vigilance: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Uniform across ALL channels and bands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Tracks fMRI global signal at r ≈ 0.45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Collapses to r = 0 after partialling global signal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•  = aperiodic 1/f broadband shift, not oscillatory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After CAR or GSR: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nothing survives group correction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→ Dead end for univariate (single channel) decoding</a:t>
            </a:r>
          </a:p>
          <a:p>
            <a:pPr>
              <a:spcAft>
                <a:spcPts val="639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→ Need multivariate approach (Step B)</a:t>
            </a:r>
          </a:p>
        </p:txBody>
      </p:sp>
      <p:pic>
        <p:nvPicPr>
          <p:cNvPr id="4" name="Picture 3" descr="coupling_group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486400" cy="2400300"/>
          </a:xfrm>
          <a:prstGeom prst="rect">
            <a:avLst/>
          </a:prstGeom>
        </p:spPr>
      </p:pic>
      <p:pic>
        <p:nvPicPr>
          <p:cNvPr id="5" name="Picture 4" descr="identify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657600"/>
            <a:ext cx="54864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761D"/>
                </a:solidFill>
                <a:latin typeface="Calibri"/>
              </a:defRPr>
            </a:pPr>
            <a:r>
              <a:t>Step B — Multivariate Decoder: POSITIVE RESULT</a:t>
            </a:r>
          </a:p>
        </p:txBody>
      </p:sp>
      <p:pic>
        <p:nvPicPr>
          <p:cNvPr id="3" name="Picture 2" descr="group_bar_ridge_vs_e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45322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Per-Subject Decoding Performance</a:t>
            </a:r>
          </a:p>
        </p:txBody>
      </p:sp>
      <p:pic>
        <p:nvPicPr>
          <p:cNvPr id="3" name="Picture 2" descr="subject_heatmap_e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31219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Cross-Run Generalization (5-fold vs LORO)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79"/>
              </a:spcAft>
              <a:defRPr sz="1700" b="0">
                <a:solidFill>
                  <a:srgbClr val="2C2C2C"/>
                </a:solidFill>
                <a:latin typeface="Calibri"/>
              </a:defRPr>
            </a:pPr>
            <a:r>
              <a:t>Signal holds across runs — not just within-run autocorrelation leakage</a:t>
            </a:r>
          </a:p>
        </p:txBody>
      </p:sp>
      <p:pic>
        <p:nvPicPr>
          <p:cNvPr id="4" name="Picture 3" descr="5fold_vs_loro_pa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11612880" cy="29046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ElasticNet Weight Topography — GSR'd CEN</a:t>
            </a:r>
          </a:p>
        </p:txBody>
      </p:sp>
      <p:pic>
        <p:nvPicPr>
          <p:cNvPr id="3" name="Picture 2" descr="topomap_enet_GSR_CEN_5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701" y="914400"/>
            <a:ext cx="9888279" cy="57293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Top Features: What Drives the Decoder?</a:t>
            </a:r>
          </a:p>
        </p:txBody>
      </p:sp>
      <p:pic>
        <p:nvPicPr>
          <p:cNvPr id="3" name="Picture 2" descr="feature_importance_GSR_C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760720" cy="2867516"/>
          </a:xfrm>
          <a:prstGeom prst="rect">
            <a:avLst/>
          </a:prstGeom>
        </p:spPr>
      </p:pic>
      <p:pic>
        <p:nvPicPr>
          <p:cNvPr id="4" name="Picture 3" descr="feature_importance_P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914400"/>
            <a:ext cx="5760720" cy="28663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rPr dirty="0"/>
              <a:t>EEG-Predicted vs True fMRI (</a:t>
            </a:r>
            <a:r>
              <a:rPr lang="en-US" dirty="0"/>
              <a:t>Best &amp; </a:t>
            </a:r>
            <a:r>
              <a:rPr dirty="0"/>
              <a:t>Worst Subject)</a:t>
            </a:r>
          </a:p>
        </p:txBody>
      </p:sp>
      <p:pic>
        <p:nvPicPr>
          <p:cNvPr id="3" name="Picture 2" descr="predicted_timeseries_best_wo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09867"/>
            <a:ext cx="10813312" cy="370440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90B69-DBDA-8547-A71F-7073C806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9F9757-643D-81FE-E2CD-07710B7F717D}"/>
              </a:ext>
            </a:extLst>
          </p:cNvPr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rPr dirty="0"/>
              <a:t>EEG-Predicted vs True fMRI (Best </a:t>
            </a:r>
            <a:r>
              <a:rPr lang="en-US" dirty="0"/>
              <a:t>&amp; Worst </a:t>
            </a:r>
            <a:r>
              <a:rPr dirty="0"/>
              <a:t>Subject)</a:t>
            </a:r>
          </a:p>
        </p:txBody>
      </p:sp>
      <p:pic>
        <p:nvPicPr>
          <p:cNvPr id="4" name="Picture 3" descr="loro_timeseries_best_worst.png">
            <a:extLst>
              <a:ext uri="{FF2B5EF4-FFF2-40B4-BE49-F238E27FC236}">
                <a16:creationId xmlns:a16="http://schemas.microsoft.com/office/drawing/2014/main" id="{4C35C89F-EE4B-FF08-6925-B9E24543D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522583"/>
            <a:ext cx="11612880" cy="398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539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ElasticNet Weight Matrix (Group Mean, GSR'd CEN)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Key findings: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F4 alpha is the single most reliable feature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(right-frontal alpha → CEN, 13/17 agree)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Consistent with frontal alpha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asymmetry literature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Signal is distributed and broadband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— no single band or region dominates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Only 6% of weights zeroed out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→ truly distributed, not sparse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•  Good cross-subject consistency</a:t>
            </a:r>
          </a:p>
          <a:p>
            <a:pPr>
              <a:spcAft>
                <a:spcPts val="599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(10–14/17 subjects agree on sign)</a:t>
            </a:r>
          </a:p>
        </p:txBody>
      </p:sp>
      <p:pic>
        <p:nvPicPr>
          <p:cNvPr id="4" name="Picture 3" descr="topomap_enet_PDA_5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18" y="1227623"/>
            <a:ext cx="7598735" cy="44027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Validation: New Subject dmnelf016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Within-subject decoding (ElasticNet, same pipeline):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5-fold contiguous CV: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CEN:  r = +0.240   p = 0.033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RAW DMN:     r = +0.220   p = 0.046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PDA:            r = +0.157   p = 0.124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DMN:  r = −0.056   p = 0.784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LORO (cross-run):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PDA:            r = +0.219   p = 0.024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RAW DMN:     r = +0.197   p = 0.034 *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CEN:  r = +0.156   p = 0.088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   GSR'd DMN:  r = −0.151   p = 0.926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Signal exists in 016 at group-level performance.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CEN decodable, DMN not — subject-specific pattern.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502920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MURFI real-time PDA vs offline PDA (fMRIPrep):</a:t>
            </a:r>
          </a:p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r = 0.12–0.36 per run — feedback was ~30% true signal</a:t>
            </a:r>
          </a:p>
          <a:p>
            <a:pPr>
              <a:spcAft>
                <a:spcPts val="48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t>Gap = motion confounds not regressed in real-time</a:t>
            </a:r>
          </a:p>
        </p:txBody>
      </p:sp>
      <p:pic>
        <p:nvPicPr>
          <p:cNvPr id="6" name="Picture 5" descr="dmnelf016_predicted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914400"/>
            <a:ext cx="6583680" cy="407774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Cross-Subject EEG Fingerprint (LOSO, n=17)</a:t>
            </a:r>
          </a:p>
        </p:txBody>
      </p:sp>
      <p:pic>
        <p:nvPicPr>
          <p:cNvPr id="3" name="Picture 2" descr="loso_fingerprin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329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Atlas CEN (r=0.12, p=0.0002) and GSR'd CEN (r=0.11, p=0.003) are decodable cross-subject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with EEG only — no fMRI calibration needed. DMN is never decodable cross-subject.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Cross-Subject Decoding: Per-Subject Results</a:t>
            </a:r>
          </a:p>
        </p:txBody>
      </p:sp>
      <p:pic>
        <p:nvPicPr>
          <p:cNvPr id="3" name="Picture 2" descr="loso_per_subject_to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612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Atlas CEN: 16/17 subjects positive. GSR'd CEN: 13/17 positive. PDA: 14/17 positive.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The cross-subject fingerprint is consistent — not driven by outlier subjects.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Within-Subject vs Cross-Subject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GSR'd CEN decoding (per subject):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Within-subject:  mean r = 0.215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(train on 3 of own runs, test on 4th)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Cross-subject:   mean r = 0.115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   (train on 16 others, test on held-out)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Cross captures ~50% of within signal.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The gap reflects subject-specific EEG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topography that a group model cannot</a:t>
            </a:r>
          </a:p>
          <a:p>
            <a:pPr>
              <a:spcAft>
                <a:spcPts val="600"/>
              </a:spcAft>
              <a:defRPr sz="1500" b="0">
                <a:solidFill>
                  <a:srgbClr val="2C2C2C"/>
                </a:solidFill>
                <a:latin typeface="Calibri"/>
              </a:defRPr>
            </a:pPr>
            <a:r>
              <a:t>adapt to without individual data.</a:t>
            </a:r>
          </a:p>
        </p:txBody>
      </p:sp>
      <p:pic>
        <p:nvPicPr>
          <p:cNvPr id="4" name="Picture 3" descr="within_vs_cross_su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914400"/>
            <a:ext cx="6400800" cy="38013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761D"/>
                </a:solidFill>
                <a:latin typeface="Calibri"/>
              </a:defRPr>
            </a:pPr>
            <a:r>
              <a:t>Pseudo-Target Calibration (No fMRI Needed)</a:t>
            </a:r>
          </a:p>
        </p:txBody>
      </p:sp>
      <p:pic>
        <p:nvPicPr>
          <p:cNvPr id="3" name="Picture 2" descr="pseudo_calibratio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11612880" cy="45483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Use the baseline→feedback block transition from 1 feedback run as a pseudo-target.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No fMRI needed — just the task timing (20 TRs rest, then feedback onset).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Pseudo-target calibration (r=0.159) matches fMRI calibration (r=0.165)</a:t>
            </a:r>
          </a:p>
          <a:p>
            <a:pPr>
              <a:spcAft>
                <a:spcPts val="560"/>
              </a:spcAft>
              <a:defRPr sz="1400" b="0">
                <a:solidFill>
                  <a:srgbClr val="2C2C2C"/>
                </a:solidFill>
                <a:latin typeface="Calibri"/>
              </a:defRPr>
            </a:pPr>
            <a:r>
              <a:t>and beats the group model alone (r=0.118) by 35%.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Updated 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Within-subject: EEG decodes CEN (r=0.21) and PDA (r=0.15) — signal exists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Cross-subject: a general EEG fingerprint for CEN works without fMRI calibration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   Atlas CEN:  r = 0.12,  p = 0.0002  (16/17 subjects positive)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   GSR'd CEN:  r = 0.11,  p = 0.003   (13/17 subjects positive)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Pseudo-target calibration (1 feedback run, no fMRI) boosts r from 0.12 to 0.16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— matches fMRI calibration performance using only task timing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The general fingerprint captures ~50% of the within-subject signal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The remaining gap is due to individual EEG topography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F4 alpha (right-frontal) remains the most consistent feature across subjects</a:t>
            </a: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</a:p>
          <a:p>
            <a:pPr algn="ctr">
              <a:spcAft>
                <a:spcPts val="680"/>
              </a:spcAft>
              <a:defRPr sz="1700" b="0">
                <a:solidFill>
                  <a:srgbClr val="DDDDDD"/>
                </a:solidFill>
                <a:latin typeface="Calibri"/>
              </a:defRPr>
            </a:pPr>
            <a:r>
              <a:t>Deploy: group Ridge + 1-run pseudo-target calibration for EEG-only CEN NF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C5F8A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Close the within/cross gap: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Source-space features (beamformer) to remove sensor-level topography variability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Domain adaptation / Riemannian alignment across subjects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Improve the general fingerprint: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Add more subjects (current n=17, target n=30+)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Test connectivity features (phase-locking, coherence) alongside power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Microstate dynamics as complementary features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Real-time deployment: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Implement group Ridge model in MURFI for EEG-only CEN feedback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Compare EEG-only NF outcomes vs EEG-fMRI NF outcomes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Task-based calibration (if fMRI available):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Use 1 feedback run with fMRI to calibrate (not rest — rest hurts)</a:t>
            </a:r>
          </a:p>
          <a:p>
            <a:pPr>
              <a:spcAft>
                <a:spcPts val="640"/>
              </a:spcAft>
              <a:defRPr sz="1600" b="0">
                <a:solidFill>
                  <a:srgbClr val="2C2C2C"/>
                </a:solidFill>
                <a:latin typeface="Calibri"/>
              </a:defRPr>
            </a:pPr>
            <a:r>
              <a:t>   Then switch to EEG-only for remaining runs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C5F8A"/>
                </a:solidFill>
                <a:latin typeface="Calibri"/>
              </a:defRPr>
            </a:pPr>
            <a:r>
              <a:t>Cross-Subject Prediction + Pseudo-Calibration (3 Subjects)</a:t>
            </a:r>
          </a:p>
        </p:txBody>
      </p:sp>
      <p:pic>
        <p:nvPicPr>
          <p:cNvPr id="3" name="Picture 2" descr="cross_subject_predicted_3su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11795760" cy="699881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5F8A"/>
                </a:solidFill>
                <a:latin typeface="Calibri"/>
              </a:defRPr>
            </a:pPr>
            <a:r>
              <a:t>Ridge vs ElasticNet: Cross-Subject &amp; Calibration</a:t>
            </a:r>
          </a:p>
        </p:txBody>
      </p:sp>
      <p:pic>
        <p:nvPicPr>
          <p:cNvPr id="3" name="Picture 2" descr="ridge_vs_elasticnet_cross_su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5315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72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ElasticNet (α=0.1) slightly edges Ridge for the group model (+0.114 vs +0.102),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but ties Ridge (α=100) for calibration (both r=0.155). Practically interchangeable.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ElasticNet's within-subject advantage does not transfer cross-subject —</a:t>
            </a:r>
          </a:p>
          <a:p>
            <a:pPr>
              <a:spcAft>
                <a:spcPts val="560"/>
              </a:spcAft>
              <a:defRPr sz="1400">
                <a:solidFill>
                  <a:srgbClr val="2C2C2C"/>
                </a:solidFill>
                <a:latin typeface="Calibri"/>
              </a:defRPr>
            </a:pPr>
            <a:r>
              <a:t>sparse feature selection is subject-specific.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603</TotalTime>
  <Words>1224</Words>
  <Application>Microsoft Macintosh PowerPoint</Application>
  <PresentationFormat>Widescreen</PresentationFormat>
  <Paragraphs>175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Bauer Hoss, Clemens</cp:lastModifiedBy>
  <cp:revision>4</cp:revision>
  <dcterms:created xsi:type="dcterms:W3CDTF">2013-01-27T09:14:16Z</dcterms:created>
  <dcterms:modified xsi:type="dcterms:W3CDTF">2026-06-26T23:42:06Z</dcterms:modified>
  <cp:category/>
</cp:coreProperties>
</file>