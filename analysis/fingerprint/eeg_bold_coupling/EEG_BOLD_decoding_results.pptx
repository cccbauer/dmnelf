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Multivariate EEG Band Power → fMRI Network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CCFF"/>
                </a:solidFill>
                <a:latin typeface="Calibri"/>
              </a:defRPr>
            </a:pPr>
            <a:r>
              <a:t>Decoding DMN and CEN from simultaneous EEG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1800" b="0">
                <a:solidFill>
                  <a:srgbClr val="888888"/>
                </a:solidFill>
                <a:latin typeface="Calibri"/>
              </a:defRPr>
            </a:pPr>
            <a:r>
              <a:t>16 subjects  •  simultaneous EEG-fMRI  •  neurofeedback task</a:t>
            </a:r>
          </a:p>
          <a:p>
            <a:pPr algn="ctr">
              <a:spcAft>
                <a:spcPts val="719"/>
              </a:spcAft>
              <a:defRPr sz="1800" b="0">
                <a:solidFill>
                  <a:srgbClr val="888888"/>
                </a:solidFill>
                <a:latin typeface="Calibri"/>
              </a:defRPr>
            </a:pPr>
            <a:r>
              <a:t>DMNELF Project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Decode fMRI network activity (DMN, CEN) from simultaneous EEG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Why? So EEG alone can drive real-time neurofeedback without the MRI scanner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Data: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•  16 subjects, simultaneous EEG-fMRI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•  4 runs × 125 TRs (TR = 1.2s), neurofeedback task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•  31 EEG channels (10-20), preprocessed at 500 Hz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•  fMRI: personalized DMN and CEN ROI timeseries</a:t>
            </a:r>
          </a:p>
        </p:txBody>
      </p:sp>
      <p:pic>
        <p:nvPicPr>
          <p:cNvPr id="4" name="Picture 3" descr="methods_r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914400"/>
            <a:ext cx="4389120" cy="26667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Methods Overview</a:t>
            </a:r>
          </a:p>
        </p:txBody>
      </p:sp>
      <p:pic>
        <p:nvPicPr>
          <p:cNvPr id="3" name="Picture 2" descr="methods_r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42" y="812565"/>
            <a:ext cx="9498419" cy="5771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1 — EEG Feature Extraction: Hilbert 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For each TR (1.2s), compute power in 5 bands per channel: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    δ (1–4)  θ (4–8)  α (8–13)  β (13–30)  γ (30–40 Hz)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1. Bandpass filter → isolate each band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2. Hilbert transform → analytic signal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3. |analytic| = instantaneous amplitude envelope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4. Average per TR → log transform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Result: 31 channels × 5 bands = 155 features / TR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Why Hilbert over FFT?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Preserves temporal dynamics at the TR timescale</a:t>
            </a:r>
          </a:p>
        </p:txBody>
      </p:sp>
      <p:pic>
        <p:nvPicPr>
          <p:cNvPr id="4" name="Picture 3" descr="hilber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217920" cy="2556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2 — HRF Convolution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EEG is instantaneous, BOLD is delayed ~6s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Convolve EEG band power with the canonical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hemodynamic response function (HRF):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•  Double-gamma model, 32s duration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•  Peak at ~6s (main response)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•  Undershoot at ~16s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This temporally aligns EEG features with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the fMRI signal they should predict</a:t>
            </a:r>
          </a:p>
        </p:txBody>
      </p:sp>
      <p:pic>
        <p:nvPicPr>
          <p:cNvPr id="4" name="Picture 3" descr="hrf_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2843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3 — Common Average Re-referencing (CAR)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At each TR, subtract the spatial mean across 31 channels within each band</a:t>
            </a:r>
          </a:p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Removes the global broadband EEG component (= arousal) from the predictor side (X)</a:t>
            </a:r>
          </a:p>
        </p:txBody>
      </p:sp>
      <p:pic>
        <p:nvPicPr>
          <p:cNvPr id="4" name="Picture 3" descr="car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11612880" cy="3009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4 — fMRI Targets &amp; Global Signal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Four targets (z-scored per run):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RAW DMN — includes arousal (sanity check)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GSR'd DMN — arousal removed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GSR'd CEN — arousal removed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PDA (CEN − DMN) — intrinsically arousal-free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GSR removes arousal from the target side (y):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DMN(t) = β₀ + β₁ × global_signal(t) + residual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Keep only the residual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DMN loads on global signal at r ≈ 0.70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→ ~50% of DMN variance is just arousal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CAR (EEG) + GSR (fMRI) = arousal removed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from both sides of the equation</a:t>
            </a:r>
          </a:p>
        </p:txBody>
      </p:sp>
      <p:pic>
        <p:nvPicPr>
          <p:cNvPr id="4" name="Picture 3" descr="gsr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126480" cy="3034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5 — Ridge vs ElasticNet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Both: linear regression + regularization penalty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(prevents overfitting with 155 correlated features)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Ridge (L2): penalty = Σ weight²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Shrinks all weights toward zero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Never sets any to exactly zero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"Use everything, trust nothing too much"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ElasticNet (L1 + L2): penalty = mix of |weight| + weight²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L1 can push weights to exactly zero → feature selection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L2 handles correlated features gracefully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Sparser, more interpretable model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ElasticNet won: zeroed only 6% of features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→ confirms the signal is genuinely distributed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but pruning noise improved generalization</a:t>
            </a:r>
          </a:p>
        </p:txBody>
      </p:sp>
      <p:pic>
        <p:nvPicPr>
          <p:cNvPr id="4" name="Picture 3" descr="ridge_vs_ene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24681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5 — Cross-Validation Schemes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No shuffle — contiguous blocks preserve temporal autocorrelation (shuffled KFold gives spurious r = 0.5–0.75)</a:t>
            </a:r>
          </a:p>
        </p:txBody>
      </p:sp>
      <p:pic>
        <p:nvPicPr>
          <p:cNvPr id="4" name="Picture 3" descr="cv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11612880" cy="3943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Step 6 — Statistical Testing (Permutation Nulls)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No parametric assumptions — pure permutation tests: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Per-subject: circular-shift null (10K)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Shift fMRI target by random lag within each run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Preserves autocorrelation structure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Refit model → null r distribution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p = fraction of null r ≥ observed r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Group: sign-flip null (10K)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Randomly flip sign of each subject's mean r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Compute null group mean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Tests cohort-level effect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Both are non-parametric, FWER-controlled</a:t>
            </a:r>
          </a:p>
        </p:txBody>
      </p:sp>
      <p:pic>
        <p:nvPicPr>
          <p:cNvPr id="4" name="Picture 3" descr="permutat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26394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90000"/>
                </a:solidFill>
                <a:latin typeface="Calibri"/>
              </a:defRPr>
            </a:pPr>
            <a:r>
              <a:t>Step A — Univariate Screen: It's All Arousal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Raw EEG band power couples to DMN at r ≈ 0.30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→ pipeline is sound (alignment, HRF, artifacts OK)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BUT: coupling is 100% arousal/vigilance: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•  Uniform across ALL channels and bands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•  Tracks fMRI global signal at r ≈ 0.45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•  Collapses to r = 0 after partialling global signal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•  = aperiodic 1/f broadband shift, not oscillatory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After CAR or GSR: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   nothing survives group correction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→ Dead end for univariate (single channel) decoding</a:t>
            </a:r>
          </a:p>
          <a:p>
            <a:pPr>
              <a:spcAft>
                <a:spcPts val="639"/>
              </a:spcAft>
              <a:defRPr sz="1600" b="0">
                <a:solidFill>
                  <a:srgbClr val="2C2C2C"/>
                </a:solidFill>
                <a:latin typeface="Calibri"/>
              </a:defRPr>
            </a:pPr>
            <a:r>
              <a:t>→ Need multivariate approach (Step B)</a:t>
            </a:r>
          </a:p>
        </p:txBody>
      </p:sp>
      <p:pic>
        <p:nvPicPr>
          <p:cNvPr id="4" name="Picture 3" descr="coupling_grou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486400" cy="2400300"/>
          </a:xfrm>
          <a:prstGeom prst="rect">
            <a:avLst/>
          </a:prstGeom>
        </p:spPr>
      </p:pic>
      <p:pic>
        <p:nvPicPr>
          <p:cNvPr id="5" name="Picture 4" descr="identify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54864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61D"/>
                </a:solidFill>
                <a:latin typeface="Calibri"/>
              </a:defRPr>
            </a:pPr>
            <a:r>
              <a:t>Step B — Multivariate Decoder: POSITIVE RESULT</a:t>
            </a:r>
          </a:p>
        </p:txBody>
      </p:sp>
      <p:pic>
        <p:nvPicPr>
          <p:cNvPr id="3" name="Picture 2" descr="group_bar_ridge_vs_e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5322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Per-Subject Decoding Performance</a:t>
            </a:r>
          </a:p>
        </p:txBody>
      </p:sp>
      <p:pic>
        <p:nvPicPr>
          <p:cNvPr id="3" name="Picture 2" descr="subject_heatmap_e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121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Cross-Run Generalization (5-fold vs LORO)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9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Signal holds across runs — not just within-run autocorrelation leakage</a:t>
            </a:r>
          </a:p>
        </p:txBody>
      </p:sp>
      <p:pic>
        <p:nvPicPr>
          <p:cNvPr id="4" name="Picture 3" descr="5fold_vs_loro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29046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ElasticNet Weight Topography — GSR'd CEN</a:t>
            </a:r>
          </a:p>
        </p:txBody>
      </p:sp>
      <p:pic>
        <p:nvPicPr>
          <p:cNvPr id="3" name="Picture 2" descr="topomap_enet_GSR_CEN_5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62" y="914400"/>
            <a:ext cx="9888279" cy="5729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Top Features: What Drives the Decoder?</a:t>
            </a:r>
          </a:p>
        </p:txBody>
      </p:sp>
      <p:pic>
        <p:nvPicPr>
          <p:cNvPr id="3" name="Picture 2" descr="feature_importance_GSR_C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77925"/>
            <a:ext cx="5760720" cy="2860559"/>
          </a:xfrm>
          <a:prstGeom prst="rect">
            <a:avLst/>
          </a:prstGeom>
        </p:spPr>
      </p:pic>
      <p:pic>
        <p:nvPicPr>
          <p:cNvPr id="4" name="Picture 3" descr="feature_importance_P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82233"/>
            <a:ext cx="5760720" cy="28675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rPr dirty="0"/>
              <a:t>EEG-Predicted vs True fMRI (</a:t>
            </a:r>
            <a:r>
              <a:rPr lang="en-US" dirty="0"/>
              <a:t>Best &amp; </a:t>
            </a:r>
            <a:r>
              <a:rPr dirty="0"/>
              <a:t>Worst Subject)</a:t>
            </a:r>
          </a:p>
        </p:txBody>
      </p:sp>
      <p:pic>
        <p:nvPicPr>
          <p:cNvPr id="3" name="Picture 2" descr="predicted_timeseries_best_wo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867"/>
            <a:ext cx="10813312" cy="37044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90B69-DBDA-8547-A71F-7073C806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F9757-643D-81FE-E2CD-07710B7F717D}"/>
              </a:ext>
            </a:extLst>
          </p:cNvPr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rPr dirty="0"/>
              <a:t>EEG-Predicted vs True fMRI (Best </a:t>
            </a:r>
            <a:r>
              <a:rPr lang="en-US" dirty="0"/>
              <a:t>&amp; Worst </a:t>
            </a:r>
            <a:r>
              <a:rPr dirty="0"/>
              <a:t>Subject)</a:t>
            </a:r>
          </a:p>
        </p:txBody>
      </p:sp>
      <p:pic>
        <p:nvPicPr>
          <p:cNvPr id="4" name="Picture 3" descr="loro_timeseries_best_worst.png">
            <a:extLst>
              <a:ext uri="{FF2B5EF4-FFF2-40B4-BE49-F238E27FC236}">
                <a16:creationId xmlns:a16="http://schemas.microsoft.com/office/drawing/2014/main" id="{4C35C89F-EE4B-FF08-6925-B9E24543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22583"/>
            <a:ext cx="11612880" cy="398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53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ElasticNet Weight Matrix (Group Mean, GSR'd CEN)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Key findings: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F4 alpha is the single most reliable feature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(right-frontal alpha → CEN, 13/16 agree)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Consistent with frontal alpha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asymmetry literature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Signal is distributed and broadband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— no single band or region dominates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Only 6% of weights zeroed out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→ truly distributed, not sparse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•  Good cross-subject consistency</a:t>
            </a:r>
          </a:p>
          <a:p>
            <a:pPr>
              <a:spcAft>
                <a:spcPts val="599"/>
              </a:spcAft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 (10–14/16 subjects agree on sign)</a:t>
            </a:r>
          </a:p>
        </p:txBody>
      </p:sp>
      <p:pic>
        <p:nvPicPr>
          <p:cNvPr id="4" name="Picture 3" descr="topomap_enet_PDA_5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18" y="1227623"/>
            <a:ext cx="7598735" cy="44027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r>
              <a:t>There IS a network-specific EEG signature of DMN/CEN activity beyond arousal</a:t>
            </a:r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endParaRPr/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r>
              <a:t>But it is a distributed multivariate pattern — no single electrode or frequency band carries it</a:t>
            </a:r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endParaRPr/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r>
              <a:t>ElasticNet on HRF-convolved, CAR'd band power reliably decodes it within and across runs</a:t>
            </a:r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endParaRPr/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r>
              <a:t>GSR'd CEN is the most decodable target:  r = +0.21  (p = 0.0006)</a:t>
            </a:r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endParaRPr/>
          </a:p>
          <a:p>
            <a:pPr algn="ctr">
              <a:spcAft>
                <a:spcPts val="1599"/>
              </a:spcAft>
              <a:defRPr sz="2000" b="0">
                <a:solidFill>
                  <a:srgbClr val="DDDDDD"/>
                </a:solidFill>
                <a:latin typeface="Calibri"/>
              </a:defRPr>
            </a:pPr>
            <a:r>
              <a:t>F4 alpha (right-frontal) is the top feature — consistent with frontal alpha asymmetry literature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Step C — Microstates / Connectivity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   EEG microstates C/D ↔ DMN; alpha connectivity instead of power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   May capture complementary signal to band power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Step D — Slow-State Classification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   Classify high-DMN vs high-CEN windows instead of continuous regression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   May be more robust with the distributed pattern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endParaRPr/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Real-time application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   Train on calibration runs → predict in real-time with EEG only</a:t>
            </a:r>
          </a:p>
          <a:p>
            <a:pPr>
              <a:spcAft>
                <a:spcPts val="719"/>
              </a:spcAft>
              <a:defRPr sz="1800" b="0">
                <a:solidFill>
                  <a:srgbClr val="2C2C2C"/>
                </a:solidFill>
                <a:latin typeface="Calibri"/>
              </a:defRPr>
            </a:pPr>
            <a:r>
              <a:t>   LORO r = 0.16 for GSR'd CEN suggests this is feasible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1045</Words>
  <Application>Microsoft Macintosh PowerPoint</Application>
  <PresentationFormat>Widescreen</PresentationFormat>
  <Paragraphs>155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Bauer Hoss, Clemens</cp:lastModifiedBy>
  <cp:revision>2</cp:revision>
  <dcterms:created xsi:type="dcterms:W3CDTF">2013-01-27T09:14:16Z</dcterms:created>
  <dcterms:modified xsi:type="dcterms:W3CDTF">2026-06-24T20:10:40Z</dcterms:modified>
  <cp:category/>
</cp:coreProperties>
</file>