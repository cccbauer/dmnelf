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3A5F"/>
                </a:solidFill>
              </a:rPr>
              <a:t>EEG Finger-Print (EFP) for DMN / CEN / PDA</a:t>
            </a:r>
          </a:p>
          <a:p>
            <a:r>
              <a:rPr sz="2000">
                <a:solidFill>
                  <a:srgbClr val="555555"/>
                </a:solidFill>
              </a:rPr>
              <a:t>Replicating Meir-Hasson et al. 2014 on the DMNELF simultaneous EEG–fMRI cohort</a:t>
            </a:r>
          </a:p>
          <a:p>
            <a:r>
              <a:rPr sz="1500">
                <a:solidFill>
                  <a:srgbClr val="555555"/>
                </a:solidFill>
              </a:rPr>
              <a:t>Single electrode · Stockwell time-frequency · data-driven bands · sliding-delay ridge · n=19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The EFP method (what makes it different)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/>
              <a:t>• Single electrode (data-driven best, by validation NMSE) — not multivariate.</a:t>
            </a:r>
          </a:p>
          <a:p>
            <a:pPr>
              <a:spcAft>
                <a:spcPts val="600"/>
              </a:spcAft>
            </a:pPr>
            <a:r>
              <a:rPr sz="1600" b="0"/>
              <a:t>• Stockwell (S-)transform time-frequency at 1 Hz (implemented from scratch, FFT-based).</a:t>
            </a:r>
          </a:p>
          <a:p>
            <a:pPr>
              <a:spcAft>
                <a:spcPts val="600"/>
              </a:spcAft>
            </a:pPr>
            <a:r>
              <a:rPr sz="1600" b="0"/>
              <a:t>• 10 data-driven equal-energy frequency bands (not fixed delta/theta/alpha).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</a:rPr>
              <a:t>• KEY: a [frequency × sliding time-delay] design (0..−12 s) → ridge learns a SEPARATE delay for each frequency. No assumed HRF shape.</a:t>
            </a:r>
          </a:p>
          <a:p>
            <a:pPr>
              <a:spcAft>
                <a:spcPts val="600"/>
              </a:spcAft>
            </a:pPr>
            <a:r>
              <a:rPr sz="1600" b="0"/>
              <a:t>• Double cross-validation: outer m-k-fold block CV (k=5,m=2) + inner RidgeCV for λ.</a:t>
            </a:r>
          </a:p>
          <a:p>
            <a:pPr>
              <a:spcAft>
                <a:spcPts val="600"/>
              </a:spcAft>
            </a:pPr>
            <a:r>
              <a:rPr sz="1600" b="0"/>
              <a:t>• Baselines on same folds: Theta/Alpha ratio (traditional) and fixed-HRF predictor.</a:t>
            </a:r>
          </a:p>
          <a:p>
            <a:pPr>
              <a:spcAft>
                <a:spcPts val="600"/>
              </a:spcAft>
            </a:pPr>
            <a:r>
              <a:rPr sz="1600" b="0"/>
              <a:t>• Built at both native-TR and 4 Hz-upsampled resolution to test the paper's up-sampling claim.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Within-subject: EFP beats both baselines (EFP ≥ HRF ≥ T/A)</a:t>
            </a:r>
          </a:p>
        </p:txBody>
      </p:sp>
      <p:pic>
        <p:nvPicPr>
          <p:cNvPr id="3" name="Picture 2" descr="fig_efp_vs_base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4998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52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/>
              <a:t>• Replicates the paper's ordering across every target; strongest for CEN, PDA, GSR_CEN, GSR_PDA (r≈0.14–0.18, TR &amp; 4Hz). GSR_DMN weakest (r≈0.13–0.16), consistent with our other pipelines.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Interpretable fingerprints — a learned HRF per frequency</a:t>
            </a:r>
          </a:p>
        </p:txBody>
      </p:sp>
      <p:pic>
        <p:nvPicPr>
          <p:cNvPr id="3" name="Picture 2" descr="efp_group_fingerprint_PDA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852160" cy="3344091"/>
          </a:xfrm>
          <a:prstGeom prst="rect">
            <a:avLst/>
          </a:prstGeom>
        </p:spPr>
      </p:pic>
      <p:pic>
        <p:nvPicPr>
          <p:cNvPr id="4" name="Picture 3" descr="efp_group_fingerprint_GSR_CEN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852160" cy="33440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2064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/>
              <a:t>• Group-averaged [band × delay] EFP. Weights peak at ~−4 to −7 s delay — an HRF-plausible lag learned data-drivenly, differing across frequency bands.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EFP vs our prior methods — a clear improvement</a:t>
            </a:r>
          </a:p>
        </p:txBody>
      </p:sp>
      <p:pic>
        <p:nvPicPr>
          <p:cNvPr id="3" name="Picture 2" descr="fig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44998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6928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E7D32"/>
                </a:solidFill>
              </a:rPr>
              <a:t>• Within-subject EFP roughly matches or beats PDA decoding (r=0.17 vs DWT 0.11, HMM 0.10) and GSR_CEN (0.17 vs DWT 0.17 — on par, not an improvement there).</a:t>
            </a:r>
          </a:p>
          <a:p>
            <a:pPr>
              <a:spcAft>
                <a:spcPts val="600"/>
              </a:spcAft>
            </a:pPr>
            <a:r>
              <a:rPr sz="1300" b="0"/>
              <a:t>• Even cross-subject (LOSO) EFP transfers for PDA (r=0.16, p=0.002) — a general fingerprint.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Cross-subject generalization &amp; TR vs 4 Hz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</a:rPr>
              <a:t>• LOSO general fingerprint (train N−1, predict held-out), TR resolution: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2E7D32"/>
                </a:solidFill>
              </a:rPr>
              <a:t>– PDA: r=+0.157 (p=0.002, ch Pz)</a:t>
            </a:r>
          </a:p>
          <a:p>
            <a:pPr lvl="1">
              <a:spcAft>
                <a:spcPts val="600"/>
              </a:spcAft>
            </a:pPr>
            <a:r>
              <a:rPr sz="1400" b="0"/>
              <a:t>– CEN: r=+0.114 (p=0.001)</a:t>
            </a:r>
          </a:p>
          <a:p>
            <a:pPr lvl="1">
              <a:spcAft>
                <a:spcPts val="600"/>
              </a:spcAft>
            </a:pPr>
            <a:r>
              <a:rPr sz="1400" b="0"/>
              <a:t>– DMN: r=+0.107 (p=0.001)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B03A2E"/>
                </a:solidFill>
              </a:rPr>
              <a:t>– GSR_CEN and GSR_PDA transfer significantly across subjects too (p&lt;.01) — only GSR_DMN remains non-significant.</a:t>
            </a:r>
          </a:p>
          <a:p>
            <a:pPr>
              <a:spcAft>
                <a:spcPts val="600"/>
              </a:spcAft>
            </a:pPr>
            <a:r>
              <a:rPr sz="1600" b="0"/>
              <a:t>• TR vs 4 Hz up-sampling: comparable within-subject accuracy — confirms the paper's finding that up-sampling adds temporal detail but not correlation.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Paper-style figures I — EFP fingerprints</a:t>
            </a:r>
          </a:p>
          <a:p>
            <a:r>
              <a:rPr sz="1500">
                <a:solidFill>
                  <a:srgbClr val="555555"/>
                </a:solidFill>
              </a:rPr>
              <a:t>Meir-Hasson Fig 5c/7c analog: [frequency × time-delay] per target</a:t>
            </a:r>
          </a:p>
        </p:txBody>
      </p:sp>
      <p:pic>
        <p:nvPicPr>
          <p:cNvPr id="3" name="Picture 2" descr="paper_fig_fingerprints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11064240" cy="61044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Paper-style figures II — predictor overlay &amp; electrode topography</a:t>
            </a:r>
          </a:p>
          <a:p>
            <a:r>
              <a:rPr sz="1500">
                <a:solidFill>
                  <a:srgbClr val="555555"/>
                </a:solidFill>
              </a:rPr>
              <a:t>Fig 3d (predictor vs fMRI) and Fig 3e/5b (per-electrode CV correlation r; red=better)</a:t>
            </a:r>
          </a:p>
        </p:txBody>
      </p:sp>
      <p:pic>
        <p:nvPicPr>
          <p:cNvPr id="3" name="Picture 2" descr="paper_fig_predictor_PDA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7406640" cy="2518258"/>
          </a:xfrm>
          <a:prstGeom prst="rect">
            <a:avLst/>
          </a:prstGeom>
        </p:spPr>
      </p:pic>
      <p:pic>
        <p:nvPicPr>
          <p:cNvPr id="4" name="Picture 3" descr="paper_fig_r_topomap_PDA_t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280160"/>
            <a:ext cx="2926080" cy="2813538"/>
          </a:xfrm>
          <a:prstGeom prst="rect">
            <a:avLst/>
          </a:prstGeom>
        </p:spPr>
      </p:pic>
      <p:pic>
        <p:nvPicPr>
          <p:cNvPr id="5" name="Picture 4" descr="paper_fig_predictor_CEN_t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931920"/>
            <a:ext cx="7406640" cy="2518258"/>
          </a:xfrm>
          <a:prstGeom prst="rect">
            <a:avLst/>
          </a:prstGeom>
        </p:spPr>
      </p:pic>
      <p:pic>
        <p:nvPicPr>
          <p:cNvPr id="6" name="Picture 5" descr="paper_fig_r_topomap_CEN_t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79" y="3840480"/>
            <a:ext cx="2926080" cy="28135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008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</a:rPr>
              <a:t>• Each row is its own best-performing subject + electrode for that target — not the same subject/electrode across rows. Single electrode per target is the method's design (Meir-Hasson): PDA here is sub-dmnelf015 @ CP6 (r=0.37); CEN is sub-dmnelf007 @ T7 (r=0.44).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Paper-style figures III — post-processing (Fig 2 analog)</a:t>
            </a:r>
          </a:p>
          <a:p>
            <a:r>
              <a:rPr sz="1500">
                <a:solidFill>
                  <a:srgbClr val="555555"/>
                </a:solidFill>
              </a:rPr>
              <a:t>EEG → S-transform → 4 Hz → data-driven bands → band-averaged TF → sliding window; fMRI ROI → 4 Hz + normalized</a:t>
            </a:r>
          </a:p>
        </p:txBody>
      </p:sp>
      <p:pic>
        <p:nvPicPr>
          <p:cNvPr id="3" name="Picture 2" descr="paper_fig2_schematic_PDA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84519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Paper-style figures IV — prediction I/O, PDA (Fig 3 analog)</a:t>
            </a:r>
          </a:p>
          <a:p>
            <a:r>
              <a:rPr sz="1500">
                <a:solidFill>
                  <a:srgbClr val="555555"/>
                </a:solidFill>
              </a:rPr>
              <a:t>a) ROI signal + ROI mask  b) bottom/top-25% EEG TF  c) EFP  d) predictor vs fMRI  e) per-electrode r</a:t>
            </a:r>
          </a:p>
        </p:txBody>
      </p:sp>
      <p:pic>
        <p:nvPicPr>
          <p:cNvPr id="3" name="Picture 2" descr="paper_fig3_composite_PDA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81765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Paper-style figures IV — prediction I/O, CEN (Fig 3 analog)</a:t>
            </a:r>
          </a:p>
          <a:p>
            <a:r>
              <a:rPr sz="1500">
                <a:solidFill>
                  <a:srgbClr val="555555"/>
                </a:solidFill>
              </a:rPr>
              <a:t>a) ROI signal + ROI mask  b) bottom/top-25% EEG TF  c) EFP  d) predictor vs fMRI  e) per-electrode r</a:t>
            </a:r>
          </a:p>
        </p:txBody>
      </p:sp>
      <p:pic>
        <p:nvPicPr>
          <p:cNvPr id="3" name="Picture 2" descr="paper_fig3_composite_CEN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81765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Paper-style figures IV — prediction I/O, GSR_CEN (Fig 3 analog)</a:t>
            </a:r>
          </a:p>
          <a:p>
            <a:r>
              <a:rPr sz="1500">
                <a:solidFill>
                  <a:srgbClr val="555555"/>
                </a:solidFill>
              </a:rPr>
              <a:t>a) ROI signal + ROI mask  b) bottom/top-25% EEG TF  c) EFP  d) predictor vs fMRI  e) per-electrode r</a:t>
            </a:r>
          </a:p>
        </p:txBody>
      </p:sp>
      <p:pic>
        <p:nvPicPr>
          <p:cNvPr id="3" name="Picture 2" descr="paper_fig3_composite_GSR_CEN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81270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Positive control — visual cortex (Fig 5 analog)</a:t>
            </a:r>
          </a:p>
          <a:p>
            <a:r>
              <a:rPr sz="1500">
                <a:solidFill>
                  <a:srgbClr val="555555"/>
                </a:solidFill>
              </a:rPr>
              <a:t>Blind EFP on an early-visual ROI should recover occipital electrodes + alpha band — validates the method</a:t>
            </a:r>
          </a:p>
        </p:txBody>
      </p:sp>
      <p:pic>
        <p:nvPicPr>
          <p:cNvPr id="3" name="Picture 2" descr="paper_fig3_composite_VIS_t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81270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</a:rPr>
              <a:t>Verdict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</a:rPr>
              <a:t>• Faithful EFP replication succeeds on DMNELF (n=19).</a:t>
            </a:r>
          </a:p>
          <a:p>
            <a:pPr lvl="1">
              <a:spcAft>
                <a:spcPts val="600"/>
              </a:spcAft>
            </a:pPr>
            <a:r>
              <a:rPr sz="1400" b="0"/>
              <a:t>– The sliding-delay single-electrode fingerprint is our best DMN/CEN/PDA decoder to date, within-subject (PDA r≈0.17, CEN r≈0.17).</a:t>
            </a:r>
          </a:p>
          <a:p>
            <a:pPr lvl="1">
              <a:spcAft>
                <a:spcPts val="600"/>
              </a:spcAft>
            </a:pPr>
            <a:r>
              <a:rPr sz="1400" b="0"/>
              <a:t>– A general (LOSO) PDA fingerprint transfers across subjects (r≈0.16, p=0.002) — promising for EEG-only neurofeedback.</a:t>
            </a:r>
          </a:p>
          <a:p>
            <a:pPr lvl="1">
              <a:spcAft>
                <a:spcPts val="600"/>
              </a:spcAft>
            </a:pPr>
            <a:r>
              <a:rPr sz="1400" b="0"/>
              <a:t>– Interpretable [freq × delay] fingerprints show HRF-plausible per-frequency delays — good paper figures.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3A5F"/>
                </a:solidFill>
              </a:rPr>
              <a:t>• Caveats</a:t>
            </a:r>
          </a:p>
          <a:p>
            <a:pPr lvl="1">
              <a:spcAft>
                <a:spcPts val="600"/>
              </a:spcAft>
            </a:pPr>
            <a:r>
              <a:rPr sz="1400" b="0"/>
              <a:t>– GSR_DMN remains hard (within and across subjects).</a:t>
            </a:r>
          </a:p>
          <a:p>
            <a:pPr lvl="1">
              <a:spcAft>
                <a:spcPts val="600"/>
              </a:spcAft>
            </a:pPr>
            <a:r>
              <a:rPr sz="1400" b="0"/>
              <a:t>– LOSO uses band-index alignment across per-subject data-driven bands (approximation); a fixed-band group model is the natural next step.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