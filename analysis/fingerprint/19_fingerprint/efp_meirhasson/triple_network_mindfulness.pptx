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63" r:id="rId3"/>
    <p:sldId id="303" r:id="rId4"/>
    <p:sldId id="264" r:id="rId5"/>
    <p:sldId id="304" r:id="rId6"/>
    <p:sldId id="265" r:id="rId7"/>
    <p:sldId id="267" r:id="rId8"/>
    <p:sldId id="278" r:id="rId9"/>
    <p:sldId id="31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6705DA-B7A1-8848-8EA2-54533E74A7E4}" type="datetimeFigureOut">
              <a:rPr lang="en-US" smtClean="0"/>
              <a:t>9/1/26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B7D4C8-A333-2546-973C-55C05A3255FC}" type="slidenum">
              <a:rPr lang="en-US" smtClean="0"/>
              <a:t>‹#›</a:t>
            </a:fld>
            <a:endParaRPr lang="en-US"/>
          </a:p>
        </p:txBody>
      </p:sp>
    </p:spTree>
    <p:extLst>
      <p:ext uri="{BB962C8B-B14F-4D97-AF65-F5344CB8AC3E}">
        <p14:creationId xmlns:p14="http://schemas.microsoft.com/office/powerpoint/2010/main" val="997741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D1D5DB"/>
                </a:solidFill>
                <a:effectLst/>
                <a:latin typeface="Söhne"/>
              </a:rPr>
              <a:t>In this section, we delve into the intricate world of the triple brain networks, which play a crucial role in our understanding of brain function:</a:t>
            </a:r>
          </a:p>
          <a:p>
            <a:pPr algn="l">
              <a:buFont typeface="Arial" panose="020B0604020202020204" pitchFamily="34" charset="0"/>
              <a:buChar char="•"/>
            </a:pPr>
            <a:r>
              <a:rPr lang="en-US" b="0" i="0" dirty="0">
                <a:solidFill>
                  <a:srgbClr val="D1D5DB"/>
                </a:solidFill>
                <a:effectLst/>
                <a:latin typeface="Söhne"/>
              </a:rPr>
              <a:t>The triple brain networks comprise three significant large-scale networks in the brain: the Default Mode Network (DMN), the Salience Network (SN), and the Frontoparietal Network (FPN), also known as the Central Executive Network (CEN). These networks consist of distributed brain regions that exhibit strong intercorrelations during periods of rest (Buckner et al., 2008; Christoff et al., 2009; Fox et al., 2005; Hellyer et al., 2014).</a:t>
            </a:r>
          </a:p>
          <a:p>
            <a:pPr algn="l">
              <a:buFont typeface="Arial" panose="020B0604020202020204" pitchFamily="34" charset="0"/>
              <a:buChar char="•"/>
            </a:pPr>
            <a:r>
              <a:rPr lang="en-US" b="0" i="0" dirty="0">
                <a:solidFill>
                  <a:srgbClr val="D1D5DB"/>
                </a:solidFill>
                <a:effectLst/>
                <a:latin typeface="Söhne"/>
              </a:rPr>
              <a:t>The DMN, or Default Mode Network, is particularly fascinating. It is associated with mind-wandering and inattention to the present moment. When attention-demanding tasks are at hand, the DMN is typically deactivated. Core hubs of the DMN, such as the precuneus, posterior cingulate cortex (PCC), inferior parietal lobule, and ventromedial prefrontal cortex (</a:t>
            </a:r>
            <a:r>
              <a:rPr lang="en-US" b="0" i="0" dirty="0" err="1">
                <a:solidFill>
                  <a:srgbClr val="D1D5DB"/>
                </a:solidFill>
                <a:effectLst/>
                <a:latin typeface="Söhne"/>
              </a:rPr>
              <a:t>vMPFC</a:t>
            </a:r>
            <a:r>
              <a:rPr lang="en-US" b="0" i="0" dirty="0">
                <a:solidFill>
                  <a:srgbClr val="D1D5DB"/>
                </a:solidFill>
                <a:effectLst/>
                <a:latin typeface="Söhne"/>
              </a:rPr>
              <a:t>), consistently activate during narrative self-processing and introspection (</a:t>
            </a:r>
            <a:r>
              <a:rPr lang="en-US" b="0" i="0" dirty="0" err="1">
                <a:solidFill>
                  <a:srgbClr val="D1D5DB"/>
                </a:solidFill>
                <a:effectLst/>
                <a:latin typeface="Söhne"/>
              </a:rPr>
              <a:t>Raichle</a:t>
            </a:r>
            <a:r>
              <a:rPr lang="en-US" b="0" i="0" dirty="0">
                <a:solidFill>
                  <a:srgbClr val="D1D5DB"/>
                </a:solidFill>
                <a:effectLst/>
                <a:latin typeface="Söhne"/>
              </a:rPr>
              <a:t> et al., 2001; </a:t>
            </a:r>
            <a:r>
              <a:rPr lang="en-US" b="0" i="0" dirty="0" err="1">
                <a:solidFill>
                  <a:srgbClr val="D1D5DB"/>
                </a:solidFill>
                <a:effectLst/>
                <a:latin typeface="Söhne"/>
              </a:rPr>
              <a:t>Gusnard</a:t>
            </a:r>
            <a:r>
              <a:rPr lang="en-US" b="0" i="0" dirty="0">
                <a:solidFill>
                  <a:srgbClr val="D1D5DB"/>
                </a:solidFill>
                <a:effectLst/>
                <a:latin typeface="Söhne"/>
              </a:rPr>
              <a:t> &amp; </a:t>
            </a:r>
            <a:r>
              <a:rPr lang="en-US" b="0" i="0" dirty="0" err="1">
                <a:solidFill>
                  <a:srgbClr val="D1D5DB"/>
                </a:solidFill>
                <a:effectLst/>
                <a:latin typeface="Söhne"/>
              </a:rPr>
              <a:t>Raichle</a:t>
            </a:r>
            <a:r>
              <a:rPr lang="en-US" b="0" i="0" dirty="0">
                <a:solidFill>
                  <a:srgbClr val="D1D5DB"/>
                </a:solidFill>
                <a:effectLst/>
                <a:latin typeface="Söhne"/>
              </a:rPr>
              <a:t>, 2001; Kelley et al., 2002; </a:t>
            </a:r>
            <a:r>
              <a:rPr lang="en-US" b="0" i="0" dirty="0" err="1">
                <a:solidFill>
                  <a:srgbClr val="D1D5DB"/>
                </a:solidFill>
                <a:effectLst/>
                <a:latin typeface="Söhne"/>
              </a:rPr>
              <a:t>Northoff</a:t>
            </a:r>
            <a:r>
              <a:rPr lang="en-US" b="0" i="0" dirty="0">
                <a:solidFill>
                  <a:srgbClr val="D1D5DB"/>
                </a:solidFill>
                <a:effectLst/>
                <a:latin typeface="Söhne"/>
              </a:rPr>
              <a:t> et al., 2006; </a:t>
            </a:r>
            <a:r>
              <a:rPr lang="en-US" b="0" i="0" dirty="0" err="1">
                <a:solidFill>
                  <a:srgbClr val="D1D5DB"/>
                </a:solidFill>
                <a:effectLst/>
                <a:latin typeface="Söhne"/>
              </a:rPr>
              <a:t>Sajonz</a:t>
            </a:r>
            <a:r>
              <a:rPr lang="en-US" b="0" i="0" dirty="0">
                <a:solidFill>
                  <a:srgbClr val="D1D5DB"/>
                </a:solidFill>
                <a:effectLst/>
                <a:latin typeface="Söhne"/>
              </a:rPr>
              <a:t> et al., 2010).</a:t>
            </a:r>
          </a:p>
          <a:p>
            <a:pPr algn="l">
              <a:buFont typeface="Arial" panose="020B0604020202020204" pitchFamily="34" charset="0"/>
              <a:buChar char="•"/>
            </a:pPr>
            <a:r>
              <a:rPr lang="en-US" b="0" i="0" dirty="0">
                <a:solidFill>
                  <a:srgbClr val="D1D5DB"/>
                </a:solidFill>
                <a:effectLst/>
                <a:latin typeface="Söhne"/>
              </a:rPr>
              <a:t>The FPN, or Frontoparietal Network, also known as the CEN, is responsible for externally focused, goal-directed attention. This network encompasses lateral frontal and parietal brain areas (Seeley et al., 2007).</a:t>
            </a:r>
          </a:p>
          <a:p>
            <a:pPr algn="l"/>
            <a:r>
              <a:rPr lang="en-US" b="0" i="0" dirty="0">
                <a:solidFill>
                  <a:srgbClr val="D1D5DB"/>
                </a:solidFill>
                <a:effectLst/>
                <a:latin typeface="Söhne"/>
              </a:rPr>
              <a:t>Now, let's move forward and explore the roles of these networks in more depth and their implications for mindfulness research.</a:t>
            </a:r>
          </a:p>
          <a:p>
            <a:endParaRPr lang="en-US" dirty="0"/>
          </a:p>
        </p:txBody>
      </p:sp>
      <p:sp>
        <p:nvSpPr>
          <p:cNvPr id="4" name="Slide Number Placeholder 3"/>
          <p:cNvSpPr>
            <a:spLocks noGrp="1"/>
          </p:cNvSpPr>
          <p:nvPr>
            <p:ph type="sldNum" sz="quarter" idx="5"/>
          </p:nvPr>
        </p:nvSpPr>
        <p:spPr/>
        <p:txBody>
          <a:bodyPr/>
          <a:lstStyle/>
          <a:p>
            <a:fld id="{49C9C609-6114-7E4C-9BBC-FA55EBA62C55}" type="slidenum">
              <a:rPr lang="en-US" smtClean="0"/>
              <a:t>2</a:t>
            </a:fld>
            <a:endParaRPr lang="en-US"/>
          </a:p>
        </p:txBody>
      </p:sp>
    </p:spTree>
    <p:extLst>
      <p:ext uri="{BB962C8B-B14F-4D97-AF65-F5344CB8AC3E}">
        <p14:creationId xmlns:p14="http://schemas.microsoft.com/office/powerpoint/2010/main" val="3931637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D1D5DB"/>
                </a:solidFill>
                <a:effectLst/>
                <a:latin typeface="Söhne"/>
              </a:rPr>
              <a:t>In this section, we delve into the intricate world of the triple brain networks, which play a crucial role in our understanding of brain function:</a:t>
            </a:r>
          </a:p>
          <a:p>
            <a:pPr algn="l">
              <a:buFont typeface="Arial" panose="020B0604020202020204" pitchFamily="34" charset="0"/>
              <a:buChar char="•"/>
            </a:pPr>
            <a:r>
              <a:rPr lang="en-US" b="0" i="0" dirty="0">
                <a:solidFill>
                  <a:srgbClr val="D1D5DB"/>
                </a:solidFill>
                <a:effectLst/>
                <a:latin typeface="Söhne"/>
              </a:rPr>
              <a:t>The triple brain networks comprise three significant large-scale networks in the brain: the Default Mode Network (DMN), the Salience Network (SN), and the Frontoparietal Network (FPN), also known as the Central Executive Network (CEN). These networks consist of distributed brain regions that exhibit strong intercorrelations during periods of rest (Buckner et al., 2008; Christoff et al., 2009; Fox et al., 2005; Hellyer et al., 2014).</a:t>
            </a:r>
          </a:p>
          <a:p>
            <a:pPr algn="l">
              <a:buFont typeface="Arial" panose="020B0604020202020204" pitchFamily="34" charset="0"/>
              <a:buChar char="•"/>
            </a:pPr>
            <a:r>
              <a:rPr lang="en-US" b="0" i="0" dirty="0">
                <a:solidFill>
                  <a:srgbClr val="D1D5DB"/>
                </a:solidFill>
                <a:effectLst/>
                <a:latin typeface="Söhne"/>
              </a:rPr>
              <a:t>The DMN, or Default Mode Network, is particularly fascinating. It is associated with mind-wandering and inattention to the present moment. When attention-demanding tasks are at hand, the DMN is typically deactivated. Core hubs of the DMN, such as the precuneus, posterior cingulate cortex (PCC), inferior parietal lobule, and ventromedial prefrontal cortex (</a:t>
            </a:r>
            <a:r>
              <a:rPr lang="en-US" b="0" i="0" dirty="0" err="1">
                <a:solidFill>
                  <a:srgbClr val="D1D5DB"/>
                </a:solidFill>
                <a:effectLst/>
                <a:latin typeface="Söhne"/>
              </a:rPr>
              <a:t>vMPFC</a:t>
            </a:r>
            <a:r>
              <a:rPr lang="en-US" b="0" i="0" dirty="0">
                <a:solidFill>
                  <a:srgbClr val="D1D5DB"/>
                </a:solidFill>
                <a:effectLst/>
                <a:latin typeface="Söhne"/>
              </a:rPr>
              <a:t>), consistently activate during narrative self-processing and introspection (</a:t>
            </a:r>
            <a:r>
              <a:rPr lang="en-US" b="0" i="0" dirty="0" err="1">
                <a:solidFill>
                  <a:srgbClr val="D1D5DB"/>
                </a:solidFill>
                <a:effectLst/>
                <a:latin typeface="Söhne"/>
              </a:rPr>
              <a:t>Raichle</a:t>
            </a:r>
            <a:r>
              <a:rPr lang="en-US" b="0" i="0" dirty="0">
                <a:solidFill>
                  <a:srgbClr val="D1D5DB"/>
                </a:solidFill>
                <a:effectLst/>
                <a:latin typeface="Söhne"/>
              </a:rPr>
              <a:t> et al., 2001; </a:t>
            </a:r>
            <a:r>
              <a:rPr lang="en-US" b="0" i="0" dirty="0" err="1">
                <a:solidFill>
                  <a:srgbClr val="D1D5DB"/>
                </a:solidFill>
                <a:effectLst/>
                <a:latin typeface="Söhne"/>
              </a:rPr>
              <a:t>Gusnard</a:t>
            </a:r>
            <a:r>
              <a:rPr lang="en-US" b="0" i="0" dirty="0">
                <a:solidFill>
                  <a:srgbClr val="D1D5DB"/>
                </a:solidFill>
                <a:effectLst/>
                <a:latin typeface="Söhne"/>
              </a:rPr>
              <a:t> &amp; </a:t>
            </a:r>
            <a:r>
              <a:rPr lang="en-US" b="0" i="0" dirty="0" err="1">
                <a:solidFill>
                  <a:srgbClr val="D1D5DB"/>
                </a:solidFill>
                <a:effectLst/>
                <a:latin typeface="Söhne"/>
              </a:rPr>
              <a:t>Raichle</a:t>
            </a:r>
            <a:r>
              <a:rPr lang="en-US" b="0" i="0" dirty="0">
                <a:solidFill>
                  <a:srgbClr val="D1D5DB"/>
                </a:solidFill>
                <a:effectLst/>
                <a:latin typeface="Söhne"/>
              </a:rPr>
              <a:t>, 2001; Kelley et al., 2002; </a:t>
            </a:r>
            <a:r>
              <a:rPr lang="en-US" b="0" i="0" dirty="0" err="1">
                <a:solidFill>
                  <a:srgbClr val="D1D5DB"/>
                </a:solidFill>
                <a:effectLst/>
                <a:latin typeface="Söhne"/>
              </a:rPr>
              <a:t>Northoff</a:t>
            </a:r>
            <a:r>
              <a:rPr lang="en-US" b="0" i="0" dirty="0">
                <a:solidFill>
                  <a:srgbClr val="D1D5DB"/>
                </a:solidFill>
                <a:effectLst/>
                <a:latin typeface="Söhne"/>
              </a:rPr>
              <a:t> et al., 2006; </a:t>
            </a:r>
            <a:r>
              <a:rPr lang="en-US" b="0" i="0" dirty="0" err="1">
                <a:solidFill>
                  <a:srgbClr val="D1D5DB"/>
                </a:solidFill>
                <a:effectLst/>
                <a:latin typeface="Söhne"/>
              </a:rPr>
              <a:t>Sajonz</a:t>
            </a:r>
            <a:r>
              <a:rPr lang="en-US" b="0" i="0" dirty="0">
                <a:solidFill>
                  <a:srgbClr val="D1D5DB"/>
                </a:solidFill>
                <a:effectLst/>
                <a:latin typeface="Söhne"/>
              </a:rPr>
              <a:t> et al., 2010).</a:t>
            </a:r>
          </a:p>
          <a:p>
            <a:pPr algn="l">
              <a:buFont typeface="Arial" panose="020B0604020202020204" pitchFamily="34" charset="0"/>
              <a:buChar char="•"/>
            </a:pPr>
            <a:r>
              <a:rPr lang="en-US" b="0" i="0" dirty="0">
                <a:solidFill>
                  <a:srgbClr val="D1D5DB"/>
                </a:solidFill>
                <a:effectLst/>
                <a:latin typeface="Söhne"/>
              </a:rPr>
              <a:t>The FPN, or Frontoparietal Network, also known as the CEN, is responsible for externally focused, goal-directed attention. This network encompasses lateral frontal and parietal brain areas (Seeley et al., 2007).</a:t>
            </a:r>
          </a:p>
          <a:p>
            <a:pPr algn="l"/>
            <a:r>
              <a:rPr lang="en-US" b="0" i="0" dirty="0">
                <a:solidFill>
                  <a:srgbClr val="D1D5DB"/>
                </a:solidFill>
                <a:effectLst/>
                <a:latin typeface="Söhne"/>
              </a:rPr>
              <a:t>Now, let's move forward and explore the roles of these networks in more depth and their implications for mindfulness research.</a:t>
            </a:r>
          </a:p>
          <a:p>
            <a:endParaRPr lang="en-US" dirty="0"/>
          </a:p>
        </p:txBody>
      </p:sp>
      <p:sp>
        <p:nvSpPr>
          <p:cNvPr id="4" name="Slide Number Placeholder 3"/>
          <p:cNvSpPr>
            <a:spLocks noGrp="1"/>
          </p:cNvSpPr>
          <p:nvPr>
            <p:ph type="sldNum" sz="quarter" idx="5"/>
          </p:nvPr>
        </p:nvSpPr>
        <p:spPr/>
        <p:txBody>
          <a:bodyPr/>
          <a:lstStyle/>
          <a:p>
            <a:fld id="{49C9C609-6114-7E4C-9BBC-FA55EBA62C55}" type="slidenum">
              <a:rPr lang="en-US" smtClean="0"/>
              <a:t>3</a:t>
            </a:fld>
            <a:endParaRPr lang="en-US"/>
          </a:p>
        </p:txBody>
      </p:sp>
    </p:spTree>
    <p:extLst>
      <p:ext uri="{BB962C8B-B14F-4D97-AF65-F5344CB8AC3E}">
        <p14:creationId xmlns:p14="http://schemas.microsoft.com/office/powerpoint/2010/main" val="2780465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D1D5DB"/>
                </a:solidFill>
                <a:effectLst/>
                <a:latin typeface="Söhne"/>
              </a:rPr>
              <a:t>Our exploration of brain networks continues with a closer look at the Salience Network (SN), a pivotal player in our understanding of brain function:</a:t>
            </a:r>
          </a:p>
          <a:p>
            <a:pPr algn="l">
              <a:buFont typeface="Arial" panose="020B0604020202020204" pitchFamily="34" charset="0"/>
              <a:buChar char="•"/>
            </a:pPr>
            <a:r>
              <a:rPr lang="en-US" b="0" i="0" dirty="0">
                <a:solidFill>
                  <a:srgbClr val="D1D5DB"/>
                </a:solidFill>
                <a:effectLst/>
                <a:latin typeface="Söhne"/>
              </a:rPr>
              <a:t>The Salience Network, or SN, is primarily responsible for stimulus-driven attention and detecting salient cues in the environment (Seeley et al., 2007). It consists of key regions like the insula and mid-cingulate regions.</a:t>
            </a:r>
          </a:p>
          <a:p>
            <a:pPr algn="l">
              <a:buFont typeface="Arial" panose="020B0604020202020204" pitchFamily="34" charset="0"/>
              <a:buChar char="•"/>
            </a:pPr>
            <a:r>
              <a:rPr lang="en-US" b="0" i="0" dirty="0">
                <a:solidFill>
                  <a:srgbClr val="D1D5DB"/>
                </a:solidFill>
                <a:effectLst/>
                <a:latin typeface="Söhne"/>
              </a:rPr>
              <a:t>One intriguing perspective on the SN is that it operates as a 'switch' between different modes of attention. It acts as a mediator between internally focused attention, which is characteristic of the DMN, and externally focused attention, governed by the FPN. This dynamic role makes the SN a central hub in regulating our attentional processes.</a:t>
            </a:r>
          </a:p>
          <a:p>
            <a:pPr algn="l">
              <a:buFont typeface="Arial" panose="020B0604020202020204" pitchFamily="34" charset="0"/>
              <a:buChar char="•"/>
            </a:pPr>
            <a:r>
              <a:rPr lang="en-US" b="0" i="0" dirty="0">
                <a:solidFill>
                  <a:srgbClr val="D1D5DB"/>
                </a:solidFill>
                <a:effectLst/>
                <a:latin typeface="Söhne"/>
              </a:rPr>
              <a:t>Additionally, it's worth noting that there are other networks, such as the dorsal and ventral attention networks, which share regions of overlap with both the FPN and SN (</a:t>
            </a:r>
            <a:r>
              <a:rPr lang="en-US" b="0" i="0" dirty="0" err="1">
                <a:solidFill>
                  <a:srgbClr val="D1D5DB"/>
                </a:solidFill>
                <a:effectLst/>
                <a:latin typeface="Söhne"/>
              </a:rPr>
              <a:t>Corbetta</a:t>
            </a:r>
            <a:r>
              <a:rPr lang="en-US" b="0" i="0" dirty="0">
                <a:solidFill>
                  <a:srgbClr val="D1D5DB"/>
                </a:solidFill>
                <a:effectLst/>
                <a:latin typeface="Söhne"/>
              </a:rPr>
              <a:t> et al., 2008). These networks collectively contribute to our understanding of the brain's intricate attentional systems.</a:t>
            </a:r>
          </a:p>
          <a:p>
            <a:pPr algn="l"/>
            <a:r>
              <a:rPr lang="en-US" b="0" i="0" dirty="0">
                <a:solidFill>
                  <a:srgbClr val="D1D5DB"/>
                </a:solidFill>
                <a:effectLst/>
                <a:latin typeface="Söhne"/>
              </a:rPr>
              <a:t>As we continue our journey, we'll explore how these brain networks interact and their relevance to mindfulness research.</a:t>
            </a:r>
          </a:p>
          <a:p>
            <a:endParaRPr lang="en-US" dirty="0"/>
          </a:p>
        </p:txBody>
      </p:sp>
      <p:sp>
        <p:nvSpPr>
          <p:cNvPr id="4" name="Slide Number Placeholder 3"/>
          <p:cNvSpPr>
            <a:spLocks noGrp="1"/>
          </p:cNvSpPr>
          <p:nvPr>
            <p:ph type="sldNum" sz="quarter" idx="5"/>
          </p:nvPr>
        </p:nvSpPr>
        <p:spPr/>
        <p:txBody>
          <a:bodyPr/>
          <a:lstStyle/>
          <a:p>
            <a:fld id="{49C9C609-6114-7E4C-9BBC-FA55EBA62C55}" type="slidenum">
              <a:rPr lang="en-US" smtClean="0"/>
              <a:t>4</a:t>
            </a:fld>
            <a:endParaRPr lang="en-US"/>
          </a:p>
        </p:txBody>
      </p:sp>
    </p:spTree>
    <p:extLst>
      <p:ext uri="{BB962C8B-B14F-4D97-AF65-F5344CB8AC3E}">
        <p14:creationId xmlns:p14="http://schemas.microsoft.com/office/powerpoint/2010/main" val="421685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D1D5DB"/>
                </a:solidFill>
                <a:effectLst/>
                <a:latin typeface="Söhne"/>
              </a:rPr>
              <a:t>In this section, we delve into the intricate world of the triple brain networks, which play a crucial role in our understanding of brain function:</a:t>
            </a:r>
          </a:p>
          <a:p>
            <a:pPr algn="l">
              <a:buFont typeface="Arial" panose="020B0604020202020204" pitchFamily="34" charset="0"/>
              <a:buChar char="•"/>
            </a:pPr>
            <a:r>
              <a:rPr lang="en-US" b="0" i="0" dirty="0">
                <a:solidFill>
                  <a:srgbClr val="D1D5DB"/>
                </a:solidFill>
                <a:effectLst/>
                <a:latin typeface="Söhne"/>
              </a:rPr>
              <a:t>The triple brain networks comprise three significant large-scale networks in the brain: the Default Mode Network (DMN), the Salience Network (SN), and the Frontoparietal Network (FPN), also known as the Central Executive Network (CEN). These networks consist of distributed brain regions that exhibit strong intercorrelations during periods of rest (Buckner et al., 2008; Christoff et al., 2009; Fox et al., 2005; Hellyer et al., 2014).</a:t>
            </a:r>
          </a:p>
          <a:p>
            <a:pPr algn="l">
              <a:buFont typeface="Arial" panose="020B0604020202020204" pitchFamily="34" charset="0"/>
              <a:buChar char="•"/>
            </a:pPr>
            <a:r>
              <a:rPr lang="en-US" b="0" i="0" dirty="0">
                <a:solidFill>
                  <a:srgbClr val="D1D5DB"/>
                </a:solidFill>
                <a:effectLst/>
                <a:latin typeface="Söhne"/>
              </a:rPr>
              <a:t>The DMN, or Default Mode Network, is particularly fascinating. It is associated with mind-wandering and inattention to the present moment. When attention-demanding tasks are at hand, the DMN is typically deactivated. Core hubs of the DMN, such as the precuneus, posterior cingulate cortex (PCC), inferior parietal lobule, and ventromedial prefrontal cortex (</a:t>
            </a:r>
            <a:r>
              <a:rPr lang="en-US" b="0" i="0" dirty="0" err="1">
                <a:solidFill>
                  <a:srgbClr val="D1D5DB"/>
                </a:solidFill>
                <a:effectLst/>
                <a:latin typeface="Söhne"/>
              </a:rPr>
              <a:t>vMPFC</a:t>
            </a:r>
            <a:r>
              <a:rPr lang="en-US" b="0" i="0" dirty="0">
                <a:solidFill>
                  <a:srgbClr val="D1D5DB"/>
                </a:solidFill>
                <a:effectLst/>
                <a:latin typeface="Söhne"/>
              </a:rPr>
              <a:t>), consistently activate during narrative self-processing and introspection (</a:t>
            </a:r>
            <a:r>
              <a:rPr lang="en-US" b="0" i="0" dirty="0" err="1">
                <a:solidFill>
                  <a:srgbClr val="D1D5DB"/>
                </a:solidFill>
                <a:effectLst/>
                <a:latin typeface="Söhne"/>
              </a:rPr>
              <a:t>Raichle</a:t>
            </a:r>
            <a:r>
              <a:rPr lang="en-US" b="0" i="0" dirty="0">
                <a:solidFill>
                  <a:srgbClr val="D1D5DB"/>
                </a:solidFill>
                <a:effectLst/>
                <a:latin typeface="Söhne"/>
              </a:rPr>
              <a:t> et al., 2001; </a:t>
            </a:r>
            <a:r>
              <a:rPr lang="en-US" b="0" i="0" dirty="0" err="1">
                <a:solidFill>
                  <a:srgbClr val="D1D5DB"/>
                </a:solidFill>
                <a:effectLst/>
                <a:latin typeface="Söhne"/>
              </a:rPr>
              <a:t>Gusnard</a:t>
            </a:r>
            <a:r>
              <a:rPr lang="en-US" b="0" i="0" dirty="0">
                <a:solidFill>
                  <a:srgbClr val="D1D5DB"/>
                </a:solidFill>
                <a:effectLst/>
                <a:latin typeface="Söhne"/>
              </a:rPr>
              <a:t> &amp; </a:t>
            </a:r>
            <a:r>
              <a:rPr lang="en-US" b="0" i="0" dirty="0" err="1">
                <a:solidFill>
                  <a:srgbClr val="D1D5DB"/>
                </a:solidFill>
                <a:effectLst/>
                <a:latin typeface="Söhne"/>
              </a:rPr>
              <a:t>Raichle</a:t>
            </a:r>
            <a:r>
              <a:rPr lang="en-US" b="0" i="0" dirty="0">
                <a:solidFill>
                  <a:srgbClr val="D1D5DB"/>
                </a:solidFill>
                <a:effectLst/>
                <a:latin typeface="Söhne"/>
              </a:rPr>
              <a:t>, 2001; Kelley et al., 2002; </a:t>
            </a:r>
            <a:r>
              <a:rPr lang="en-US" b="0" i="0" dirty="0" err="1">
                <a:solidFill>
                  <a:srgbClr val="D1D5DB"/>
                </a:solidFill>
                <a:effectLst/>
                <a:latin typeface="Söhne"/>
              </a:rPr>
              <a:t>Northoff</a:t>
            </a:r>
            <a:r>
              <a:rPr lang="en-US" b="0" i="0" dirty="0">
                <a:solidFill>
                  <a:srgbClr val="D1D5DB"/>
                </a:solidFill>
                <a:effectLst/>
                <a:latin typeface="Söhne"/>
              </a:rPr>
              <a:t> et al., 2006; </a:t>
            </a:r>
            <a:r>
              <a:rPr lang="en-US" b="0" i="0" dirty="0" err="1">
                <a:solidFill>
                  <a:srgbClr val="D1D5DB"/>
                </a:solidFill>
                <a:effectLst/>
                <a:latin typeface="Söhne"/>
              </a:rPr>
              <a:t>Sajonz</a:t>
            </a:r>
            <a:r>
              <a:rPr lang="en-US" b="0" i="0" dirty="0">
                <a:solidFill>
                  <a:srgbClr val="D1D5DB"/>
                </a:solidFill>
                <a:effectLst/>
                <a:latin typeface="Söhne"/>
              </a:rPr>
              <a:t> et al., 2010).</a:t>
            </a:r>
          </a:p>
          <a:p>
            <a:pPr algn="l">
              <a:buFont typeface="Arial" panose="020B0604020202020204" pitchFamily="34" charset="0"/>
              <a:buChar char="•"/>
            </a:pPr>
            <a:r>
              <a:rPr lang="en-US" b="0" i="0" dirty="0">
                <a:solidFill>
                  <a:srgbClr val="D1D5DB"/>
                </a:solidFill>
                <a:effectLst/>
                <a:latin typeface="Söhne"/>
              </a:rPr>
              <a:t>The FPN, or Frontoparietal Network, also known as the CEN, is responsible for externally focused, goal-directed attention. This network encompasses lateral frontal and parietal brain areas (Seeley et al., 2007).</a:t>
            </a:r>
          </a:p>
          <a:p>
            <a:pPr algn="l"/>
            <a:r>
              <a:rPr lang="en-US" b="0" i="0" dirty="0">
                <a:solidFill>
                  <a:srgbClr val="D1D5DB"/>
                </a:solidFill>
                <a:effectLst/>
                <a:latin typeface="Söhne"/>
              </a:rPr>
              <a:t>Now, let's move forward and explore the roles of these networks in more depth and their implications for mindfulness research.</a:t>
            </a:r>
          </a:p>
          <a:p>
            <a:endParaRPr lang="en-US" dirty="0"/>
          </a:p>
        </p:txBody>
      </p:sp>
      <p:sp>
        <p:nvSpPr>
          <p:cNvPr id="4" name="Slide Number Placeholder 3"/>
          <p:cNvSpPr>
            <a:spLocks noGrp="1"/>
          </p:cNvSpPr>
          <p:nvPr>
            <p:ph type="sldNum" sz="quarter" idx="5"/>
          </p:nvPr>
        </p:nvSpPr>
        <p:spPr/>
        <p:txBody>
          <a:bodyPr/>
          <a:lstStyle/>
          <a:p>
            <a:fld id="{49C9C609-6114-7E4C-9BBC-FA55EBA62C55}" type="slidenum">
              <a:rPr lang="en-US" smtClean="0"/>
              <a:t>5</a:t>
            </a:fld>
            <a:endParaRPr lang="en-US"/>
          </a:p>
        </p:txBody>
      </p:sp>
    </p:spTree>
    <p:extLst>
      <p:ext uri="{BB962C8B-B14F-4D97-AF65-F5344CB8AC3E}">
        <p14:creationId xmlns:p14="http://schemas.microsoft.com/office/powerpoint/2010/main" val="2105882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D1D5DB"/>
                </a:solidFill>
                <a:effectLst/>
                <a:latin typeface="Söhne"/>
              </a:rPr>
              <a:t>In this section, we set the stage for our exploration of the roles of brain networks during mindfulness meditation:</a:t>
            </a:r>
          </a:p>
          <a:p>
            <a:pPr algn="l">
              <a:buFont typeface="Arial" panose="020B0604020202020204" pitchFamily="34" charset="0"/>
              <a:buChar char="•"/>
            </a:pPr>
            <a:r>
              <a:rPr lang="en-US" b="0" i="0" dirty="0">
                <a:solidFill>
                  <a:srgbClr val="D1D5DB"/>
                </a:solidFill>
                <a:effectLst/>
                <a:latin typeface="Söhne"/>
              </a:rPr>
              <a:t>Mindfulness, as we've defined it, encompasses a family of attention regulatory strategies with a central focus on the present moment. One of the most common mindfulness practices involves breath awareness, where practitioners direct their attention to their breath and continually return to it whenever their focus drifts (Lutz et al., 2008).</a:t>
            </a:r>
          </a:p>
          <a:p>
            <a:pPr algn="l">
              <a:buFont typeface="Arial" panose="020B0604020202020204" pitchFamily="34" charset="0"/>
              <a:buChar char="•"/>
            </a:pPr>
            <a:r>
              <a:rPr lang="en-US" b="0" i="0" dirty="0">
                <a:solidFill>
                  <a:srgbClr val="D1D5DB"/>
                </a:solidFill>
                <a:effectLst/>
                <a:latin typeface="Söhne"/>
              </a:rPr>
              <a:t>Mindfulness practice engages several key brain networks, including the Default Mode Network (DMN), Frontoparietal Network (FPN) or Central Executive Network (CEN), and the Salience Network (SN), each with its own role in attentional processes. We'll delve into a mechanistic model of mindfulness proposed by </a:t>
            </a:r>
            <a:r>
              <a:rPr lang="en-US" b="0" i="0" dirty="0" err="1">
                <a:solidFill>
                  <a:srgbClr val="D1D5DB"/>
                </a:solidFill>
                <a:effectLst/>
                <a:latin typeface="Söhne"/>
              </a:rPr>
              <a:t>Hasenkamp</a:t>
            </a:r>
            <a:r>
              <a:rPr lang="en-US" b="0" i="0" dirty="0">
                <a:solidFill>
                  <a:srgbClr val="D1D5DB"/>
                </a:solidFill>
                <a:effectLst/>
                <a:latin typeface="Söhne"/>
              </a:rPr>
              <a:t> and colleagues (2012), which sheds light on how these networks work together during mindfulness meditation.</a:t>
            </a:r>
          </a:p>
          <a:p>
            <a:pPr algn="l"/>
            <a:r>
              <a:rPr lang="en-US" b="0" i="0" dirty="0">
                <a:solidFill>
                  <a:srgbClr val="D1D5DB"/>
                </a:solidFill>
                <a:effectLst/>
                <a:latin typeface="Söhne"/>
              </a:rPr>
              <a:t>As we move forward, we'll explore the intricate dance of these brain networks during mindfulness and how they contribute to the practice.</a:t>
            </a:r>
          </a:p>
          <a:p>
            <a:endParaRPr lang="en-US" dirty="0"/>
          </a:p>
        </p:txBody>
      </p:sp>
      <p:sp>
        <p:nvSpPr>
          <p:cNvPr id="4" name="Slide Number Placeholder 3"/>
          <p:cNvSpPr>
            <a:spLocks noGrp="1"/>
          </p:cNvSpPr>
          <p:nvPr>
            <p:ph type="sldNum" sz="quarter" idx="5"/>
          </p:nvPr>
        </p:nvSpPr>
        <p:spPr/>
        <p:txBody>
          <a:bodyPr/>
          <a:lstStyle/>
          <a:p>
            <a:fld id="{49C9C609-6114-7E4C-9BBC-FA55EBA62C55}" type="slidenum">
              <a:rPr lang="en-US" smtClean="0"/>
              <a:t>6</a:t>
            </a:fld>
            <a:endParaRPr lang="en-US"/>
          </a:p>
        </p:txBody>
      </p:sp>
    </p:spTree>
    <p:extLst>
      <p:ext uri="{BB962C8B-B14F-4D97-AF65-F5344CB8AC3E}">
        <p14:creationId xmlns:p14="http://schemas.microsoft.com/office/powerpoint/2010/main" val="262345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kern="0">
                <a:solidFill>
                  <a:srgbClr val="000000"/>
                </a:solidFill>
                <a:effectLst/>
                <a:latin typeface="Times New Roman" panose="02020603050405020304" pitchFamily="18" charset="0"/>
                <a:ea typeface="Times New Roman" panose="02020603050405020304" pitchFamily="18" charset="0"/>
              </a:rPr>
              <a:t>In summary, mindfulness may involve a process of shifting, refocusing, and sustaining attention involving the SN and CEN networks, and it may involve suppressing mind-wandering through downregulation of the DMN. As individuals practice mindfulness and engage these brain networks, the networks may show enduring changes. These changes may be present during mindfulness meditation, but also in a wakeful, resting-state condition. To investigate this possibility, researchers have compared resting-state functional connectivity before and after mindfulness interventions. Two recent reviews comprehensively examined changes in rsFC as a result of mindfulness training (meta-analysis, Rahrig et al., 2022; systematic review, Sezer et al., </a:t>
            </a:r>
            <a:endParaRPr lang="en-US" dirty="0"/>
          </a:p>
        </p:txBody>
      </p:sp>
      <p:sp>
        <p:nvSpPr>
          <p:cNvPr id="4" name="Slide Number Placeholder 3"/>
          <p:cNvSpPr>
            <a:spLocks noGrp="1"/>
          </p:cNvSpPr>
          <p:nvPr>
            <p:ph type="sldNum" sz="quarter" idx="5"/>
          </p:nvPr>
        </p:nvSpPr>
        <p:spPr/>
        <p:txBody>
          <a:bodyPr/>
          <a:lstStyle/>
          <a:p>
            <a:fld id="{49C9C609-6114-7E4C-9BBC-FA55EBA62C55}" type="slidenum">
              <a:rPr lang="en-US" smtClean="0"/>
              <a:t>7</a:t>
            </a:fld>
            <a:endParaRPr lang="en-US"/>
          </a:p>
        </p:txBody>
      </p:sp>
    </p:spTree>
    <p:extLst>
      <p:ext uri="{BB962C8B-B14F-4D97-AF65-F5344CB8AC3E}">
        <p14:creationId xmlns:p14="http://schemas.microsoft.com/office/powerpoint/2010/main" val="360207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0" name="Google Shape;35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0" name="Google Shape;35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20579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D15F5-B456-6B72-36B9-9A68DEC884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63377F-3816-3743-BACD-6BD6F7DD81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32D3C64-71B4-BD06-1683-D6FC2CCCFB7D}"/>
              </a:ext>
            </a:extLst>
          </p:cNvPr>
          <p:cNvSpPr>
            <a:spLocks noGrp="1"/>
          </p:cNvSpPr>
          <p:nvPr>
            <p:ph type="dt" sz="half" idx="10"/>
          </p:nvPr>
        </p:nvSpPr>
        <p:spPr/>
        <p:txBody>
          <a:bodyPr/>
          <a:lstStyle/>
          <a:p>
            <a:fld id="{64718C33-25F3-AD46-8ECF-FDDAB320B00C}" type="datetimeFigureOut">
              <a:rPr lang="en-US" smtClean="0"/>
              <a:t>9/1/26</a:t>
            </a:fld>
            <a:endParaRPr lang="en-US"/>
          </a:p>
        </p:txBody>
      </p:sp>
      <p:sp>
        <p:nvSpPr>
          <p:cNvPr id="5" name="Footer Placeholder 4">
            <a:extLst>
              <a:ext uri="{FF2B5EF4-FFF2-40B4-BE49-F238E27FC236}">
                <a16:creationId xmlns:a16="http://schemas.microsoft.com/office/drawing/2014/main" id="{035C0EE8-C2A3-ACDD-2A8E-CF6EB290DE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A06E7B-5CD3-BDD0-E10B-539B1B24A7FE}"/>
              </a:ext>
            </a:extLst>
          </p:cNvPr>
          <p:cNvSpPr>
            <a:spLocks noGrp="1"/>
          </p:cNvSpPr>
          <p:nvPr>
            <p:ph type="sldNum" sz="quarter" idx="12"/>
          </p:nvPr>
        </p:nvSpPr>
        <p:spPr/>
        <p:txBody>
          <a:bodyPr/>
          <a:lstStyle/>
          <a:p>
            <a:fld id="{F6FFC1E4-24A1-4D42-9731-A396AB69324F}" type="slidenum">
              <a:rPr lang="en-US" smtClean="0"/>
              <a:t>‹#›</a:t>
            </a:fld>
            <a:endParaRPr lang="en-US"/>
          </a:p>
        </p:txBody>
      </p:sp>
    </p:spTree>
    <p:extLst>
      <p:ext uri="{BB962C8B-B14F-4D97-AF65-F5344CB8AC3E}">
        <p14:creationId xmlns:p14="http://schemas.microsoft.com/office/powerpoint/2010/main" val="656906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349F9-DEC2-8231-027D-B1251CA6B0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2E7779-7A26-08E8-FDDE-D54696B37E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58DCF4-4A93-0825-76C7-98C4B5012E4D}"/>
              </a:ext>
            </a:extLst>
          </p:cNvPr>
          <p:cNvSpPr>
            <a:spLocks noGrp="1"/>
          </p:cNvSpPr>
          <p:nvPr>
            <p:ph type="dt" sz="half" idx="10"/>
          </p:nvPr>
        </p:nvSpPr>
        <p:spPr/>
        <p:txBody>
          <a:bodyPr/>
          <a:lstStyle/>
          <a:p>
            <a:fld id="{64718C33-25F3-AD46-8ECF-FDDAB320B00C}" type="datetimeFigureOut">
              <a:rPr lang="en-US" smtClean="0"/>
              <a:t>9/1/26</a:t>
            </a:fld>
            <a:endParaRPr lang="en-US"/>
          </a:p>
        </p:txBody>
      </p:sp>
      <p:sp>
        <p:nvSpPr>
          <p:cNvPr id="5" name="Footer Placeholder 4">
            <a:extLst>
              <a:ext uri="{FF2B5EF4-FFF2-40B4-BE49-F238E27FC236}">
                <a16:creationId xmlns:a16="http://schemas.microsoft.com/office/drawing/2014/main" id="{740BF905-63DD-9C7F-3657-BC3510B779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026BFD-6597-A12B-453C-AC82CF4C658C}"/>
              </a:ext>
            </a:extLst>
          </p:cNvPr>
          <p:cNvSpPr>
            <a:spLocks noGrp="1"/>
          </p:cNvSpPr>
          <p:nvPr>
            <p:ph type="sldNum" sz="quarter" idx="12"/>
          </p:nvPr>
        </p:nvSpPr>
        <p:spPr/>
        <p:txBody>
          <a:bodyPr/>
          <a:lstStyle/>
          <a:p>
            <a:fld id="{F6FFC1E4-24A1-4D42-9731-A396AB69324F}" type="slidenum">
              <a:rPr lang="en-US" smtClean="0"/>
              <a:t>‹#›</a:t>
            </a:fld>
            <a:endParaRPr lang="en-US"/>
          </a:p>
        </p:txBody>
      </p:sp>
    </p:spTree>
    <p:extLst>
      <p:ext uri="{BB962C8B-B14F-4D97-AF65-F5344CB8AC3E}">
        <p14:creationId xmlns:p14="http://schemas.microsoft.com/office/powerpoint/2010/main" val="2367818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4B6B6-738C-B515-782B-9527AE5249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663A403-4530-EFD9-48F2-1D898C905F1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054972-75BF-0771-CC12-31D6366CE046}"/>
              </a:ext>
            </a:extLst>
          </p:cNvPr>
          <p:cNvSpPr>
            <a:spLocks noGrp="1"/>
          </p:cNvSpPr>
          <p:nvPr>
            <p:ph type="dt" sz="half" idx="10"/>
          </p:nvPr>
        </p:nvSpPr>
        <p:spPr/>
        <p:txBody>
          <a:bodyPr/>
          <a:lstStyle/>
          <a:p>
            <a:fld id="{64718C33-25F3-AD46-8ECF-FDDAB320B00C}" type="datetimeFigureOut">
              <a:rPr lang="en-US" smtClean="0"/>
              <a:t>9/1/26</a:t>
            </a:fld>
            <a:endParaRPr lang="en-US"/>
          </a:p>
        </p:txBody>
      </p:sp>
      <p:sp>
        <p:nvSpPr>
          <p:cNvPr id="5" name="Footer Placeholder 4">
            <a:extLst>
              <a:ext uri="{FF2B5EF4-FFF2-40B4-BE49-F238E27FC236}">
                <a16:creationId xmlns:a16="http://schemas.microsoft.com/office/drawing/2014/main" id="{04E7ECAD-2847-3A63-A03F-B42A600457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54E8E2-56E6-368A-7816-C56A9E62CB48}"/>
              </a:ext>
            </a:extLst>
          </p:cNvPr>
          <p:cNvSpPr>
            <a:spLocks noGrp="1"/>
          </p:cNvSpPr>
          <p:nvPr>
            <p:ph type="sldNum" sz="quarter" idx="12"/>
          </p:nvPr>
        </p:nvSpPr>
        <p:spPr/>
        <p:txBody>
          <a:bodyPr/>
          <a:lstStyle/>
          <a:p>
            <a:fld id="{F6FFC1E4-24A1-4D42-9731-A396AB69324F}" type="slidenum">
              <a:rPr lang="en-US" smtClean="0"/>
              <a:t>‹#›</a:t>
            </a:fld>
            <a:endParaRPr lang="en-US"/>
          </a:p>
        </p:txBody>
      </p:sp>
    </p:spTree>
    <p:extLst>
      <p:ext uri="{BB962C8B-B14F-4D97-AF65-F5344CB8AC3E}">
        <p14:creationId xmlns:p14="http://schemas.microsoft.com/office/powerpoint/2010/main" val="1458297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FFCDA-5DA1-54CE-B857-4F2ABEF68B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665384-0BC6-9F21-AA87-D5C7FB1C06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77B641-35D6-31AA-7BFE-5710401F4D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E637C98-3465-678A-E821-9967C20CE4B0}"/>
              </a:ext>
            </a:extLst>
          </p:cNvPr>
          <p:cNvSpPr>
            <a:spLocks noGrp="1"/>
          </p:cNvSpPr>
          <p:nvPr>
            <p:ph type="dt" sz="half" idx="10"/>
          </p:nvPr>
        </p:nvSpPr>
        <p:spPr/>
        <p:txBody>
          <a:bodyPr/>
          <a:lstStyle/>
          <a:p>
            <a:fld id="{64718C33-25F3-AD46-8ECF-FDDAB320B00C}" type="datetimeFigureOut">
              <a:rPr lang="en-US" smtClean="0"/>
              <a:t>9/1/26</a:t>
            </a:fld>
            <a:endParaRPr lang="en-US"/>
          </a:p>
        </p:txBody>
      </p:sp>
      <p:sp>
        <p:nvSpPr>
          <p:cNvPr id="6" name="Footer Placeholder 5">
            <a:extLst>
              <a:ext uri="{FF2B5EF4-FFF2-40B4-BE49-F238E27FC236}">
                <a16:creationId xmlns:a16="http://schemas.microsoft.com/office/drawing/2014/main" id="{E644C68E-61CD-F426-13BF-F71211F510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D9E3CE-E7C6-800B-C803-275AAB2D74C7}"/>
              </a:ext>
            </a:extLst>
          </p:cNvPr>
          <p:cNvSpPr>
            <a:spLocks noGrp="1"/>
          </p:cNvSpPr>
          <p:nvPr>
            <p:ph type="sldNum" sz="quarter" idx="12"/>
          </p:nvPr>
        </p:nvSpPr>
        <p:spPr/>
        <p:txBody>
          <a:bodyPr/>
          <a:lstStyle/>
          <a:p>
            <a:fld id="{F6FFC1E4-24A1-4D42-9731-A396AB69324F}" type="slidenum">
              <a:rPr lang="en-US" smtClean="0"/>
              <a:t>‹#›</a:t>
            </a:fld>
            <a:endParaRPr lang="en-US"/>
          </a:p>
        </p:txBody>
      </p:sp>
    </p:spTree>
    <p:extLst>
      <p:ext uri="{BB962C8B-B14F-4D97-AF65-F5344CB8AC3E}">
        <p14:creationId xmlns:p14="http://schemas.microsoft.com/office/powerpoint/2010/main" val="2942796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DE2C1-87B2-A2A0-576A-C98853B510F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3D29D7-255C-691C-668A-091EF68E20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95E422-7991-BBA1-85E9-CEB320CC6D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C2EAA5-53C7-F0D5-9142-057665B3C0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711F23-4AC9-6B0F-5808-13530166FB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3ADC07-159F-F892-5C65-F8F6B0CA9784}"/>
              </a:ext>
            </a:extLst>
          </p:cNvPr>
          <p:cNvSpPr>
            <a:spLocks noGrp="1"/>
          </p:cNvSpPr>
          <p:nvPr>
            <p:ph type="dt" sz="half" idx="10"/>
          </p:nvPr>
        </p:nvSpPr>
        <p:spPr/>
        <p:txBody>
          <a:bodyPr/>
          <a:lstStyle/>
          <a:p>
            <a:fld id="{64718C33-25F3-AD46-8ECF-FDDAB320B00C}" type="datetimeFigureOut">
              <a:rPr lang="en-US" smtClean="0"/>
              <a:t>9/1/26</a:t>
            </a:fld>
            <a:endParaRPr lang="en-US"/>
          </a:p>
        </p:txBody>
      </p:sp>
      <p:sp>
        <p:nvSpPr>
          <p:cNvPr id="8" name="Footer Placeholder 7">
            <a:extLst>
              <a:ext uri="{FF2B5EF4-FFF2-40B4-BE49-F238E27FC236}">
                <a16:creationId xmlns:a16="http://schemas.microsoft.com/office/drawing/2014/main" id="{E4C218D7-5400-8712-3CDC-421C8CE6A1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40B6A3-7750-705F-7369-1AE1C33209EA}"/>
              </a:ext>
            </a:extLst>
          </p:cNvPr>
          <p:cNvSpPr>
            <a:spLocks noGrp="1"/>
          </p:cNvSpPr>
          <p:nvPr>
            <p:ph type="sldNum" sz="quarter" idx="12"/>
          </p:nvPr>
        </p:nvSpPr>
        <p:spPr/>
        <p:txBody>
          <a:bodyPr/>
          <a:lstStyle/>
          <a:p>
            <a:fld id="{F6FFC1E4-24A1-4D42-9731-A396AB69324F}" type="slidenum">
              <a:rPr lang="en-US" smtClean="0"/>
              <a:t>‹#›</a:t>
            </a:fld>
            <a:endParaRPr lang="en-US"/>
          </a:p>
        </p:txBody>
      </p:sp>
    </p:spTree>
    <p:extLst>
      <p:ext uri="{BB962C8B-B14F-4D97-AF65-F5344CB8AC3E}">
        <p14:creationId xmlns:p14="http://schemas.microsoft.com/office/powerpoint/2010/main" val="184596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A41FF-0583-B44B-DC1F-4DE0DC652D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495024-B29A-055A-51FC-425E495E72D3}"/>
              </a:ext>
            </a:extLst>
          </p:cNvPr>
          <p:cNvSpPr>
            <a:spLocks noGrp="1"/>
          </p:cNvSpPr>
          <p:nvPr>
            <p:ph type="dt" sz="half" idx="10"/>
          </p:nvPr>
        </p:nvSpPr>
        <p:spPr/>
        <p:txBody>
          <a:bodyPr/>
          <a:lstStyle/>
          <a:p>
            <a:fld id="{64718C33-25F3-AD46-8ECF-FDDAB320B00C}" type="datetimeFigureOut">
              <a:rPr lang="en-US" smtClean="0"/>
              <a:t>9/1/26</a:t>
            </a:fld>
            <a:endParaRPr lang="en-US"/>
          </a:p>
        </p:txBody>
      </p:sp>
      <p:sp>
        <p:nvSpPr>
          <p:cNvPr id="4" name="Footer Placeholder 3">
            <a:extLst>
              <a:ext uri="{FF2B5EF4-FFF2-40B4-BE49-F238E27FC236}">
                <a16:creationId xmlns:a16="http://schemas.microsoft.com/office/drawing/2014/main" id="{7A620B49-1C88-DC92-6581-95F458B29C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A9D763-E9DB-A0EA-0D77-F02C3675C6E5}"/>
              </a:ext>
            </a:extLst>
          </p:cNvPr>
          <p:cNvSpPr>
            <a:spLocks noGrp="1"/>
          </p:cNvSpPr>
          <p:nvPr>
            <p:ph type="sldNum" sz="quarter" idx="12"/>
          </p:nvPr>
        </p:nvSpPr>
        <p:spPr/>
        <p:txBody>
          <a:bodyPr/>
          <a:lstStyle/>
          <a:p>
            <a:fld id="{F6FFC1E4-24A1-4D42-9731-A396AB69324F}" type="slidenum">
              <a:rPr lang="en-US" smtClean="0"/>
              <a:t>‹#›</a:t>
            </a:fld>
            <a:endParaRPr lang="en-US"/>
          </a:p>
        </p:txBody>
      </p:sp>
    </p:spTree>
    <p:extLst>
      <p:ext uri="{BB962C8B-B14F-4D97-AF65-F5344CB8AC3E}">
        <p14:creationId xmlns:p14="http://schemas.microsoft.com/office/powerpoint/2010/main" val="1186768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A6C54E-68C2-E491-AA6B-2AEEF37CB929}"/>
              </a:ext>
            </a:extLst>
          </p:cNvPr>
          <p:cNvSpPr>
            <a:spLocks noGrp="1"/>
          </p:cNvSpPr>
          <p:nvPr>
            <p:ph type="dt" sz="half" idx="10"/>
          </p:nvPr>
        </p:nvSpPr>
        <p:spPr/>
        <p:txBody>
          <a:bodyPr/>
          <a:lstStyle/>
          <a:p>
            <a:fld id="{64718C33-25F3-AD46-8ECF-FDDAB320B00C}" type="datetimeFigureOut">
              <a:rPr lang="en-US" smtClean="0"/>
              <a:t>9/1/26</a:t>
            </a:fld>
            <a:endParaRPr lang="en-US"/>
          </a:p>
        </p:txBody>
      </p:sp>
      <p:sp>
        <p:nvSpPr>
          <p:cNvPr id="3" name="Footer Placeholder 2">
            <a:extLst>
              <a:ext uri="{FF2B5EF4-FFF2-40B4-BE49-F238E27FC236}">
                <a16:creationId xmlns:a16="http://schemas.microsoft.com/office/drawing/2014/main" id="{4934F5D2-B182-3B6F-2EEC-1ADA665FF46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F9DFC7-5EAA-8E25-B292-ACBF8C5B5EA8}"/>
              </a:ext>
            </a:extLst>
          </p:cNvPr>
          <p:cNvSpPr>
            <a:spLocks noGrp="1"/>
          </p:cNvSpPr>
          <p:nvPr>
            <p:ph type="sldNum" sz="quarter" idx="12"/>
          </p:nvPr>
        </p:nvSpPr>
        <p:spPr/>
        <p:txBody>
          <a:bodyPr/>
          <a:lstStyle/>
          <a:p>
            <a:fld id="{F6FFC1E4-24A1-4D42-9731-A396AB69324F}" type="slidenum">
              <a:rPr lang="en-US" smtClean="0"/>
              <a:t>‹#›</a:t>
            </a:fld>
            <a:endParaRPr lang="en-US"/>
          </a:p>
        </p:txBody>
      </p:sp>
    </p:spTree>
    <p:extLst>
      <p:ext uri="{BB962C8B-B14F-4D97-AF65-F5344CB8AC3E}">
        <p14:creationId xmlns:p14="http://schemas.microsoft.com/office/powerpoint/2010/main" val="1415544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9565E-F2C7-ABA7-3AF0-A5CB14DB53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C3C085-7C5A-9FB3-9F6D-6160FBBBA7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5CD2B63-17EA-02A2-41AB-308DE55DAE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592185-1402-D535-E41B-052B94CB2D43}"/>
              </a:ext>
            </a:extLst>
          </p:cNvPr>
          <p:cNvSpPr>
            <a:spLocks noGrp="1"/>
          </p:cNvSpPr>
          <p:nvPr>
            <p:ph type="dt" sz="half" idx="10"/>
          </p:nvPr>
        </p:nvSpPr>
        <p:spPr/>
        <p:txBody>
          <a:bodyPr/>
          <a:lstStyle/>
          <a:p>
            <a:fld id="{64718C33-25F3-AD46-8ECF-FDDAB320B00C}" type="datetimeFigureOut">
              <a:rPr lang="en-US" smtClean="0"/>
              <a:t>9/1/26</a:t>
            </a:fld>
            <a:endParaRPr lang="en-US"/>
          </a:p>
        </p:txBody>
      </p:sp>
      <p:sp>
        <p:nvSpPr>
          <p:cNvPr id="6" name="Footer Placeholder 5">
            <a:extLst>
              <a:ext uri="{FF2B5EF4-FFF2-40B4-BE49-F238E27FC236}">
                <a16:creationId xmlns:a16="http://schemas.microsoft.com/office/drawing/2014/main" id="{470F06AE-98B2-C178-DD77-845E0F210F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A77F5D-FCC0-F9A8-ADC6-9EB87704FE38}"/>
              </a:ext>
            </a:extLst>
          </p:cNvPr>
          <p:cNvSpPr>
            <a:spLocks noGrp="1"/>
          </p:cNvSpPr>
          <p:nvPr>
            <p:ph type="sldNum" sz="quarter" idx="12"/>
          </p:nvPr>
        </p:nvSpPr>
        <p:spPr/>
        <p:txBody>
          <a:bodyPr/>
          <a:lstStyle/>
          <a:p>
            <a:fld id="{F6FFC1E4-24A1-4D42-9731-A396AB69324F}" type="slidenum">
              <a:rPr lang="en-US" smtClean="0"/>
              <a:t>‹#›</a:t>
            </a:fld>
            <a:endParaRPr lang="en-US"/>
          </a:p>
        </p:txBody>
      </p:sp>
    </p:spTree>
    <p:extLst>
      <p:ext uri="{BB962C8B-B14F-4D97-AF65-F5344CB8AC3E}">
        <p14:creationId xmlns:p14="http://schemas.microsoft.com/office/powerpoint/2010/main" val="2252066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AC95F-0935-6C3F-FD58-C9955E3607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CA1263B-926A-52E1-6A27-2217FAEC42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4EF4F7-9B26-E7F5-27C5-0FE2C3B118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DA9445-C83B-3A6C-7926-E656E10960AE}"/>
              </a:ext>
            </a:extLst>
          </p:cNvPr>
          <p:cNvSpPr>
            <a:spLocks noGrp="1"/>
          </p:cNvSpPr>
          <p:nvPr>
            <p:ph type="dt" sz="half" idx="10"/>
          </p:nvPr>
        </p:nvSpPr>
        <p:spPr/>
        <p:txBody>
          <a:bodyPr/>
          <a:lstStyle/>
          <a:p>
            <a:fld id="{64718C33-25F3-AD46-8ECF-FDDAB320B00C}" type="datetimeFigureOut">
              <a:rPr lang="en-US" smtClean="0"/>
              <a:t>9/1/26</a:t>
            </a:fld>
            <a:endParaRPr lang="en-US"/>
          </a:p>
        </p:txBody>
      </p:sp>
      <p:sp>
        <p:nvSpPr>
          <p:cNvPr id="6" name="Footer Placeholder 5">
            <a:extLst>
              <a:ext uri="{FF2B5EF4-FFF2-40B4-BE49-F238E27FC236}">
                <a16:creationId xmlns:a16="http://schemas.microsoft.com/office/drawing/2014/main" id="{B72B5A24-B10F-EA32-018C-BAACAEC29E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6DA798-787E-69BB-592F-004B04EBCA6E}"/>
              </a:ext>
            </a:extLst>
          </p:cNvPr>
          <p:cNvSpPr>
            <a:spLocks noGrp="1"/>
          </p:cNvSpPr>
          <p:nvPr>
            <p:ph type="sldNum" sz="quarter" idx="12"/>
          </p:nvPr>
        </p:nvSpPr>
        <p:spPr/>
        <p:txBody>
          <a:bodyPr/>
          <a:lstStyle/>
          <a:p>
            <a:fld id="{F6FFC1E4-24A1-4D42-9731-A396AB69324F}" type="slidenum">
              <a:rPr lang="en-US" smtClean="0"/>
              <a:t>‹#›</a:t>
            </a:fld>
            <a:endParaRPr lang="en-US"/>
          </a:p>
        </p:txBody>
      </p:sp>
    </p:spTree>
    <p:extLst>
      <p:ext uri="{BB962C8B-B14F-4D97-AF65-F5344CB8AC3E}">
        <p14:creationId xmlns:p14="http://schemas.microsoft.com/office/powerpoint/2010/main" val="1929897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4C906-2EF6-711C-297B-41A996B3A6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0FEBFC4-391C-DD05-59D7-CECE2F5B94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E7F649-933C-23D1-7463-0345B8F58568}"/>
              </a:ext>
            </a:extLst>
          </p:cNvPr>
          <p:cNvSpPr>
            <a:spLocks noGrp="1"/>
          </p:cNvSpPr>
          <p:nvPr>
            <p:ph type="dt" sz="half" idx="10"/>
          </p:nvPr>
        </p:nvSpPr>
        <p:spPr/>
        <p:txBody>
          <a:bodyPr/>
          <a:lstStyle/>
          <a:p>
            <a:fld id="{64718C33-25F3-AD46-8ECF-FDDAB320B00C}" type="datetimeFigureOut">
              <a:rPr lang="en-US" smtClean="0"/>
              <a:t>9/1/26</a:t>
            </a:fld>
            <a:endParaRPr lang="en-US"/>
          </a:p>
        </p:txBody>
      </p:sp>
      <p:sp>
        <p:nvSpPr>
          <p:cNvPr id="5" name="Footer Placeholder 4">
            <a:extLst>
              <a:ext uri="{FF2B5EF4-FFF2-40B4-BE49-F238E27FC236}">
                <a16:creationId xmlns:a16="http://schemas.microsoft.com/office/drawing/2014/main" id="{A947A4E4-1BAA-8121-07CA-04D99DA527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43D24A-B0FE-5661-96C5-AC0D374970AA}"/>
              </a:ext>
            </a:extLst>
          </p:cNvPr>
          <p:cNvSpPr>
            <a:spLocks noGrp="1"/>
          </p:cNvSpPr>
          <p:nvPr>
            <p:ph type="sldNum" sz="quarter" idx="12"/>
          </p:nvPr>
        </p:nvSpPr>
        <p:spPr/>
        <p:txBody>
          <a:bodyPr/>
          <a:lstStyle/>
          <a:p>
            <a:fld id="{F6FFC1E4-24A1-4D42-9731-A396AB69324F}" type="slidenum">
              <a:rPr lang="en-US" smtClean="0"/>
              <a:t>‹#›</a:t>
            </a:fld>
            <a:endParaRPr lang="en-US"/>
          </a:p>
        </p:txBody>
      </p:sp>
    </p:spTree>
    <p:extLst>
      <p:ext uri="{BB962C8B-B14F-4D97-AF65-F5344CB8AC3E}">
        <p14:creationId xmlns:p14="http://schemas.microsoft.com/office/powerpoint/2010/main" val="2082303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893530-30A1-BB4B-BF16-7CB8568EA7E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F97716-82D4-C015-437D-BFAF6B3B1D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CE24BF-26D4-13BB-A191-CA0B18B221ED}"/>
              </a:ext>
            </a:extLst>
          </p:cNvPr>
          <p:cNvSpPr>
            <a:spLocks noGrp="1"/>
          </p:cNvSpPr>
          <p:nvPr>
            <p:ph type="dt" sz="half" idx="10"/>
          </p:nvPr>
        </p:nvSpPr>
        <p:spPr/>
        <p:txBody>
          <a:bodyPr/>
          <a:lstStyle/>
          <a:p>
            <a:fld id="{64718C33-25F3-AD46-8ECF-FDDAB320B00C}" type="datetimeFigureOut">
              <a:rPr lang="en-US" smtClean="0"/>
              <a:t>9/1/26</a:t>
            </a:fld>
            <a:endParaRPr lang="en-US"/>
          </a:p>
        </p:txBody>
      </p:sp>
      <p:sp>
        <p:nvSpPr>
          <p:cNvPr id="5" name="Footer Placeholder 4">
            <a:extLst>
              <a:ext uri="{FF2B5EF4-FFF2-40B4-BE49-F238E27FC236}">
                <a16:creationId xmlns:a16="http://schemas.microsoft.com/office/drawing/2014/main" id="{1F9B3DBD-48F8-AA44-C9DC-24A3657ACE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C46B27-D3B7-E499-ECFD-BD58AEF1B929}"/>
              </a:ext>
            </a:extLst>
          </p:cNvPr>
          <p:cNvSpPr>
            <a:spLocks noGrp="1"/>
          </p:cNvSpPr>
          <p:nvPr>
            <p:ph type="sldNum" sz="quarter" idx="12"/>
          </p:nvPr>
        </p:nvSpPr>
        <p:spPr/>
        <p:txBody>
          <a:bodyPr/>
          <a:lstStyle/>
          <a:p>
            <a:fld id="{F6FFC1E4-24A1-4D42-9731-A396AB69324F}" type="slidenum">
              <a:rPr lang="en-US" smtClean="0"/>
              <a:t>‹#›</a:t>
            </a:fld>
            <a:endParaRPr lang="en-US"/>
          </a:p>
        </p:txBody>
      </p:sp>
    </p:spTree>
    <p:extLst>
      <p:ext uri="{BB962C8B-B14F-4D97-AF65-F5344CB8AC3E}">
        <p14:creationId xmlns:p14="http://schemas.microsoft.com/office/powerpoint/2010/main" val="31148080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2133"/>
              </a:spcBef>
              <a:spcAft>
                <a:spcPts val="0"/>
              </a:spcAft>
              <a:buSzPts val="1400"/>
              <a:buChar char="○"/>
              <a:defRPr/>
            </a:lvl2pPr>
            <a:lvl3pPr marL="1828754" lvl="2" indent="-423323" algn="l">
              <a:lnSpc>
                <a:spcPct val="115000"/>
              </a:lnSpc>
              <a:spcBef>
                <a:spcPts val="2133"/>
              </a:spcBef>
              <a:spcAft>
                <a:spcPts val="0"/>
              </a:spcAft>
              <a:buSzPts val="1400"/>
              <a:buChar char="■"/>
              <a:defRPr/>
            </a:lvl3pPr>
            <a:lvl4pPr marL="2438339" lvl="3" indent="-423323" algn="l">
              <a:lnSpc>
                <a:spcPct val="115000"/>
              </a:lnSpc>
              <a:spcBef>
                <a:spcPts val="2133"/>
              </a:spcBef>
              <a:spcAft>
                <a:spcPts val="0"/>
              </a:spcAft>
              <a:buSzPts val="1400"/>
              <a:buChar char="●"/>
              <a:defRPr/>
            </a:lvl4pPr>
            <a:lvl5pPr marL="3047924" lvl="4" indent="-423323" algn="l">
              <a:lnSpc>
                <a:spcPct val="115000"/>
              </a:lnSpc>
              <a:spcBef>
                <a:spcPts val="2133"/>
              </a:spcBef>
              <a:spcAft>
                <a:spcPts val="0"/>
              </a:spcAft>
              <a:buSzPts val="1400"/>
              <a:buChar char="○"/>
              <a:defRPr/>
            </a:lvl5pPr>
            <a:lvl6pPr marL="3657509" lvl="5" indent="-423323" algn="l">
              <a:lnSpc>
                <a:spcPct val="115000"/>
              </a:lnSpc>
              <a:spcBef>
                <a:spcPts val="2133"/>
              </a:spcBef>
              <a:spcAft>
                <a:spcPts val="0"/>
              </a:spcAft>
              <a:buSzPts val="1400"/>
              <a:buChar char="■"/>
              <a:defRPr/>
            </a:lvl6pPr>
            <a:lvl7pPr marL="4267093" lvl="6" indent="-423323" algn="l">
              <a:lnSpc>
                <a:spcPct val="115000"/>
              </a:lnSpc>
              <a:spcBef>
                <a:spcPts val="2133"/>
              </a:spcBef>
              <a:spcAft>
                <a:spcPts val="0"/>
              </a:spcAft>
              <a:buSzPts val="1400"/>
              <a:buChar char="●"/>
              <a:defRPr/>
            </a:lvl7pPr>
            <a:lvl8pPr marL="4876678" lvl="7" indent="-423323" algn="l">
              <a:lnSpc>
                <a:spcPct val="115000"/>
              </a:lnSpc>
              <a:spcBef>
                <a:spcPts val="2133"/>
              </a:spcBef>
              <a:spcAft>
                <a:spcPts val="0"/>
              </a:spcAft>
              <a:buSzPts val="1400"/>
              <a:buChar char="○"/>
              <a:defRPr/>
            </a:lvl8pPr>
            <a:lvl9pPr marL="5486263" lvl="8" indent="-423323" algn="l">
              <a:lnSpc>
                <a:spcPct val="115000"/>
              </a:lnSpc>
              <a:spcBef>
                <a:spcPts val="2133"/>
              </a:spcBef>
              <a:spcAft>
                <a:spcPts val="2133"/>
              </a:spcAft>
              <a:buSzPts val="1400"/>
              <a:buChar char="■"/>
              <a:defRPr/>
            </a:lvl9pPr>
          </a:lstStyle>
          <a:p>
            <a:endParaRPr/>
          </a:p>
        </p:txBody>
      </p:sp>
      <p:sp>
        <p:nvSpPr>
          <p:cNvPr id="16" name="Google Shape;16;p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13414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FC3FAC-EEF0-F68F-F090-33046CADB4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53F860-5D00-7299-B465-2224E11170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9D80C7-0AC5-9C97-D8AF-8ACEB889CE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718C33-25F3-AD46-8ECF-FDDAB320B00C}" type="datetimeFigureOut">
              <a:rPr lang="en-US" smtClean="0"/>
              <a:t>9/1/26</a:t>
            </a:fld>
            <a:endParaRPr lang="en-US"/>
          </a:p>
        </p:txBody>
      </p:sp>
      <p:sp>
        <p:nvSpPr>
          <p:cNvPr id="5" name="Footer Placeholder 4">
            <a:extLst>
              <a:ext uri="{FF2B5EF4-FFF2-40B4-BE49-F238E27FC236}">
                <a16:creationId xmlns:a16="http://schemas.microsoft.com/office/drawing/2014/main" id="{AD80795F-B4A2-DB03-6FE6-20BD88C466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CFAFD35-9279-22A9-3F8B-B37FF1A3CF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FFC1E4-24A1-4D42-9731-A396AB69324F}" type="slidenum">
              <a:rPr lang="en-US" smtClean="0"/>
              <a:t>‹#›</a:t>
            </a:fld>
            <a:endParaRPr lang="en-US"/>
          </a:p>
        </p:txBody>
      </p:sp>
    </p:spTree>
    <p:extLst>
      <p:ext uri="{BB962C8B-B14F-4D97-AF65-F5344CB8AC3E}">
        <p14:creationId xmlns:p14="http://schemas.microsoft.com/office/powerpoint/2010/main" val="11836503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B350E-05AE-7BE7-49EA-A94AA382FAFE}"/>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22506D30-0702-B5A9-7A80-BA9DAEB0207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52697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F1C52-5D3C-C755-7D46-3A5CC1DAE374}"/>
              </a:ext>
            </a:extLst>
          </p:cNvPr>
          <p:cNvSpPr>
            <a:spLocks noGrp="1"/>
          </p:cNvSpPr>
          <p:nvPr>
            <p:ph type="title"/>
          </p:nvPr>
        </p:nvSpPr>
        <p:spPr>
          <a:xfrm>
            <a:off x="289112" y="371849"/>
            <a:ext cx="6611562" cy="1325563"/>
          </a:xfrm>
        </p:spPr>
        <p:txBody>
          <a:bodyPr>
            <a:normAutofit fontScale="90000"/>
          </a:bodyPr>
          <a:lstStyle/>
          <a:p>
            <a:pPr algn="l"/>
            <a:r>
              <a:rPr lang="en-US" b="1" i="0" dirty="0">
                <a:solidFill>
                  <a:schemeClr val="tx1"/>
                </a:solidFill>
                <a:effectLst/>
                <a:latin typeface="Gill Sans MT" panose="020B0502020104020203" pitchFamily="34" charset="77"/>
              </a:rPr>
              <a:t>Brain Networks involved in Mindfulness Meditation</a:t>
            </a:r>
          </a:p>
        </p:txBody>
      </p:sp>
      <p:sp>
        <p:nvSpPr>
          <p:cNvPr id="3" name="Content Placeholder 2">
            <a:extLst>
              <a:ext uri="{FF2B5EF4-FFF2-40B4-BE49-F238E27FC236}">
                <a16:creationId xmlns:a16="http://schemas.microsoft.com/office/drawing/2014/main" id="{CA15FCF6-B2AB-6056-1768-55DFE0C77E2B}"/>
              </a:ext>
            </a:extLst>
          </p:cNvPr>
          <p:cNvSpPr>
            <a:spLocks noGrp="1"/>
          </p:cNvSpPr>
          <p:nvPr>
            <p:ph idx="1"/>
          </p:nvPr>
        </p:nvSpPr>
        <p:spPr>
          <a:xfrm>
            <a:off x="154642" y="2217131"/>
            <a:ext cx="6611562" cy="3525301"/>
          </a:xfrm>
        </p:spPr>
        <p:txBody>
          <a:bodyPr>
            <a:normAutofit/>
          </a:bodyPr>
          <a:lstStyle/>
          <a:p>
            <a:pPr marL="285750" indent="-285750"/>
            <a:r>
              <a:rPr lang="en-US" sz="3400" b="1" i="0" dirty="0">
                <a:solidFill>
                  <a:schemeClr val="tx1"/>
                </a:solidFill>
                <a:effectLst/>
                <a:latin typeface="Gill Sans MT" panose="020B0502020104020203" pitchFamily="34" charset="77"/>
              </a:rPr>
              <a:t>Triple Networks Model</a:t>
            </a:r>
          </a:p>
          <a:p>
            <a:pPr marL="0" indent="0">
              <a:buNone/>
            </a:pPr>
            <a:r>
              <a:rPr lang="en-US" sz="2400" b="0" i="0" dirty="0">
                <a:solidFill>
                  <a:schemeClr val="tx1"/>
                </a:solidFill>
                <a:effectLst/>
                <a:latin typeface="Gill Sans MT" panose="020B0502020104020203" pitchFamily="34" charset="77"/>
              </a:rPr>
              <a:t>Consist of:</a:t>
            </a:r>
            <a:endParaRPr lang="en-US" b="0" i="0" dirty="0">
              <a:solidFill>
                <a:schemeClr val="tx1"/>
              </a:solidFill>
              <a:effectLst/>
              <a:latin typeface="Gill Sans MT" panose="020B0502020104020203" pitchFamily="34" charset="77"/>
            </a:endParaRPr>
          </a:p>
          <a:p>
            <a:pPr marL="742950" lvl="1" indent="-285750"/>
            <a:r>
              <a:rPr lang="en-US" b="0" i="0" dirty="0">
                <a:solidFill>
                  <a:srgbClr val="2000FF"/>
                </a:solidFill>
                <a:effectLst/>
                <a:latin typeface="Gill Sans MT" panose="020B0502020104020203" pitchFamily="34" charset="77"/>
              </a:rPr>
              <a:t>Default Mode Network (DMN)</a:t>
            </a:r>
          </a:p>
          <a:p>
            <a:pPr marL="742950" lvl="1" indent="-285750"/>
            <a:r>
              <a:rPr lang="en-US" b="0" i="0" dirty="0">
                <a:solidFill>
                  <a:srgbClr val="00B050"/>
                </a:solidFill>
                <a:effectLst/>
                <a:latin typeface="Gill Sans MT" panose="020B0502020104020203" pitchFamily="34" charset="77"/>
              </a:rPr>
              <a:t>Salience Network (SN)</a:t>
            </a:r>
          </a:p>
          <a:p>
            <a:pPr marL="742950" lvl="1" indent="-285750"/>
            <a:r>
              <a:rPr lang="en-US" b="0" i="0" dirty="0">
                <a:solidFill>
                  <a:srgbClr val="C00000"/>
                </a:solidFill>
                <a:effectLst/>
                <a:latin typeface="Gill Sans MT" panose="020B0502020104020203" pitchFamily="34" charset="77"/>
              </a:rPr>
              <a:t>Central Executive Network (CEN</a:t>
            </a:r>
            <a:endParaRPr lang="en-US" b="0" i="0" dirty="0">
              <a:solidFill>
                <a:schemeClr val="tx1"/>
              </a:solidFill>
              <a:effectLst/>
              <a:latin typeface="Gill Sans MT" panose="020B0502020104020203" pitchFamily="34" charset="77"/>
            </a:endParaRPr>
          </a:p>
          <a:p>
            <a:pPr marL="0" indent="0" algn="r">
              <a:lnSpc>
                <a:spcPct val="100000"/>
              </a:lnSpc>
              <a:buNone/>
            </a:pPr>
            <a:r>
              <a:rPr lang="en-US" sz="1600" b="0" i="0" dirty="0">
                <a:solidFill>
                  <a:schemeClr val="tx1"/>
                </a:solidFill>
                <a:effectLst/>
                <a:latin typeface="Gill Sans MT" panose="020B0502020104020203" pitchFamily="34" charset="77"/>
              </a:rPr>
              <a:t>Fox et al., 2005, Buckner et al., 2008, Christoff et al., 2009, </a:t>
            </a:r>
          </a:p>
          <a:p>
            <a:pPr marL="0" indent="0" algn="r">
              <a:lnSpc>
                <a:spcPct val="100000"/>
              </a:lnSpc>
              <a:buNone/>
            </a:pPr>
            <a:r>
              <a:rPr lang="en-US" sz="1600" b="0" i="0" dirty="0">
                <a:solidFill>
                  <a:schemeClr val="tx1"/>
                </a:solidFill>
                <a:effectLst/>
                <a:latin typeface="Gill Sans MT" panose="020B0502020104020203" pitchFamily="34" charset="77"/>
              </a:rPr>
              <a:t>Menon et al. 2011, Hellyer et al., 2014.</a:t>
            </a:r>
          </a:p>
        </p:txBody>
      </p:sp>
      <p:pic>
        <p:nvPicPr>
          <p:cNvPr id="3075" name="Picture 2" descr="A picture containing medical imaging, radiology, x-ray film&#10;&#10;Description automatically generated">
            <a:extLst>
              <a:ext uri="{FF2B5EF4-FFF2-40B4-BE49-F238E27FC236}">
                <a16:creationId xmlns:a16="http://schemas.microsoft.com/office/drawing/2014/main" id="{A050C04C-B7A5-AF25-CB64-F145D20BA8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7498" y="3826750"/>
            <a:ext cx="4346448" cy="175761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1" descr="A picture containing medical imaging, radiology, medical, radiography&#10;&#10;Description automatically generated">
            <a:extLst>
              <a:ext uri="{FF2B5EF4-FFF2-40B4-BE49-F238E27FC236}">
                <a16:creationId xmlns:a16="http://schemas.microsoft.com/office/drawing/2014/main" id="{AA11A168-8382-9ED1-3E05-95F05FA158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7498" y="365125"/>
            <a:ext cx="4346448" cy="1757618"/>
          </a:xfrm>
          <a:prstGeom prst="rect">
            <a:avLst/>
          </a:prstGeom>
          <a:noFill/>
          <a:extLst>
            <a:ext uri="{909E8E84-426E-40DD-AFC4-6F175D3DCCD1}">
              <a14:hiddenFill xmlns:a14="http://schemas.microsoft.com/office/drawing/2010/main">
                <a:solidFill>
                  <a:srgbClr val="FFFFFF"/>
                </a:solidFill>
              </a14:hiddenFill>
            </a:ext>
          </a:extLst>
        </p:spPr>
      </p:pic>
      <p:pic>
        <p:nvPicPr>
          <p:cNvPr id="3073" name="Picture 3" descr="A picture containing medical imaging, radiology, medical, radiography&#10;&#10;Description automatically generated">
            <a:extLst>
              <a:ext uri="{FF2B5EF4-FFF2-40B4-BE49-F238E27FC236}">
                <a16:creationId xmlns:a16="http://schemas.microsoft.com/office/drawing/2014/main" id="{962C259B-24FA-8F95-9E4E-3A28959DD8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7498" y="2076958"/>
            <a:ext cx="4346448" cy="174949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5D6D8FB0-6192-8AE7-2E05-89C38FC7F1F9}"/>
              </a:ext>
            </a:extLst>
          </p:cNvPr>
          <p:cNvSpPr>
            <a:spLocks noChangeArrowheads="1"/>
          </p:cNvSpPr>
          <p:nvPr/>
        </p:nvSpPr>
        <p:spPr bwMode="auto">
          <a:xfrm>
            <a:off x="8164106" y="-355619"/>
            <a:ext cx="9934917" cy="119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5" name="Rectangle 5">
            <a:extLst>
              <a:ext uri="{FF2B5EF4-FFF2-40B4-BE49-F238E27FC236}">
                <a16:creationId xmlns:a16="http://schemas.microsoft.com/office/drawing/2014/main" id="{A348CC86-1A28-A7F5-6B5F-5CB57885C3F1}"/>
              </a:ext>
            </a:extLst>
          </p:cNvPr>
          <p:cNvSpPr>
            <a:spLocks noChangeArrowheads="1"/>
          </p:cNvSpPr>
          <p:nvPr/>
        </p:nvSpPr>
        <p:spPr bwMode="auto">
          <a:xfrm>
            <a:off x="7348728" y="5584368"/>
            <a:ext cx="48432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Gill Sans MT" panose="020B0502020104020203" pitchFamily="34" charset="77"/>
                <a:ea typeface="Times New Roman" panose="02020603050405020304" pitchFamily="18" charset="0"/>
              </a:rPr>
              <a:t>Triple networks. </a:t>
            </a:r>
            <a:r>
              <a:rPr kumimoji="0" lang="en-US" altLang="en-US" sz="1200" b="0" i="0" u="none" strike="noStrike" cap="none" normalizeH="0" baseline="0" dirty="0">
                <a:ln>
                  <a:noFill/>
                </a:ln>
                <a:solidFill>
                  <a:srgbClr val="000000"/>
                </a:solidFill>
                <a:effectLst/>
                <a:latin typeface="Gill Sans MT" panose="020B0502020104020203" pitchFamily="34" charset="77"/>
                <a:ea typeface="Times New Roman" panose="02020603050405020304" pitchFamily="18" charset="0"/>
              </a:rPr>
              <a:t>Default-mode network, in blue; Salience network, in green, Central executive network, in red; </a:t>
            </a:r>
            <a:endParaRPr kumimoji="0" lang="en-US" altLang="en-US" sz="1200" b="0" i="0" u="none" strike="noStrike" cap="none" normalizeH="0" baseline="0" dirty="0">
              <a:ln>
                <a:noFill/>
              </a:ln>
              <a:solidFill>
                <a:schemeClr val="tx1"/>
              </a:solidFill>
              <a:effectLst/>
              <a:latin typeface="Gill Sans MT" panose="020B0502020104020203" pitchFamily="34" charset="77"/>
            </a:endParaRPr>
          </a:p>
        </p:txBody>
      </p:sp>
    </p:spTree>
    <p:extLst>
      <p:ext uri="{BB962C8B-B14F-4D97-AF65-F5344CB8AC3E}">
        <p14:creationId xmlns:p14="http://schemas.microsoft.com/office/powerpoint/2010/main" val="2787651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F1C52-5D3C-C755-7D46-3A5CC1DAE374}"/>
              </a:ext>
            </a:extLst>
          </p:cNvPr>
          <p:cNvSpPr>
            <a:spLocks noGrp="1"/>
          </p:cNvSpPr>
          <p:nvPr>
            <p:ph type="title"/>
          </p:nvPr>
        </p:nvSpPr>
        <p:spPr>
          <a:xfrm>
            <a:off x="107577" y="371849"/>
            <a:ext cx="11246224" cy="1325563"/>
          </a:xfrm>
        </p:spPr>
        <p:txBody>
          <a:bodyPr>
            <a:noAutofit/>
          </a:bodyPr>
          <a:lstStyle/>
          <a:p>
            <a:pPr marL="742950" lvl="1" indent="-285750"/>
            <a:r>
              <a:rPr lang="en-US" sz="4000" b="1" i="0" dirty="0">
                <a:solidFill>
                  <a:schemeClr val="tx1"/>
                </a:solidFill>
                <a:effectLst/>
                <a:latin typeface="Gill Sans MT" panose="020B0502020104020203" pitchFamily="34" charset="77"/>
              </a:rPr>
              <a:t>Default Mode Network (DMN)</a:t>
            </a:r>
          </a:p>
        </p:txBody>
      </p:sp>
      <p:sp>
        <p:nvSpPr>
          <p:cNvPr id="3" name="Content Placeholder 2">
            <a:extLst>
              <a:ext uri="{FF2B5EF4-FFF2-40B4-BE49-F238E27FC236}">
                <a16:creationId xmlns:a16="http://schemas.microsoft.com/office/drawing/2014/main" id="{CA15FCF6-B2AB-6056-1768-55DFE0C77E2B}"/>
              </a:ext>
            </a:extLst>
          </p:cNvPr>
          <p:cNvSpPr>
            <a:spLocks noGrp="1"/>
          </p:cNvSpPr>
          <p:nvPr>
            <p:ph idx="1"/>
          </p:nvPr>
        </p:nvSpPr>
        <p:spPr>
          <a:xfrm>
            <a:off x="-64515" y="1801241"/>
            <a:ext cx="6635496" cy="4351338"/>
          </a:xfrm>
        </p:spPr>
        <p:txBody>
          <a:bodyPr>
            <a:normAutofit/>
          </a:bodyPr>
          <a:lstStyle/>
          <a:p>
            <a:pPr lvl="1"/>
            <a:r>
              <a:rPr lang="en-US" b="0" i="0" dirty="0">
                <a:solidFill>
                  <a:schemeClr val="tx1"/>
                </a:solidFill>
                <a:effectLst/>
                <a:latin typeface="Gill Sans MT" panose="020B0502020104020203" pitchFamily="34" charset="77"/>
              </a:rPr>
              <a:t>Associated with </a:t>
            </a:r>
            <a:r>
              <a:rPr lang="en-US" b="1" i="0" dirty="0">
                <a:solidFill>
                  <a:schemeClr val="tx1"/>
                </a:solidFill>
                <a:effectLst/>
                <a:latin typeface="Gill Sans MT" panose="020B0502020104020203" pitchFamily="34" charset="77"/>
              </a:rPr>
              <a:t>mind-wandering</a:t>
            </a:r>
            <a:r>
              <a:rPr lang="en-US" b="0" i="0" dirty="0">
                <a:solidFill>
                  <a:schemeClr val="tx1"/>
                </a:solidFill>
                <a:effectLst/>
                <a:latin typeface="Gill Sans MT" panose="020B0502020104020203" pitchFamily="34" charset="77"/>
              </a:rPr>
              <a:t> and </a:t>
            </a:r>
            <a:r>
              <a:rPr lang="en-US" b="1" i="0" dirty="0">
                <a:solidFill>
                  <a:schemeClr val="tx1"/>
                </a:solidFill>
                <a:effectLst/>
                <a:latin typeface="Gill Sans MT" panose="020B0502020104020203" pitchFamily="34" charset="77"/>
              </a:rPr>
              <a:t>inattention</a:t>
            </a:r>
            <a:r>
              <a:rPr lang="en-US" b="0" i="0" dirty="0">
                <a:solidFill>
                  <a:schemeClr val="tx1"/>
                </a:solidFill>
                <a:effectLst/>
                <a:latin typeface="Gill Sans MT" panose="020B0502020104020203" pitchFamily="34" charset="77"/>
              </a:rPr>
              <a:t> to the present moment</a:t>
            </a:r>
          </a:p>
          <a:p>
            <a:pPr marL="742950" lvl="1" indent="-285750" algn="l">
              <a:buFont typeface="Arial" panose="020B0604020202020204" pitchFamily="34" charset="0"/>
              <a:buChar char="•"/>
            </a:pPr>
            <a:r>
              <a:rPr lang="en-US" b="1" i="0" dirty="0">
                <a:solidFill>
                  <a:schemeClr val="tx1"/>
                </a:solidFill>
                <a:effectLst/>
                <a:latin typeface="Gill Sans MT" panose="020B0502020104020203" pitchFamily="34" charset="77"/>
              </a:rPr>
              <a:t>Deactivated</a:t>
            </a:r>
            <a:r>
              <a:rPr lang="en-US" b="0" i="0" dirty="0">
                <a:solidFill>
                  <a:schemeClr val="tx1"/>
                </a:solidFill>
                <a:effectLst/>
                <a:latin typeface="Gill Sans MT" panose="020B0502020104020203" pitchFamily="34" charset="77"/>
              </a:rPr>
              <a:t> during attention-demanding tasks</a:t>
            </a:r>
          </a:p>
          <a:p>
            <a:pPr marL="742950" lvl="1" indent="-285750" algn="l">
              <a:buFont typeface="Arial" panose="020B0604020202020204" pitchFamily="34" charset="0"/>
              <a:buChar char="•"/>
            </a:pPr>
            <a:r>
              <a:rPr lang="en-US" b="0" i="0" dirty="0">
                <a:solidFill>
                  <a:schemeClr val="tx1"/>
                </a:solidFill>
                <a:effectLst/>
                <a:latin typeface="Gill Sans MT" panose="020B0502020104020203" pitchFamily="34" charset="77"/>
              </a:rPr>
              <a:t>Key regions include</a:t>
            </a:r>
          </a:p>
          <a:p>
            <a:pPr marL="1200150" lvl="2" indent="-285750"/>
            <a:r>
              <a:rPr lang="en-US" b="0" i="0" dirty="0">
                <a:solidFill>
                  <a:schemeClr val="tx1"/>
                </a:solidFill>
                <a:effectLst/>
                <a:latin typeface="Gill Sans MT" panose="020B0502020104020203" pitchFamily="34" charset="77"/>
              </a:rPr>
              <a:t>Precuneus/posterior cingulate cortex (PCC)</a:t>
            </a:r>
          </a:p>
          <a:p>
            <a:pPr marL="1200150" lvl="2" indent="-285750"/>
            <a:r>
              <a:rPr lang="en-US" b="0" i="0" dirty="0">
                <a:solidFill>
                  <a:schemeClr val="tx1"/>
                </a:solidFill>
                <a:effectLst/>
                <a:latin typeface="Gill Sans MT" panose="020B0502020104020203" pitchFamily="34" charset="77"/>
              </a:rPr>
              <a:t>inferior parietal lobule</a:t>
            </a:r>
            <a:endParaRPr lang="en-US" dirty="0">
              <a:solidFill>
                <a:schemeClr val="tx1"/>
              </a:solidFill>
              <a:latin typeface="Gill Sans MT" panose="020B0502020104020203" pitchFamily="34" charset="77"/>
            </a:endParaRPr>
          </a:p>
          <a:p>
            <a:pPr marL="1200150" lvl="2" indent="-285750"/>
            <a:r>
              <a:rPr lang="en-US" b="0" i="0" dirty="0">
                <a:solidFill>
                  <a:schemeClr val="tx1"/>
                </a:solidFill>
                <a:effectLst/>
                <a:latin typeface="Gill Sans MT" panose="020B0502020104020203" pitchFamily="34" charset="77"/>
              </a:rPr>
              <a:t>medial prefrontal cortex (MPFC)</a:t>
            </a:r>
          </a:p>
          <a:p>
            <a:pPr marL="1200150" lvl="2" indent="-285750"/>
            <a:r>
              <a:rPr lang="en-US" dirty="0">
                <a:solidFill>
                  <a:schemeClr val="tx1"/>
                </a:solidFill>
                <a:latin typeface="Gill Sans MT" panose="020B0502020104020203" pitchFamily="34" charset="77"/>
              </a:rPr>
              <a:t>Hippocampal formations</a:t>
            </a:r>
          </a:p>
          <a:p>
            <a:pPr marL="1200150" lvl="2" indent="-285750"/>
            <a:r>
              <a:rPr lang="en-US" b="0" i="0" dirty="0">
                <a:solidFill>
                  <a:schemeClr val="tx1"/>
                </a:solidFill>
                <a:effectLst/>
                <a:latin typeface="Gill Sans MT" panose="020B0502020104020203" pitchFamily="34" charset="77"/>
              </a:rPr>
              <a:t>Temporal corti</a:t>
            </a:r>
            <a:r>
              <a:rPr lang="en-US" dirty="0">
                <a:solidFill>
                  <a:schemeClr val="tx1"/>
                </a:solidFill>
                <a:latin typeface="Gill Sans MT" panose="020B0502020104020203" pitchFamily="34" charset="77"/>
              </a:rPr>
              <a:t>ces</a:t>
            </a:r>
            <a:endParaRPr lang="en-US" b="0" i="0" dirty="0">
              <a:solidFill>
                <a:schemeClr val="tx1"/>
              </a:solidFill>
              <a:effectLst/>
              <a:latin typeface="Gill Sans MT" panose="020B0502020104020203" pitchFamily="34" charset="77"/>
            </a:endParaRPr>
          </a:p>
          <a:p>
            <a:pPr marL="457200" lvl="1" indent="0" algn="r">
              <a:buNone/>
            </a:pPr>
            <a:r>
              <a:rPr lang="en-US" sz="1800" b="0" i="0" dirty="0" err="1">
                <a:solidFill>
                  <a:schemeClr val="tx1"/>
                </a:solidFill>
                <a:effectLst/>
                <a:latin typeface="Gill Sans MT" panose="020B0502020104020203" pitchFamily="34" charset="77"/>
              </a:rPr>
              <a:t>Raichle</a:t>
            </a:r>
            <a:r>
              <a:rPr lang="en-US" sz="1800" b="0" i="0" dirty="0">
                <a:solidFill>
                  <a:schemeClr val="tx1"/>
                </a:solidFill>
                <a:effectLst/>
                <a:latin typeface="Gill Sans MT" panose="020B0502020104020203" pitchFamily="34" charset="77"/>
              </a:rPr>
              <a:t> et al., 2001; </a:t>
            </a:r>
            <a:r>
              <a:rPr lang="en-US" sz="1800" b="0" i="0" dirty="0" err="1">
                <a:solidFill>
                  <a:schemeClr val="tx1"/>
                </a:solidFill>
                <a:effectLst/>
                <a:latin typeface="Gill Sans MT" panose="020B0502020104020203" pitchFamily="34" charset="77"/>
              </a:rPr>
              <a:t>Gusnard</a:t>
            </a:r>
            <a:r>
              <a:rPr lang="en-US" sz="1800" b="0" i="0" dirty="0">
                <a:solidFill>
                  <a:schemeClr val="tx1"/>
                </a:solidFill>
                <a:effectLst/>
                <a:latin typeface="Gill Sans MT" panose="020B0502020104020203" pitchFamily="34" charset="77"/>
              </a:rPr>
              <a:t> &amp; </a:t>
            </a:r>
            <a:r>
              <a:rPr lang="en-US" sz="1800" b="0" i="0" dirty="0" err="1">
                <a:solidFill>
                  <a:schemeClr val="tx1"/>
                </a:solidFill>
                <a:effectLst/>
                <a:latin typeface="Gill Sans MT" panose="020B0502020104020203" pitchFamily="34" charset="77"/>
              </a:rPr>
              <a:t>Raichle</a:t>
            </a:r>
            <a:r>
              <a:rPr lang="en-US" sz="1800" b="0" i="0" dirty="0">
                <a:solidFill>
                  <a:schemeClr val="tx1"/>
                </a:solidFill>
                <a:effectLst/>
                <a:latin typeface="Gill Sans MT" panose="020B0502020104020203" pitchFamily="34" charset="77"/>
              </a:rPr>
              <a:t>, 2001; Kelley et al., 2002; </a:t>
            </a:r>
            <a:r>
              <a:rPr lang="en-US" sz="1800" b="0" i="0" dirty="0" err="1">
                <a:solidFill>
                  <a:schemeClr val="tx1"/>
                </a:solidFill>
                <a:effectLst/>
                <a:latin typeface="Gill Sans MT" panose="020B0502020104020203" pitchFamily="34" charset="77"/>
              </a:rPr>
              <a:t>Northoff</a:t>
            </a:r>
            <a:r>
              <a:rPr lang="en-US" sz="1800" b="0" i="0" dirty="0">
                <a:solidFill>
                  <a:schemeClr val="tx1"/>
                </a:solidFill>
                <a:effectLst/>
                <a:latin typeface="Gill Sans MT" panose="020B0502020104020203" pitchFamily="34" charset="77"/>
              </a:rPr>
              <a:t> et al., 2006; </a:t>
            </a:r>
            <a:r>
              <a:rPr lang="en-US" sz="1800" b="0" i="0" dirty="0" err="1">
                <a:solidFill>
                  <a:schemeClr val="tx1"/>
                </a:solidFill>
                <a:effectLst/>
                <a:latin typeface="Gill Sans MT" panose="020B0502020104020203" pitchFamily="34" charset="77"/>
              </a:rPr>
              <a:t>Sajonz</a:t>
            </a:r>
            <a:r>
              <a:rPr lang="en-US" sz="1800" b="0" i="0" dirty="0">
                <a:solidFill>
                  <a:schemeClr val="tx1"/>
                </a:solidFill>
                <a:effectLst/>
                <a:latin typeface="Gill Sans MT" panose="020B0502020104020203" pitchFamily="34" charset="77"/>
              </a:rPr>
              <a:t> et al., 2010</a:t>
            </a:r>
          </a:p>
          <a:p>
            <a:pPr marL="457200" lvl="1" indent="0" algn="l">
              <a:buNone/>
            </a:pPr>
            <a:endParaRPr lang="en-US" b="0" i="0" dirty="0">
              <a:solidFill>
                <a:schemeClr val="tx1"/>
              </a:solidFill>
              <a:effectLst/>
              <a:latin typeface="Gill Sans MT" panose="020B0502020104020203" pitchFamily="34" charset="77"/>
            </a:endParaRPr>
          </a:p>
        </p:txBody>
      </p:sp>
      <p:pic>
        <p:nvPicPr>
          <p:cNvPr id="7" name="Picture 6">
            <a:extLst>
              <a:ext uri="{FF2B5EF4-FFF2-40B4-BE49-F238E27FC236}">
                <a16:creationId xmlns:a16="http://schemas.microsoft.com/office/drawing/2014/main" id="{0CA4FC92-AED8-DABB-8B55-4D1E81859106}"/>
              </a:ext>
            </a:extLst>
          </p:cNvPr>
          <p:cNvPicPr>
            <a:picLocks noChangeAspect="1"/>
          </p:cNvPicPr>
          <p:nvPr/>
        </p:nvPicPr>
        <p:blipFill rotWithShape="1">
          <a:blip r:embed="rId3"/>
          <a:srcRect r="34258"/>
          <a:stretch/>
        </p:blipFill>
        <p:spPr>
          <a:xfrm>
            <a:off x="6607557" y="1690688"/>
            <a:ext cx="5108955" cy="2432304"/>
          </a:xfrm>
          <a:prstGeom prst="rect">
            <a:avLst/>
          </a:prstGeom>
        </p:spPr>
      </p:pic>
      <p:pic>
        <p:nvPicPr>
          <p:cNvPr id="8" name="Picture 7">
            <a:extLst>
              <a:ext uri="{FF2B5EF4-FFF2-40B4-BE49-F238E27FC236}">
                <a16:creationId xmlns:a16="http://schemas.microsoft.com/office/drawing/2014/main" id="{717F65F2-02F7-2B3F-381E-2D9137106CE9}"/>
              </a:ext>
            </a:extLst>
          </p:cNvPr>
          <p:cNvPicPr>
            <a:picLocks noChangeAspect="1"/>
          </p:cNvPicPr>
          <p:nvPr/>
        </p:nvPicPr>
        <p:blipFill rotWithShape="1">
          <a:blip r:embed="rId3"/>
          <a:srcRect l="75148" r="-2054"/>
          <a:stretch/>
        </p:blipFill>
        <p:spPr>
          <a:xfrm>
            <a:off x="7949184" y="3976910"/>
            <a:ext cx="2090928" cy="2432304"/>
          </a:xfrm>
          <a:prstGeom prst="rect">
            <a:avLst/>
          </a:prstGeom>
        </p:spPr>
      </p:pic>
    </p:spTree>
    <p:extLst>
      <p:ext uri="{BB962C8B-B14F-4D97-AF65-F5344CB8AC3E}">
        <p14:creationId xmlns:p14="http://schemas.microsoft.com/office/powerpoint/2010/main" val="1378047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0099D-6598-2DA4-BF77-3628B888BB9C}"/>
              </a:ext>
            </a:extLst>
          </p:cNvPr>
          <p:cNvSpPr>
            <a:spLocks noGrp="1"/>
          </p:cNvSpPr>
          <p:nvPr>
            <p:ph type="title"/>
          </p:nvPr>
        </p:nvSpPr>
        <p:spPr>
          <a:xfrm>
            <a:off x="73959" y="365125"/>
            <a:ext cx="11279841" cy="1325563"/>
          </a:xfrm>
        </p:spPr>
        <p:txBody>
          <a:bodyPr>
            <a:noAutofit/>
          </a:bodyPr>
          <a:lstStyle/>
          <a:p>
            <a:pPr marL="742950" lvl="1" indent="-285750"/>
            <a:r>
              <a:rPr lang="en-US" sz="4000" b="1" i="0" dirty="0">
                <a:solidFill>
                  <a:schemeClr val="tx1"/>
                </a:solidFill>
                <a:effectLst/>
                <a:latin typeface="Gill Sans MT" panose="020B0502020104020203" pitchFamily="34" charset="77"/>
              </a:rPr>
              <a:t>Salience Network (SN)</a:t>
            </a:r>
          </a:p>
        </p:txBody>
      </p:sp>
      <p:sp>
        <p:nvSpPr>
          <p:cNvPr id="3" name="Content Placeholder 2">
            <a:extLst>
              <a:ext uri="{FF2B5EF4-FFF2-40B4-BE49-F238E27FC236}">
                <a16:creationId xmlns:a16="http://schemas.microsoft.com/office/drawing/2014/main" id="{727EB0B1-CA59-27FE-5AEC-E342AB3515AB}"/>
              </a:ext>
            </a:extLst>
          </p:cNvPr>
          <p:cNvSpPr>
            <a:spLocks noGrp="1"/>
          </p:cNvSpPr>
          <p:nvPr>
            <p:ph idx="1"/>
          </p:nvPr>
        </p:nvSpPr>
        <p:spPr>
          <a:xfrm>
            <a:off x="838200" y="1825625"/>
            <a:ext cx="5367528" cy="4351338"/>
          </a:xfrm>
        </p:spPr>
        <p:txBody>
          <a:bodyPr>
            <a:normAutofit fontScale="85000" lnSpcReduction="20000"/>
          </a:bodyPr>
          <a:lstStyle/>
          <a:p>
            <a:pPr marL="285750" indent="-285750"/>
            <a:r>
              <a:rPr lang="en-US" b="0" i="0" dirty="0">
                <a:solidFill>
                  <a:schemeClr val="tx1"/>
                </a:solidFill>
                <a:effectLst/>
                <a:latin typeface="Gill Sans MT" panose="020B0502020104020203" pitchFamily="34" charset="77"/>
              </a:rPr>
              <a:t>Involved in </a:t>
            </a:r>
            <a:r>
              <a:rPr lang="en-US" b="1" i="1" dirty="0">
                <a:solidFill>
                  <a:schemeClr val="tx1"/>
                </a:solidFill>
                <a:effectLst/>
                <a:latin typeface="Gill Sans MT" panose="020B0502020104020203" pitchFamily="34" charset="77"/>
              </a:rPr>
              <a:t>stimulus-driven attention </a:t>
            </a:r>
            <a:r>
              <a:rPr lang="en-US" b="0" i="1" dirty="0">
                <a:solidFill>
                  <a:schemeClr val="tx1"/>
                </a:solidFill>
                <a:effectLst/>
                <a:latin typeface="Gill Sans MT" panose="020B0502020104020203" pitchFamily="34" charset="77"/>
              </a:rPr>
              <a:t>and </a:t>
            </a:r>
            <a:r>
              <a:rPr lang="en-US" b="1" i="1" dirty="0">
                <a:solidFill>
                  <a:schemeClr val="tx1"/>
                </a:solidFill>
                <a:effectLst/>
                <a:latin typeface="Gill Sans MT" panose="020B0502020104020203" pitchFamily="34" charset="77"/>
              </a:rPr>
              <a:t>salience detection</a:t>
            </a:r>
          </a:p>
          <a:p>
            <a:pPr algn="l">
              <a:buFont typeface="Arial" panose="020B0604020202020204" pitchFamily="34" charset="0"/>
              <a:buChar char="•"/>
            </a:pPr>
            <a:r>
              <a:rPr lang="en-US" b="0" i="0" dirty="0">
                <a:solidFill>
                  <a:schemeClr val="tx1"/>
                </a:solidFill>
                <a:effectLst/>
                <a:latin typeface="Gill Sans MT" panose="020B0502020104020203" pitchFamily="34" charset="77"/>
              </a:rPr>
              <a:t>Thought as a </a:t>
            </a:r>
            <a:r>
              <a:rPr lang="en-US" b="1" i="1" dirty="0">
                <a:solidFill>
                  <a:schemeClr val="tx1"/>
                </a:solidFill>
                <a:effectLst/>
                <a:latin typeface="Gill Sans MT" panose="020B0502020104020203" pitchFamily="34" charset="77"/>
              </a:rPr>
              <a:t>switch</a:t>
            </a:r>
            <a:r>
              <a:rPr lang="en-US" b="0" i="0" dirty="0">
                <a:solidFill>
                  <a:schemeClr val="tx1"/>
                </a:solidFill>
                <a:effectLst/>
                <a:latin typeface="Gill Sans MT" panose="020B0502020104020203" pitchFamily="34" charset="77"/>
              </a:rPr>
              <a:t> between:</a:t>
            </a:r>
          </a:p>
          <a:p>
            <a:pPr lvl="1"/>
            <a:r>
              <a:rPr lang="en-US" b="1" i="0" dirty="0">
                <a:solidFill>
                  <a:schemeClr val="tx1"/>
                </a:solidFill>
                <a:effectLst/>
                <a:latin typeface="Gill Sans MT" panose="020B0502020104020203" pitchFamily="34" charset="77"/>
              </a:rPr>
              <a:t>internally focused </a:t>
            </a:r>
            <a:r>
              <a:rPr lang="en-US" b="0" i="0" dirty="0">
                <a:solidFill>
                  <a:schemeClr val="tx1"/>
                </a:solidFill>
                <a:effectLst/>
                <a:latin typeface="Gill Sans MT" panose="020B0502020104020203" pitchFamily="34" charset="77"/>
              </a:rPr>
              <a:t>attention</a:t>
            </a:r>
          </a:p>
          <a:p>
            <a:pPr lvl="2"/>
            <a:r>
              <a:rPr lang="en-US" b="0" i="0" dirty="0">
                <a:solidFill>
                  <a:schemeClr val="tx1"/>
                </a:solidFill>
                <a:effectLst/>
                <a:latin typeface="Gill Sans MT" panose="020B0502020104020203" pitchFamily="34" charset="77"/>
              </a:rPr>
              <a:t>mediated by the DMN</a:t>
            </a:r>
          </a:p>
          <a:p>
            <a:pPr lvl="1"/>
            <a:r>
              <a:rPr lang="en-US" b="0" i="0" dirty="0">
                <a:solidFill>
                  <a:schemeClr val="tx1"/>
                </a:solidFill>
                <a:effectLst/>
                <a:latin typeface="Gill Sans MT" panose="020B0502020104020203" pitchFamily="34" charset="77"/>
              </a:rPr>
              <a:t>and </a:t>
            </a:r>
            <a:r>
              <a:rPr lang="en-US" b="1" i="0" dirty="0">
                <a:solidFill>
                  <a:schemeClr val="tx1"/>
                </a:solidFill>
                <a:effectLst/>
                <a:latin typeface="Gill Sans MT" panose="020B0502020104020203" pitchFamily="34" charset="77"/>
              </a:rPr>
              <a:t>externally focused </a:t>
            </a:r>
            <a:r>
              <a:rPr lang="en-US" b="0" i="0" dirty="0">
                <a:solidFill>
                  <a:schemeClr val="tx1"/>
                </a:solidFill>
                <a:effectLst/>
                <a:latin typeface="Gill Sans MT" panose="020B0502020104020203" pitchFamily="34" charset="77"/>
              </a:rPr>
              <a:t>attention </a:t>
            </a:r>
          </a:p>
          <a:p>
            <a:pPr lvl="2"/>
            <a:r>
              <a:rPr lang="en-US" b="0" i="0" dirty="0">
                <a:solidFill>
                  <a:schemeClr val="tx1"/>
                </a:solidFill>
                <a:effectLst/>
                <a:latin typeface="Gill Sans MT" panose="020B0502020104020203" pitchFamily="34" charset="77"/>
              </a:rPr>
              <a:t>mediated by the CEN</a:t>
            </a:r>
          </a:p>
          <a:p>
            <a:pPr marL="285750" indent="-285750"/>
            <a:r>
              <a:rPr lang="en-US" b="0" i="0" dirty="0">
                <a:solidFill>
                  <a:schemeClr val="tx1"/>
                </a:solidFill>
                <a:effectLst/>
                <a:latin typeface="Gill Sans MT" panose="020B0502020104020203" pitchFamily="34" charset="77"/>
              </a:rPr>
              <a:t>Composed of</a:t>
            </a:r>
          </a:p>
          <a:p>
            <a:pPr marL="742950" lvl="1" indent="-285750"/>
            <a:r>
              <a:rPr lang="en-US" b="0" i="0" dirty="0">
                <a:solidFill>
                  <a:schemeClr val="tx1"/>
                </a:solidFill>
                <a:effectLst/>
                <a:latin typeface="Gill Sans MT" panose="020B0502020104020203" pitchFamily="34" charset="77"/>
              </a:rPr>
              <a:t>Insula</a:t>
            </a:r>
          </a:p>
          <a:p>
            <a:pPr marL="742950" lvl="1" indent="-285750"/>
            <a:r>
              <a:rPr lang="en-US" b="0" i="0" dirty="0">
                <a:solidFill>
                  <a:schemeClr val="tx1"/>
                </a:solidFill>
                <a:effectLst/>
                <a:latin typeface="Gill Sans MT" panose="020B0502020104020203" pitchFamily="34" charset="77"/>
              </a:rPr>
              <a:t>mid-dorsal-cingulate regions</a:t>
            </a:r>
          </a:p>
          <a:p>
            <a:pPr marL="742950" lvl="1" indent="-285750"/>
            <a:r>
              <a:rPr lang="en-US" dirty="0">
                <a:solidFill>
                  <a:schemeClr val="tx1"/>
                </a:solidFill>
                <a:latin typeface="Gill Sans MT" panose="020B0502020104020203" pitchFamily="34" charset="77"/>
              </a:rPr>
              <a:t>Amygdala</a:t>
            </a:r>
          </a:p>
          <a:p>
            <a:pPr marL="742950" lvl="1" indent="-285750"/>
            <a:r>
              <a:rPr lang="en-US" b="0" i="0" dirty="0">
                <a:solidFill>
                  <a:schemeClr val="tx1"/>
                </a:solidFill>
                <a:effectLst/>
                <a:latin typeface="Gill Sans MT" panose="020B0502020104020203" pitchFamily="34" charset="77"/>
              </a:rPr>
              <a:t>Temporal poles</a:t>
            </a:r>
          </a:p>
          <a:p>
            <a:pPr marL="457200" lvl="1" indent="0">
              <a:buNone/>
            </a:pPr>
            <a:endParaRPr lang="en-US" dirty="0">
              <a:solidFill>
                <a:schemeClr val="tx1"/>
              </a:solidFill>
              <a:latin typeface="Gill Sans MT" panose="020B0502020104020203" pitchFamily="34" charset="77"/>
            </a:endParaRPr>
          </a:p>
          <a:p>
            <a:pPr marL="457200" lvl="1" indent="0" algn="r">
              <a:buNone/>
            </a:pPr>
            <a:r>
              <a:rPr lang="en-US" b="0" i="0" dirty="0">
                <a:solidFill>
                  <a:schemeClr val="tx1"/>
                </a:solidFill>
                <a:effectLst/>
                <a:latin typeface="Gill Sans MT" panose="020B0502020104020203" pitchFamily="34" charset="77"/>
              </a:rPr>
              <a:t>Seeley et al., 2007; </a:t>
            </a:r>
            <a:r>
              <a:rPr lang="en-US" b="0" i="0" dirty="0" err="1">
                <a:solidFill>
                  <a:schemeClr val="tx1"/>
                </a:solidFill>
                <a:effectLst/>
                <a:latin typeface="Gill Sans MT" panose="020B0502020104020203" pitchFamily="34" charset="77"/>
              </a:rPr>
              <a:t>Corbetta</a:t>
            </a:r>
            <a:r>
              <a:rPr lang="en-US" b="0" i="0" dirty="0">
                <a:solidFill>
                  <a:schemeClr val="tx1"/>
                </a:solidFill>
                <a:effectLst/>
                <a:latin typeface="Gill Sans MT" panose="020B0502020104020203" pitchFamily="34" charset="77"/>
              </a:rPr>
              <a:t> et al., 2008</a:t>
            </a:r>
          </a:p>
          <a:p>
            <a:pPr marL="742950" lvl="1" indent="-285750"/>
            <a:endParaRPr lang="en-US" b="0" i="0" dirty="0">
              <a:solidFill>
                <a:schemeClr val="tx1"/>
              </a:solidFill>
              <a:effectLst/>
              <a:latin typeface="Gill Sans MT" panose="020B0502020104020203" pitchFamily="34" charset="77"/>
            </a:endParaRPr>
          </a:p>
          <a:p>
            <a:pPr marL="742950" lvl="1" indent="-285750" algn="l">
              <a:buFont typeface="Arial" panose="020B0604020202020204" pitchFamily="34" charset="0"/>
              <a:buChar char="•"/>
            </a:pPr>
            <a:endParaRPr lang="en-US" b="0" i="0" dirty="0">
              <a:solidFill>
                <a:schemeClr val="tx1"/>
              </a:solidFill>
              <a:effectLst/>
              <a:latin typeface="Gill Sans MT" panose="020B0502020104020203" pitchFamily="34" charset="77"/>
            </a:endParaRPr>
          </a:p>
        </p:txBody>
      </p:sp>
      <p:pic>
        <p:nvPicPr>
          <p:cNvPr id="5" name="Picture 4">
            <a:extLst>
              <a:ext uri="{FF2B5EF4-FFF2-40B4-BE49-F238E27FC236}">
                <a16:creationId xmlns:a16="http://schemas.microsoft.com/office/drawing/2014/main" id="{9DD501B3-EF89-BDBA-1C68-FC368832D579}"/>
              </a:ext>
            </a:extLst>
          </p:cNvPr>
          <p:cNvPicPr>
            <a:picLocks noChangeAspect="1"/>
          </p:cNvPicPr>
          <p:nvPr/>
        </p:nvPicPr>
        <p:blipFill rotWithShape="1">
          <a:blip r:embed="rId3"/>
          <a:srcRect r="35948" b="11059"/>
          <a:stretch/>
        </p:blipFill>
        <p:spPr>
          <a:xfrm>
            <a:off x="7006336" y="1334489"/>
            <a:ext cx="4978400" cy="2371879"/>
          </a:xfrm>
          <a:prstGeom prst="rect">
            <a:avLst/>
          </a:prstGeom>
        </p:spPr>
      </p:pic>
      <p:pic>
        <p:nvPicPr>
          <p:cNvPr id="6" name="Picture 5">
            <a:extLst>
              <a:ext uri="{FF2B5EF4-FFF2-40B4-BE49-F238E27FC236}">
                <a16:creationId xmlns:a16="http://schemas.microsoft.com/office/drawing/2014/main" id="{D237C209-4C00-572A-B388-85B182F97461}"/>
              </a:ext>
            </a:extLst>
          </p:cNvPr>
          <p:cNvPicPr>
            <a:picLocks noChangeAspect="1"/>
          </p:cNvPicPr>
          <p:nvPr/>
        </p:nvPicPr>
        <p:blipFill rotWithShape="1">
          <a:blip r:embed="rId3"/>
          <a:srcRect l="72339" r="-1515" b="571"/>
          <a:stretch/>
        </p:blipFill>
        <p:spPr>
          <a:xfrm>
            <a:off x="8361680" y="3525393"/>
            <a:ext cx="2267712" cy="2651570"/>
          </a:xfrm>
          <a:prstGeom prst="rect">
            <a:avLst/>
          </a:prstGeom>
        </p:spPr>
      </p:pic>
    </p:spTree>
    <p:extLst>
      <p:ext uri="{BB962C8B-B14F-4D97-AF65-F5344CB8AC3E}">
        <p14:creationId xmlns:p14="http://schemas.microsoft.com/office/powerpoint/2010/main" val="275208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F1C52-5D3C-C755-7D46-3A5CC1DAE374}"/>
              </a:ext>
            </a:extLst>
          </p:cNvPr>
          <p:cNvSpPr>
            <a:spLocks noGrp="1"/>
          </p:cNvSpPr>
          <p:nvPr>
            <p:ph type="title"/>
          </p:nvPr>
        </p:nvSpPr>
        <p:spPr>
          <a:xfrm>
            <a:off x="376518" y="365125"/>
            <a:ext cx="10977282" cy="1325563"/>
          </a:xfrm>
        </p:spPr>
        <p:txBody>
          <a:bodyPr>
            <a:normAutofit/>
          </a:bodyPr>
          <a:lstStyle/>
          <a:p>
            <a:r>
              <a:rPr lang="en-US" sz="4000" b="1" i="0" dirty="0">
                <a:solidFill>
                  <a:schemeClr val="tx1"/>
                </a:solidFill>
                <a:effectLst/>
                <a:latin typeface="Gill Sans MT" panose="020B0502020104020203" pitchFamily="34" charset="77"/>
              </a:rPr>
              <a:t>Central Executive Network (CEN)</a:t>
            </a:r>
            <a:endParaRPr lang="en-US" sz="4000" dirty="0">
              <a:solidFill>
                <a:schemeClr val="tx1"/>
              </a:solidFill>
              <a:latin typeface="Gill Sans MT" panose="020B0502020104020203" pitchFamily="34" charset="77"/>
            </a:endParaRPr>
          </a:p>
        </p:txBody>
      </p:sp>
      <p:sp>
        <p:nvSpPr>
          <p:cNvPr id="3" name="Content Placeholder 2">
            <a:extLst>
              <a:ext uri="{FF2B5EF4-FFF2-40B4-BE49-F238E27FC236}">
                <a16:creationId xmlns:a16="http://schemas.microsoft.com/office/drawing/2014/main" id="{CA15FCF6-B2AB-6056-1768-55DFE0C77E2B}"/>
              </a:ext>
            </a:extLst>
          </p:cNvPr>
          <p:cNvSpPr>
            <a:spLocks noGrp="1"/>
          </p:cNvSpPr>
          <p:nvPr>
            <p:ph idx="1"/>
          </p:nvPr>
        </p:nvSpPr>
        <p:spPr>
          <a:xfrm>
            <a:off x="838200" y="1825625"/>
            <a:ext cx="4782312" cy="4351338"/>
          </a:xfrm>
        </p:spPr>
        <p:txBody>
          <a:bodyPr>
            <a:normAutofit/>
          </a:bodyPr>
          <a:lstStyle/>
          <a:p>
            <a:r>
              <a:rPr lang="en-US" b="0" i="0" dirty="0">
                <a:solidFill>
                  <a:schemeClr val="tx1"/>
                </a:solidFill>
                <a:effectLst/>
                <a:latin typeface="Gill Sans MT" panose="020B0502020104020203" pitchFamily="34" charset="77"/>
              </a:rPr>
              <a:t>Involved in </a:t>
            </a:r>
            <a:r>
              <a:rPr lang="en-US" b="1" i="0" dirty="0">
                <a:solidFill>
                  <a:schemeClr val="tx1"/>
                </a:solidFill>
                <a:effectLst/>
                <a:latin typeface="Gill Sans MT" panose="020B0502020104020203" pitchFamily="34" charset="77"/>
              </a:rPr>
              <a:t>sustained</a:t>
            </a:r>
            <a:r>
              <a:rPr lang="en-US" b="0" i="0" dirty="0">
                <a:solidFill>
                  <a:schemeClr val="tx1"/>
                </a:solidFill>
                <a:effectLst/>
                <a:latin typeface="Gill Sans MT" panose="020B0502020104020203" pitchFamily="34" charset="77"/>
              </a:rPr>
              <a:t> </a:t>
            </a:r>
            <a:r>
              <a:rPr lang="en-US" b="1" i="1" dirty="0">
                <a:solidFill>
                  <a:schemeClr val="tx1"/>
                </a:solidFill>
                <a:effectLst/>
                <a:latin typeface="Gill Sans MT" panose="020B0502020104020203" pitchFamily="34" charset="77"/>
              </a:rPr>
              <a:t>externally focused</a:t>
            </a:r>
            <a:r>
              <a:rPr lang="en-US" b="1" i="1" dirty="0">
                <a:solidFill>
                  <a:schemeClr val="tx1"/>
                </a:solidFill>
                <a:latin typeface="Gill Sans MT" panose="020B0502020104020203" pitchFamily="34" charset="77"/>
              </a:rPr>
              <a:t> and </a:t>
            </a:r>
            <a:r>
              <a:rPr lang="en-US" b="1" i="1" dirty="0">
                <a:solidFill>
                  <a:schemeClr val="tx1"/>
                </a:solidFill>
                <a:effectLst/>
                <a:latin typeface="Gill Sans MT" panose="020B0502020104020203" pitchFamily="34" charset="77"/>
              </a:rPr>
              <a:t>goal-directed attention</a:t>
            </a:r>
          </a:p>
          <a:p>
            <a:pPr marL="742950" lvl="1" indent="-285750" algn="l">
              <a:buFont typeface="Arial" panose="020B0604020202020204" pitchFamily="34" charset="0"/>
              <a:buChar char="•"/>
            </a:pPr>
            <a:r>
              <a:rPr lang="en-US" b="0" i="0" dirty="0">
                <a:solidFill>
                  <a:schemeClr val="tx1"/>
                </a:solidFill>
                <a:effectLst/>
                <a:latin typeface="Gill Sans MT" panose="020B0502020104020203" pitchFamily="34" charset="77"/>
              </a:rPr>
              <a:t>Composed of</a:t>
            </a:r>
          </a:p>
          <a:p>
            <a:pPr marL="1200150" lvl="2" indent="-285750"/>
            <a:r>
              <a:rPr lang="en-US" b="0" i="0" dirty="0">
                <a:solidFill>
                  <a:schemeClr val="tx1"/>
                </a:solidFill>
                <a:effectLst/>
                <a:latin typeface="Gill Sans MT" panose="020B0502020104020203" pitchFamily="34" charset="77"/>
              </a:rPr>
              <a:t>Dorsomedial and lateral prefrontal </a:t>
            </a:r>
            <a:r>
              <a:rPr lang="en-US" dirty="0">
                <a:solidFill>
                  <a:schemeClr val="tx1"/>
                </a:solidFill>
                <a:latin typeface="Gill Sans MT" panose="020B0502020104020203" pitchFamily="34" charset="77"/>
              </a:rPr>
              <a:t>cortices</a:t>
            </a:r>
          </a:p>
          <a:p>
            <a:pPr marL="1200150" lvl="2" indent="-285750"/>
            <a:r>
              <a:rPr lang="en-US" dirty="0">
                <a:solidFill>
                  <a:schemeClr val="tx1"/>
                </a:solidFill>
                <a:latin typeface="Gill Sans MT" panose="020B0502020104020203" pitchFamily="34" charset="77"/>
              </a:rPr>
              <a:t>Posterior </a:t>
            </a:r>
            <a:r>
              <a:rPr lang="en-US" b="0" i="0" dirty="0">
                <a:solidFill>
                  <a:schemeClr val="tx1"/>
                </a:solidFill>
                <a:effectLst/>
                <a:latin typeface="Gill Sans MT" panose="020B0502020104020203" pitchFamily="34" charset="77"/>
              </a:rPr>
              <a:t>parietal cortices</a:t>
            </a:r>
          </a:p>
          <a:p>
            <a:pPr marL="1200150" lvl="2" indent="-285750"/>
            <a:r>
              <a:rPr lang="en-US" dirty="0">
                <a:solidFill>
                  <a:schemeClr val="tx1"/>
                </a:solidFill>
                <a:latin typeface="Gill Sans MT" panose="020B0502020104020203" pitchFamily="34" charset="77"/>
              </a:rPr>
              <a:t>Frontal eye field</a:t>
            </a:r>
            <a:endParaRPr lang="en-US" b="0" i="0" dirty="0">
              <a:solidFill>
                <a:schemeClr val="tx1"/>
              </a:solidFill>
              <a:effectLst/>
              <a:latin typeface="Gill Sans MT" panose="020B0502020104020203" pitchFamily="34" charset="77"/>
            </a:endParaRPr>
          </a:p>
          <a:p>
            <a:pPr marL="457200" lvl="1" indent="0" algn="r">
              <a:buNone/>
            </a:pPr>
            <a:endParaRPr lang="en-US" b="0" i="0" dirty="0">
              <a:solidFill>
                <a:schemeClr val="tx1"/>
              </a:solidFill>
              <a:effectLst/>
              <a:latin typeface="Gill Sans MT" panose="020B0502020104020203" pitchFamily="34" charset="77"/>
            </a:endParaRPr>
          </a:p>
          <a:p>
            <a:pPr marL="457200" lvl="1" indent="0" algn="r">
              <a:buNone/>
            </a:pPr>
            <a:r>
              <a:rPr lang="en-US" b="0" i="0" dirty="0">
                <a:solidFill>
                  <a:schemeClr val="tx1"/>
                </a:solidFill>
                <a:effectLst/>
                <a:latin typeface="Gill Sans MT" panose="020B0502020104020203" pitchFamily="34" charset="77"/>
              </a:rPr>
              <a:t>Seeley et al., 2007</a:t>
            </a:r>
          </a:p>
          <a:p>
            <a:pPr marL="457200" lvl="1" indent="0" algn="l">
              <a:buNone/>
            </a:pPr>
            <a:endParaRPr lang="en-US" b="0" i="0" dirty="0">
              <a:solidFill>
                <a:schemeClr val="tx1"/>
              </a:solidFill>
              <a:effectLst/>
              <a:latin typeface="Gill Sans MT" panose="020B0502020104020203" pitchFamily="34" charset="77"/>
            </a:endParaRPr>
          </a:p>
        </p:txBody>
      </p:sp>
      <p:pic>
        <p:nvPicPr>
          <p:cNvPr id="4" name="Picture 3">
            <a:extLst>
              <a:ext uri="{FF2B5EF4-FFF2-40B4-BE49-F238E27FC236}">
                <a16:creationId xmlns:a16="http://schemas.microsoft.com/office/drawing/2014/main" id="{2B8E6C97-5443-DD6E-C5CF-2144491535BD}"/>
              </a:ext>
            </a:extLst>
          </p:cNvPr>
          <p:cNvPicPr>
            <a:picLocks noChangeAspect="1"/>
          </p:cNvPicPr>
          <p:nvPr/>
        </p:nvPicPr>
        <p:blipFill rotWithShape="1">
          <a:blip r:embed="rId3"/>
          <a:srcRect r="31765"/>
          <a:stretch/>
        </p:blipFill>
        <p:spPr>
          <a:xfrm>
            <a:off x="6571490" y="1690688"/>
            <a:ext cx="5303520" cy="2345459"/>
          </a:xfrm>
          <a:prstGeom prst="rect">
            <a:avLst/>
          </a:prstGeom>
        </p:spPr>
      </p:pic>
      <p:pic>
        <p:nvPicPr>
          <p:cNvPr id="5" name="Picture 4">
            <a:extLst>
              <a:ext uri="{FF2B5EF4-FFF2-40B4-BE49-F238E27FC236}">
                <a16:creationId xmlns:a16="http://schemas.microsoft.com/office/drawing/2014/main" id="{A9297A7B-059D-F6BE-DB8A-F0943C6DB379}"/>
              </a:ext>
            </a:extLst>
          </p:cNvPr>
          <p:cNvPicPr>
            <a:picLocks noChangeAspect="1"/>
          </p:cNvPicPr>
          <p:nvPr/>
        </p:nvPicPr>
        <p:blipFill rotWithShape="1">
          <a:blip r:embed="rId3"/>
          <a:srcRect l="72314" r="-2353"/>
          <a:stretch/>
        </p:blipFill>
        <p:spPr>
          <a:xfrm>
            <a:off x="7729727" y="4036147"/>
            <a:ext cx="2334767" cy="2345459"/>
          </a:xfrm>
          <a:prstGeom prst="rect">
            <a:avLst/>
          </a:prstGeom>
        </p:spPr>
      </p:pic>
    </p:spTree>
    <p:extLst>
      <p:ext uri="{BB962C8B-B14F-4D97-AF65-F5344CB8AC3E}">
        <p14:creationId xmlns:p14="http://schemas.microsoft.com/office/powerpoint/2010/main" val="2691201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A5815-69F2-B083-939D-8AA3AF75CE66}"/>
              </a:ext>
            </a:extLst>
          </p:cNvPr>
          <p:cNvSpPr>
            <a:spLocks noGrp="1"/>
          </p:cNvSpPr>
          <p:nvPr>
            <p:ph type="title"/>
          </p:nvPr>
        </p:nvSpPr>
        <p:spPr>
          <a:xfrm>
            <a:off x="472440" y="352933"/>
            <a:ext cx="10515600" cy="1325563"/>
          </a:xfrm>
        </p:spPr>
        <p:txBody>
          <a:bodyPr>
            <a:normAutofit/>
          </a:bodyPr>
          <a:lstStyle/>
          <a:p>
            <a:pPr marL="285750" indent="-285750"/>
            <a:r>
              <a:rPr lang="en-US" sz="4000" b="1" i="0" dirty="0">
                <a:solidFill>
                  <a:schemeClr val="tx1"/>
                </a:solidFill>
                <a:effectLst/>
                <a:latin typeface="Gill Sans MT" panose="020B0502020104020203" pitchFamily="34" charset="77"/>
              </a:rPr>
              <a:t>Mechanistic model of mindfulness involving the triple networks</a:t>
            </a:r>
          </a:p>
        </p:txBody>
      </p:sp>
      <p:sp>
        <p:nvSpPr>
          <p:cNvPr id="3" name="Content Placeholder 2">
            <a:extLst>
              <a:ext uri="{FF2B5EF4-FFF2-40B4-BE49-F238E27FC236}">
                <a16:creationId xmlns:a16="http://schemas.microsoft.com/office/drawing/2014/main" id="{5A546D61-86F8-E779-05CB-D00C141F2FFB}"/>
              </a:ext>
            </a:extLst>
          </p:cNvPr>
          <p:cNvSpPr>
            <a:spLocks noGrp="1"/>
          </p:cNvSpPr>
          <p:nvPr>
            <p:ph idx="1"/>
          </p:nvPr>
        </p:nvSpPr>
        <p:spPr>
          <a:xfrm>
            <a:off x="472440" y="1825625"/>
            <a:ext cx="4953000" cy="4771766"/>
          </a:xfrm>
        </p:spPr>
        <p:txBody>
          <a:bodyPr>
            <a:normAutofit fontScale="92500" lnSpcReduction="20000"/>
          </a:bodyPr>
          <a:lstStyle/>
          <a:p>
            <a:pPr marL="457200" lvl="1" indent="0">
              <a:buNone/>
            </a:pPr>
            <a:r>
              <a:rPr lang="en-US" b="0" i="0" dirty="0">
                <a:solidFill>
                  <a:schemeClr val="tx1"/>
                </a:solidFill>
                <a:effectLst/>
                <a:latin typeface="Gill Sans MT" panose="020B0502020104020203" pitchFamily="34" charset="77"/>
              </a:rPr>
              <a:t>During an active mindfulness meditation </a:t>
            </a:r>
            <a:r>
              <a:rPr lang="en-US" dirty="0">
                <a:solidFill>
                  <a:schemeClr val="tx1"/>
                </a:solidFill>
                <a:latin typeface="Gill Sans MT" panose="020B0502020104020203" pitchFamily="34" charset="77"/>
              </a:rPr>
              <a:t>practice:</a:t>
            </a:r>
          </a:p>
          <a:p>
            <a:pPr marL="457200" lvl="1" indent="0">
              <a:buNone/>
            </a:pPr>
            <a:endParaRPr lang="en-US" b="0" i="0" dirty="0">
              <a:solidFill>
                <a:schemeClr val="tx1"/>
              </a:solidFill>
              <a:effectLst/>
              <a:latin typeface="Gill Sans MT" panose="020B0502020104020203" pitchFamily="34" charset="77"/>
            </a:endParaRPr>
          </a:p>
          <a:p>
            <a:pPr lvl="1"/>
            <a:r>
              <a:rPr lang="en-US" b="0" i="0" dirty="0">
                <a:solidFill>
                  <a:srgbClr val="C00000"/>
                </a:solidFill>
                <a:effectLst/>
                <a:latin typeface="Gill Sans MT" panose="020B0502020104020203" pitchFamily="34" charset="77"/>
              </a:rPr>
              <a:t>CEN:</a:t>
            </a:r>
          </a:p>
          <a:p>
            <a:pPr lvl="2"/>
            <a:r>
              <a:rPr lang="en-US" b="0" i="0" dirty="0">
                <a:solidFill>
                  <a:schemeClr val="tx1"/>
                </a:solidFill>
                <a:effectLst/>
                <a:latin typeface="Gill Sans MT" panose="020B0502020104020203" pitchFamily="34" charset="77"/>
              </a:rPr>
              <a:t>sustaining attention to the object of focus </a:t>
            </a:r>
          </a:p>
          <a:p>
            <a:pPr lvl="3"/>
            <a:r>
              <a:rPr lang="en-US" b="0" i="0" dirty="0">
                <a:solidFill>
                  <a:schemeClr val="tx1"/>
                </a:solidFill>
                <a:effectLst/>
                <a:latin typeface="Gill Sans MT" panose="020B0502020104020203" pitchFamily="34" charset="77"/>
              </a:rPr>
              <a:t>breath, sensations, thoughts, etc.</a:t>
            </a:r>
          </a:p>
          <a:p>
            <a:pPr lvl="1"/>
            <a:r>
              <a:rPr lang="en-US" b="0" i="0" dirty="0">
                <a:solidFill>
                  <a:srgbClr val="2000FF"/>
                </a:solidFill>
                <a:effectLst/>
                <a:latin typeface="Gill Sans MT" panose="020B0502020104020203" pitchFamily="34" charset="77"/>
              </a:rPr>
              <a:t>DMN:</a:t>
            </a:r>
          </a:p>
          <a:p>
            <a:pPr lvl="2"/>
            <a:r>
              <a:rPr lang="en-US" b="0" i="0" dirty="0">
                <a:solidFill>
                  <a:schemeClr val="tx1"/>
                </a:solidFill>
                <a:effectLst/>
                <a:latin typeface="Gill Sans MT" panose="020B0502020104020203" pitchFamily="34" charset="77"/>
              </a:rPr>
              <a:t>when the mind wanders from the object of attention</a:t>
            </a:r>
          </a:p>
          <a:p>
            <a:pPr lvl="1"/>
            <a:r>
              <a:rPr lang="en-US" b="0" i="0" dirty="0">
                <a:solidFill>
                  <a:srgbClr val="00B050"/>
                </a:solidFill>
                <a:effectLst/>
                <a:latin typeface="Gill Sans MT" panose="020B0502020104020203" pitchFamily="34" charset="77"/>
              </a:rPr>
              <a:t>SN:</a:t>
            </a:r>
          </a:p>
          <a:p>
            <a:pPr lvl="2"/>
            <a:r>
              <a:rPr lang="en-US" b="0" i="0" dirty="0">
                <a:solidFill>
                  <a:schemeClr val="tx1"/>
                </a:solidFill>
                <a:effectLst/>
                <a:latin typeface="Gill Sans MT" panose="020B0502020104020203" pitchFamily="34" charset="77"/>
              </a:rPr>
              <a:t> when the participant becomes aware of mind-wandering</a:t>
            </a:r>
          </a:p>
          <a:p>
            <a:pPr lvl="1"/>
            <a:r>
              <a:rPr lang="en-US" b="0" i="0" dirty="0">
                <a:solidFill>
                  <a:schemeClr val="tx1"/>
                </a:solidFill>
                <a:effectLst/>
                <a:latin typeface="Gill Sans MT" panose="020B0502020104020203" pitchFamily="34" charset="77"/>
              </a:rPr>
              <a:t>Reengagement of the</a:t>
            </a:r>
            <a:r>
              <a:rPr lang="en-US" b="0" i="0" dirty="0">
                <a:solidFill>
                  <a:srgbClr val="C00000"/>
                </a:solidFill>
                <a:effectLst/>
                <a:latin typeface="Gill Sans MT" panose="020B0502020104020203" pitchFamily="34" charset="77"/>
              </a:rPr>
              <a:t> CEN</a:t>
            </a:r>
            <a:r>
              <a:rPr lang="en-US" b="0" i="0" dirty="0">
                <a:solidFill>
                  <a:schemeClr val="tx1"/>
                </a:solidFill>
                <a:effectLst/>
                <a:latin typeface="Gill Sans MT" panose="020B0502020104020203" pitchFamily="34" charset="77"/>
              </a:rPr>
              <a:t>:</a:t>
            </a:r>
          </a:p>
          <a:p>
            <a:pPr lvl="2"/>
            <a:r>
              <a:rPr lang="en-US" b="0" i="0" dirty="0">
                <a:solidFill>
                  <a:schemeClr val="tx1"/>
                </a:solidFill>
                <a:effectLst/>
                <a:latin typeface="Gill Sans MT" panose="020B0502020104020203" pitchFamily="34" charset="77"/>
              </a:rPr>
              <a:t> to shift attention back to the object of practice</a:t>
            </a:r>
          </a:p>
          <a:p>
            <a:pPr marL="914400" lvl="2" indent="0">
              <a:buNone/>
            </a:pPr>
            <a:endParaRPr lang="en-US" dirty="0">
              <a:solidFill>
                <a:schemeClr val="tx1"/>
              </a:solidFill>
              <a:latin typeface="Gill Sans MT" panose="020B0502020104020203" pitchFamily="34" charset="77"/>
            </a:endParaRPr>
          </a:p>
          <a:p>
            <a:pPr marL="914400" lvl="2" indent="0" algn="r">
              <a:buNone/>
            </a:pPr>
            <a:r>
              <a:rPr lang="en-US" b="0" i="0" dirty="0" err="1">
                <a:solidFill>
                  <a:schemeClr val="tx1"/>
                </a:solidFill>
                <a:effectLst/>
                <a:latin typeface="Gill Sans MT" panose="020B0502020104020203" pitchFamily="34" charset="77"/>
              </a:rPr>
              <a:t>Hasenkamp</a:t>
            </a:r>
            <a:r>
              <a:rPr lang="en-US" b="0" i="0" dirty="0">
                <a:solidFill>
                  <a:schemeClr val="tx1"/>
                </a:solidFill>
                <a:effectLst/>
                <a:latin typeface="Gill Sans MT" panose="020B0502020104020203" pitchFamily="34" charset="77"/>
              </a:rPr>
              <a:t> et al.,2012</a:t>
            </a:r>
            <a:endParaRPr lang="en-US" dirty="0">
              <a:solidFill>
                <a:schemeClr val="tx1"/>
              </a:solidFill>
              <a:latin typeface="Gill Sans MT" panose="020B0502020104020203" pitchFamily="34" charset="77"/>
            </a:endParaRPr>
          </a:p>
          <a:p>
            <a:pPr marL="1200150" lvl="2" indent="-285750"/>
            <a:endParaRPr lang="en-US" b="0" i="0" dirty="0">
              <a:solidFill>
                <a:schemeClr val="tx1"/>
              </a:solidFill>
              <a:effectLst/>
              <a:latin typeface="Gill Sans MT" panose="020B0502020104020203" pitchFamily="34" charset="77"/>
            </a:endParaRPr>
          </a:p>
          <a:p>
            <a:pPr marL="914400" lvl="2" indent="0">
              <a:buNone/>
            </a:pPr>
            <a:endParaRPr lang="en-US" b="0" i="0" dirty="0">
              <a:solidFill>
                <a:schemeClr val="tx1"/>
              </a:solidFill>
              <a:effectLst/>
              <a:latin typeface="Gill Sans MT" panose="020B0502020104020203" pitchFamily="34" charset="77"/>
            </a:endParaRPr>
          </a:p>
        </p:txBody>
      </p:sp>
      <p:pic>
        <p:nvPicPr>
          <p:cNvPr id="17" name="Picture 16">
            <a:extLst>
              <a:ext uri="{FF2B5EF4-FFF2-40B4-BE49-F238E27FC236}">
                <a16:creationId xmlns:a16="http://schemas.microsoft.com/office/drawing/2014/main" id="{1EC5BABB-419C-7BAB-D382-0B109C866142}"/>
              </a:ext>
            </a:extLst>
          </p:cNvPr>
          <p:cNvPicPr>
            <a:picLocks noChangeAspect="1"/>
          </p:cNvPicPr>
          <p:nvPr/>
        </p:nvPicPr>
        <p:blipFill rotWithShape="1">
          <a:blip r:embed="rId3"/>
          <a:srcRect l="16983" t="14756" r="12368" b="28000"/>
          <a:stretch/>
        </p:blipFill>
        <p:spPr>
          <a:xfrm>
            <a:off x="5833578" y="1565352"/>
            <a:ext cx="5673751" cy="4590320"/>
          </a:xfrm>
          <a:prstGeom prst="rect">
            <a:avLst/>
          </a:prstGeom>
        </p:spPr>
      </p:pic>
    </p:spTree>
    <p:extLst>
      <p:ext uri="{BB962C8B-B14F-4D97-AF65-F5344CB8AC3E}">
        <p14:creationId xmlns:p14="http://schemas.microsoft.com/office/powerpoint/2010/main" val="298547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EFCBC-FF94-185A-E0D8-CA95F717805E}"/>
              </a:ext>
            </a:extLst>
          </p:cNvPr>
          <p:cNvSpPr>
            <a:spLocks noGrp="1"/>
          </p:cNvSpPr>
          <p:nvPr>
            <p:ph type="title"/>
          </p:nvPr>
        </p:nvSpPr>
        <p:spPr>
          <a:xfrm>
            <a:off x="369794" y="211550"/>
            <a:ext cx="11416554" cy="1024763"/>
          </a:xfrm>
        </p:spPr>
        <p:txBody>
          <a:bodyPr>
            <a:noAutofit/>
          </a:bodyPr>
          <a:lstStyle/>
          <a:p>
            <a:r>
              <a:rPr lang="en-US" sz="4000" b="1" i="0" u="none" strike="noStrike" dirty="0">
                <a:solidFill>
                  <a:srgbClr val="000000"/>
                </a:solidFill>
                <a:effectLst/>
                <a:latin typeface="Gill Sans MT" panose="020B0502020104020203" pitchFamily="34" charset="77"/>
              </a:rPr>
              <a:t>Toward a brain network science of mindfulness</a:t>
            </a:r>
            <a:endParaRPr lang="en-US" sz="4000" b="1" dirty="0">
              <a:solidFill>
                <a:schemeClr val="tx1"/>
              </a:solidFill>
              <a:latin typeface="Gill Sans MT" panose="020B0502020104020203" pitchFamily="34" charset="77"/>
            </a:endParaRPr>
          </a:p>
        </p:txBody>
      </p:sp>
      <p:sp>
        <p:nvSpPr>
          <p:cNvPr id="3" name="Content Placeholder 2">
            <a:extLst>
              <a:ext uri="{FF2B5EF4-FFF2-40B4-BE49-F238E27FC236}">
                <a16:creationId xmlns:a16="http://schemas.microsoft.com/office/drawing/2014/main" id="{CBCBDAB1-DA7B-1538-9882-22657B820AB0}"/>
              </a:ext>
            </a:extLst>
          </p:cNvPr>
          <p:cNvSpPr>
            <a:spLocks noGrp="1"/>
          </p:cNvSpPr>
          <p:nvPr>
            <p:ph idx="1"/>
          </p:nvPr>
        </p:nvSpPr>
        <p:spPr>
          <a:xfrm>
            <a:off x="241046" y="1435740"/>
            <a:ext cx="5112778" cy="4560242"/>
          </a:xfrm>
        </p:spPr>
        <p:txBody>
          <a:bodyPr>
            <a:normAutofit fontScale="92500" lnSpcReduction="20000"/>
          </a:bodyPr>
          <a:lstStyle/>
          <a:p>
            <a:pPr marL="0" indent="0">
              <a:buNone/>
            </a:pPr>
            <a:r>
              <a:rPr lang="en-US" sz="3500" i="0" dirty="0">
                <a:solidFill>
                  <a:schemeClr val="tx1"/>
                </a:solidFill>
                <a:effectLst/>
                <a:latin typeface="Gill Sans MT" panose="020B0502020104020203" pitchFamily="34" charset="77"/>
              </a:rPr>
              <a:t>Changes in </a:t>
            </a:r>
            <a:r>
              <a:rPr lang="en-US" sz="3500" i="0" dirty="0" err="1">
                <a:solidFill>
                  <a:schemeClr val="tx1"/>
                </a:solidFill>
                <a:effectLst/>
                <a:latin typeface="Gill Sans MT" panose="020B0502020104020203" pitchFamily="34" charset="77"/>
              </a:rPr>
              <a:t>rs</a:t>
            </a:r>
            <a:r>
              <a:rPr lang="en-US" sz="3500" i="0" dirty="0">
                <a:solidFill>
                  <a:schemeClr val="tx1"/>
                </a:solidFill>
                <a:effectLst/>
                <a:latin typeface="Gill Sans MT" panose="020B0502020104020203" pitchFamily="34" charset="77"/>
              </a:rPr>
              <a:t>-FC</a:t>
            </a:r>
          </a:p>
          <a:p>
            <a:r>
              <a:rPr lang="en-US" sz="2400" kern="0" dirty="0">
                <a:solidFill>
                  <a:srgbClr val="2000FF"/>
                </a:solidFill>
                <a:effectLst/>
                <a:latin typeface="Gill Sans MT" panose="020B0502020104020203" pitchFamily="34" charset="77"/>
                <a:ea typeface="Times New Roman" panose="02020603050405020304" pitchFamily="18" charset="0"/>
              </a:rPr>
              <a:t>Reduced within-DMN</a:t>
            </a:r>
            <a:r>
              <a:rPr lang="en-US" kern="0" dirty="0">
                <a:solidFill>
                  <a:srgbClr val="2000FF"/>
                </a:solidFill>
                <a:effectLst/>
                <a:latin typeface="Gill Sans MT" panose="020B0502020104020203" pitchFamily="34" charset="77"/>
                <a:ea typeface="Times New Roman" panose="02020603050405020304" pitchFamily="18" charset="0"/>
              </a:rPr>
              <a:t> connectivity </a:t>
            </a:r>
          </a:p>
          <a:p>
            <a:pPr lvl="1"/>
            <a:r>
              <a:rPr lang="en-US" kern="0" dirty="0">
                <a:solidFill>
                  <a:schemeClr val="tx1"/>
                </a:solidFill>
                <a:effectLst/>
                <a:latin typeface="Gill Sans MT" panose="020B0502020104020203" pitchFamily="34" charset="77"/>
                <a:ea typeface="Times New Roman" panose="02020603050405020304" pitchFamily="18" charset="0"/>
              </a:rPr>
              <a:t>across intervention designs, trait designs, and long-term meditator designs</a:t>
            </a:r>
          </a:p>
          <a:p>
            <a:r>
              <a:rPr lang="en-US" sz="2400" kern="0" dirty="0">
                <a:solidFill>
                  <a:srgbClr val="C00000"/>
                </a:solidFill>
                <a:latin typeface="Gill Sans MT" panose="020B0502020104020203" pitchFamily="34" charset="77"/>
                <a:ea typeface="Times New Roman" panose="02020603050405020304" pitchFamily="18" charset="0"/>
              </a:rPr>
              <a:t>I</a:t>
            </a:r>
            <a:r>
              <a:rPr lang="en-US" sz="2400" kern="0" dirty="0">
                <a:solidFill>
                  <a:srgbClr val="C00000"/>
                </a:solidFill>
                <a:effectLst/>
                <a:latin typeface="Gill Sans MT" panose="020B0502020104020203" pitchFamily="34" charset="77"/>
                <a:ea typeface="Times New Roman" panose="02020603050405020304" pitchFamily="18" charset="0"/>
              </a:rPr>
              <a:t>ncrease DMN-CEN connectivity  </a:t>
            </a:r>
          </a:p>
          <a:p>
            <a:pPr lvl="1"/>
            <a:r>
              <a:rPr lang="en-US" sz="2000" kern="0" dirty="0">
                <a:solidFill>
                  <a:schemeClr val="tx1"/>
                </a:solidFill>
                <a:effectLst/>
                <a:latin typeface="Gill Sans MT" panose="020B0502020104020203" pitchFamily="34" charset="77"/>
                <a:ea typeface="Times New Roman" panose="02020603050405020304" pitchFamily="18" charset="0"/>
              </a:rPr>
              <a:t>Interventions and active meditation</a:t>
            </a:r>
          </a:p>
          <a:p>
            <a:r>
              <a:rPr lang="en-US" sz="2400" kern="0" dirty="0">
                <a:solidFill>
                  <a:srgbClr val="C00000"/>
                </a:solidFill>
                <a:latin typeface="Gill Sans MT" panose="020B0502020104020203" pitchFamily="34" charset="77"/>
                <a:ea typeface="Times New Roman" panose="02020603050405020304" pitchFamily="18" charset="0"/>
              </a:rPr>
              <a:t>DMN-CEN more anticorrelated</a:t>
            </a:r>
          </a:p>
          <a:p>
            <a:pPr lvl="1"/>
            <a:r>
              <a:rPr lang="en-US" sz="2000" kern="0" dirty="0">
                <a:solidFill>
                  <a:schemeClr val="tx1"/>
                </a:solidFill>
                <a:effectLst/>
                <a:latin typeface="Gill Sans MT" panose="020B0502020104020203" pitchFamily="34" charset="77"/>
                <a:ea typeface="Times New Roman" panose="02020603050405020304" pitchFamily="18" charset="0"/>
              </a:rPr>
              <a:t>More mindful individuals</a:t>
            </a:r>
          </a:p>
          <a:p>
            <a:pPr lvl="1"/>
            <a:r>
              <a:rPr lang="en-US" sz="2200" b="0" i="0" dirty="0">
                <a:solidFill>
                  <a:srgbClr val="2A2A2A"/>
                </a:solidFill>
                <a:effectLst/>
                <a:latin typeface="Gill Sans MT" panose="020B0502020104020203" pitchFamily="34" charset="77"/>
              </a:rPr>
              <a:t>likely a nonlinear phenomenon related to expertise</a:t>
            </a:r>
            <a:endParaRPr lang="en-US" sz="2200" kern="0" dirty="0">
              <a:solidFill>
                <a:schemeClr val="tx1"/>
              </a:solidFill>
              <a:effectLst/>
              <a:latin typeface="Gill Sans MT" panose="020B0502020104020203" pitchFamily="34" charset="77"/>
              <a:ea typeface="Times New Roman" panose="02020603050405020304" pitchFamily="18" charset="0"/>
            </a:endParaRPr>
          </a:p>
          <a:p>
            <a:r>
              <a:rPr lang="en-US" sz="2400" kern="0" dirty="0">
                <a:solidFill>
                  <a:schemeClr val="accent6">
                    <a:lumMod val="75000"/>
                  </a:schemeClr>
                </a:solidFill>
                <a:effectLst/>
                <a:latin typeface="Gill Sans MT" panose="020B0502020104020203" pitchFamily="34" charset="77"/>
                <a:ea typeface="Times New Roman" panose="02020603050405020304" pitchFamily="18" charset="0"/>
              </a:rPr>
              <a:t>Decreased SN connectivity </a:t>
            </a:r>
          </a:p>
          <a:p>
            <a:pPr lvl="1"/>
            <a:r>
              <a:rPr lang="en-US" sz="2000" kern="0" dirty="0">
                <a:solidFill>
                  <a:schemeClr val="tx1"/>
                </a:solidFill>
                <a:effectLst/>
                <a:latin typeface="Gill Sans MT" panose="020B0502020104020203" pitchFamily="34" charset="77"/>
                <a:ea typeface="Times New Roman" panose="02020603050405020304" pitchFamily="18" charset="0"/>
              </a:rPr>
              <a:t>between rostral anterior cingulate cortex region and amygdala</a:t>
            </a:r>
            <a:r>
              <a:rPr lang="en-US" sz="2000" kern="0" dirty="0">
                <a:latin typeface="Gill Sans MT" panose="020B0502020104020203" pitchFamily="34" charset="77"/>
                <a:ea typeface="Times New Roman" panose="02020603050405020304" pitchFamily="18" charset="0"/>
              </a:rPr>
              <a:t> &amp; insula</a:t>
            </a:r>
            <a:endParaRPr lang="en-US" sz="2000" kern="0" dirty="0">
              <a:solidFill>
                <a:schemeClr val="tx1"/>
              </a:solidFill>
              <a:effectLst/>
              <a:latin typeface="Gill Sans MT" panose="020B0502020104020203" pitchFamily="34" charset="77"/>
              <a:ea typeface="Times New Roman" panose="02020603050405020304" pitchFamily="18" charset="0"/>
            </a:endParaRPr>
          </a:p>
        </p:txBody>
      </p:sp>
      <p:pic>
        <p:nvPicPr>
          <p:cNvPr id="5" name="Picture 4">
            <a:extLst>
              <a:ext uri="{FF2B5EF4-FFF2-40B4-BE49-F238E27FC236}">
                <a16:creationId xmlns:a16="http://schemas.microsoft.com/office/drawing/2014/main" id="{DAF3BB5F-7C29-26A3-CE92-2CA2F6345734}"/>
              </a:ext>
            </a:extLst>
          </p:cNvPr>
          <p:cNvPicPr>
            <a:picLocks noChangeAspect="1"/>
          </p:cNvPicPr>
          <p:nvPr/>
        </p:nvPicPr>
        <p:blipFill>
          <a:blip r:embed="rId3"/>
          <a:stretch>
            <a:fillRect/>
          </a:stretch>
        </p:blipFill>
        <p:spPr>
          <a:xfrm>
            <a:off x="5560406" y="1412814"/>
            <a:ext cx="5378574" cy="4032372"/>
          </a:xfrm>
          <a:prstGeom prst="rect">
            <a:avLst/>
          </a:prstGeom>
        </p:spPr>
      </p:pic>
      <p:sp>
        <p:nvSpPr>
          <p:cNvPr id="4" name="TextBox 3">
            <a:extLst>
              <a:ext uri="{FF2B5EF4-FFF2-40B4-BE49-F238E27FC236}">
                <a16:creationId xmlns:a16="http://schemas.microsoft.com/office/drawing/2014/main" id="{BF0A7E54-C3E5-C523-D2DF-901FE7337144}"/>
              </a:ext>
            </a:extLst>
          </p:cNvPr>
          <p:cNvSpPr txBox="1"/>
          <p:nvPr/>
        </p:nvSpPr>
        <p:spPr>
          <a:xfrm>
            <a:off x="5458806" y="5445186"/>
            <a:ext cx="5572051" cy="646331"/>
          </a:xfrm>
          <a:prstGeom prst="rect">
            <a:avLst/>
          </a:prstGeom>
          <a:noFill/>
        </p:spPr>
        <p:txBody>
          <a:bodyPr wrap="square" rtlCol="0">
            <a:spAutoFit/>
          </a:bodyPr>
          <a:lstStyle/>
          <a:p>
            <a:pPr algn="l"/>
            <a:r>
              <a:rPr lang="en-US" sz="1200" b="0" i="0" dirty="0">
                <a:solidFill>
                  <a:schemeClr val="tx1"/>
                </a:solidFill>
                <a:effectLst/>
                <a:latin typeface="Gill Sans MT" panose="020B0502020104020203" pitchFamily="34" charset="77"/>
              </a:rPr>
              <a:t>Treves et al. 2023 </a:t>
            </a:r>
            <a:r>
              <a:rPr lang="en-US" sz="1200" b="1" i="0" u="none" strike="noStrike" dirty="0">
                <a:solidFill>
                  <a:srgbClr val="000000"/>
                </a:solidFill>
                <a:effectLst/>
                <a:latin typeface="Gill Sans MT" panose="020B0502020104020203" pitchFamily="34" charset="77"/>
              </a:rPr>
              <a:t>Toward a brain network science of mindfulness </a:t>
            </a:r>
            <a:r>
              <a:rPr lang="en-US" sz="1200" b="0" i="0" dirty="0">
                <a:solidFill>
                  <a:schemeClr val="tx1"/>
                </a:solidFill>
                <a:effectLst/>
                <a:latin typeface="Gill Sans MT" panose="020B0502020104020203" pitchFamily="34" charset="77"/>
              </a:rPr>
              <a:t>in </a:t>
            </a:r>
            <a:r>
              <a:rPr lang="en-US" sz="1200" b="0" i="0" dirty="0" err="1">
                <a:solidFill>
                  <a:srgbClr val="000000"/>
                </a:solidFill>
                <a:effectLst/>
                <a:latin typeface="Gill Sans MT" panose="020B0502020104020203" pitchFamily="34" charset="77"/>
              </a:rPr>
              <a:t>Ostafin</a:t>
            </a:r>
            <a:r>
              <a:rPr lang="en-US" sz="1200" b="0" i="0" dirty="0">
                <a:solidFill>
                  <a:srgbClr val="000000"/>
                </a:solidFill>
                <a:effectLst/>
                <a:latin typeface="Gill Sans MT" panose="020B0502020104020203" pitchFamily="34" charset="77"/>
              </a:rPr>
              <a:t>, Robinson, Meier (Eds), The Handbook of Mindfulness and Self-Regulation: Cognitive Neuroscience, Social Personality, Clinical, and Applied Perspectives: 2</a:t>
            </a:r>
            <a:r>
              <a:rPr lang="en-US" sz="1200" b="0" i="0" baseline="30000" dirty="0">
                <a:solidFill>
                  <a:srgbClr val="000000"/>
                </a:solidFill>
                <a:effectLst/>
                <a:latin typeface="Gill Sans MT" panose="020B0502020104020203" pitchFamily="34" charset="77"/>
              </a:rPr>
              <a:t>nd</a:t>
            </a:r>
            <a:r>
              <a:rPr lang="en-US" sz="1200" b="0" i="0" dirty="0">
                <a:solidFill>
                  <a:srgbClr val="000000"/>
                </a:solidFill>
                <a:effectLst/>
                <a:latin typeface="Gill Sans MT" panose="020B0502020104020203" pitchFamily="34" charset="77"/>
              </a:rPr>
              <a:t> Edition </a:t>
            </a:r>
            <a:endParaRPr lang="en-US" sz="1600" dirty="0">
              <a:latin typeface="Gill Sans MT" panose="020B0502020104020203" pitchFamily="34" charset="77"/>
            </a:endParaRPr>
          </a:p>
        </p:txBody>
      </p:sp>
      <p:pic>
        <p:nvPicPr>
          <p:cNvPr id="6" name="Picture 5">
            <a:extLst>
              <a:ext uri="{FF2B5EF4-FFF2-40B4-BE49-F238E27FC236}">
                <a16:creationId xmlns:a16="http://schemas.microsoft.com/office/drawing/2014/main" id="{28E74D46-2B71-78D1-AE15-B5694B2B9705}"/>
              </a:ext>
            </a:extLst>
          </p:cNvPr>
          <p:cNvPicPr>
            <a:picLocks noChangeAspect="1"/>
          </p:cNvPicPr>
          <p:nvPr/>
        </p:nvPicPr>
        <p:blipFill>
          <a:blip r:embed="rId4"/>
          <a:stretch>
            <a:fillRect/>
          </a:stretch>
        </p:blipFill>
        <p:spPr>
          <a:xfrm>
            <a:off x="10260019" y="1240318"/>
            <a:ext cx="1641236" cy="2010882"/>
          </a:xfrm>
          <a:prstGeom prst="rect">
            <a:avLst/>
          </a:prstGeom>
        </p:spPr>
      </p:pic>
      <p:sp>
        <p:nvSpPr>
          <p:cNvPr id="7" name="Kana Okano">
            <a:extLst>
              <a:ext uri="{FF2B5EF4-FFF2-40B4-BE49-F238E27FC236}">
                <a16:creationId xmlns:a16="http://schemas.microsoft.com/office/drawing/2014/main" id="{115265CA-5D53-731E-7980-AF811FD11152}"/>
              </a:ext>
            </a:extLst>
          </p:cNvPr>
          <p:cNvSpPr txBox="1"/>
          <p:nvPr/>
        </p:nvSpPr>
        <p:spPr>
          <a:xfrm>
            <a:off x="11095863" y="3262086"/>
            <a:ext cx="805392" cy="220567"/>
          </a:xfrm>
          <a:prstGeom prst="rect">
            <a:avLst/>
          </a:prstGeom>
          <a:ln w="12700">
            <a:miter lim="400000"/>
          </a:ln>
          <a:extLst>
            <a:ext uri="{C572A759-6A51-4108-AA02-DFA0A04FC94B}">
              <ma14:wrappingTextBoxFlag xmlns:ma14="http://schemas.microsoft.com/office/mac/drawingml/2011/main" xmlns="" val="1"/>
            </a:ext>
          </a:extLst>
        </p:spPr>
        <p:txBody>
          <a:bodyPr wrap="square" lIns="25397" tIns="25397" rIns="25397" bIns="25397" anchor="b">
            <a:spAutoFit/>
          </a:bodyPr>
          <a:lstStyle>
            <a:lvl1pPr algn="l">
              <a:defRPr i="0"/>
            </a:lvl1pPr>
          </a:lstStyle>
          <a:p>
            <a:pPr defTabSz="412667" hangingPunct="0">
              <a:spcBef>
                <a:spcPts val="1500"/>
              </a:spcBef>
            </a:pPr>
            <a:r>
              <a:rPr lang="en-US" sz="1100" kern="0" dirty="0">
                <a:latin typeface="Gill Sans MT" panose="020B0502020104020203" pitchFamily="34" charset="77"/>
                <a:sym typeface="Helvetica Neue"/>
              </a:rPr>
              <a:t>Isaac Treves</a:t>
            </a:r>
            <a:endParaRPr sz="1100" kern="0" dirty="0">
              <a:latin typeface="Gill Sans MT" panose="020B0502020104020203" pitchFamily="34" charset="77"/>
              <a:sym typeface="Helvetica Neue"/>
            </a:endParaRPr>
          </a:p>
        </p:txBody>
      </p:sp>
      <p:sp>
        <p:nvSpPr>
          <p:cNvPr id="10" name="TextBox 9">
            <a:extLst>
              <a:ext uri="{FF2B5EF4-FFF2-40B4-BE49-F238E27FC236}">
                <a16:creationId xmlns:a16="http://schemas.microsoft.com/office/drawing/2014/main" id="{ACCEC6EB-2C45-C78B-EF85-505066E467BD}"/>
              </a:ext>
            </a:extLst>
          </p:cNvPr>
          <p:cNvSpPr txBox="1"/>
          <p:nvPr/>
        </p:nvSpPr>
        <p:spPr>
          <a:xfrm>
            <a:off x="-736460" y="5964893"/>
            <a:ext cx="6195266" cy="369332"/>
          </a:xfrm>
          <a:prstGeom prst="rect">
            <a:avLst/>
          </a:prstGeom>
          <a:noFill/>
        </p:spPr>
        <p:txBody>
          <a:bodyPr wrap="square">
            <a:spAutoFit/>
          </a:bodyPr>
          <a:lstStyle/>
          <a:p>
            <a:pPr marL="457200" lvl="1" indent="0" algn="r">
              <a:buNone/>
            </a:pPr>
            <a:r>
              <a:rPr lang="en-US" b="0" i="0" dirty="0">
                <a:solidFill>
                  <a:schemeClr val="tx1"/>
                </a:solidFill>
                <a:effectLst/>
                <a:latin typeface="Gill Sans MT" panose="020B0502020104020203" pitchFamily="34" charset="77"/>
              </a:rPr>
              <a:t>Treves et al. 2023, </a:t>
            </a:r>
            <a:r>
              <a:rPr lang="en-US" b="0" i="0" dirty="0" err="1">
                <a:solidFill>
                  <a:schemeClr val="tx1"/>
                </a:solidFill>
                <a:effectLst/>
                <a:latin typeface="Gill Sans MT" panose="020B0502020104020203" pitchFamily="34" charset="77"/>
              </a:rPr>
              <a:t>Rahrig</a:t>
            </a:r>
            <a:r>
              <a:rPr lang="en-US" b="0" i="0" dirty="0">
                <a:solidFill>
                  <a:schemeClr val="tx1"/>
                </a:solidFill>
                <a:effectLst/>
                <a:latin typeface="Gill Sans MT" panose="020B0502020104020203" pitchFamily="34" charset="77"/>
              </a:rPr>
              <a:t> et al., 2022, </a:t>
            </a:r>
            <a:r>
              <a:rPr lang="en-US" b="0" i="0" dirty="0" err="1">
                <a:solidFill>
                  <a:schemeClr val="tx1"/>
                </a:solidFill>
                <a:effectLst/>
                <a:latin typeface="Gill Sans MT" panose="020B0502020104020203" pitchFamily="34" charset="77"/>
              </a:rPr>
              <a:t>Sezer</a:t>
            </a:r>
            <a:r>
              <a:rPr lang="en-US" b="0" i="0" dirty="0">
                <a:solidFill>
                  <a:schemeClr val="tx1"/>
                </a:solidFill>
                <a:effectLst/>
                <a:latin typeface="Gill Sans MT" panose="020B0502020104020203" pitchFamily="34" charset="77"/>
              </a:rPr>
              <a:t> et al., 2022</a:t>
            </a:r>
          </a:p>
        </p:txBody>
      </p:sp>
      <p:sp>
        <p:nvSpPr>
          <p:cNvPr id="11" name="Rectangle 10">
            <a:extLst>
              <a:ext uri="{FF2B5EF4-FFF2-40B4-BE49-F238E27FC236}">
                <a16:creationId xmlns:a16="http://schemas.microsoft.com/office/drawing/2014/main" id="{FCFBDEE2-C306-57C3-573A-856B6ECB3D96}"/>
              </a:ext>
            </a:extLst>
          </p:cNvPr>
          <p:cNvSpPr/>
          <p:nvPr/>
        </p:nvSpPr>
        <p:spPr>
          <a:xfrm>
            <a:off x="7973568" y="4681728"/>
            <a:ext cx="1255776" cy="39014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rgbClr val="C00000"/>
                </a:solidFill>
                <a:latin typeface="Arial" panose="020B0604020202020204" pitchFamily="34" charset="0"/>
                <a:cs typeface="Arial" panose="020B0604020202020204" pitchFamily="34" charset="0"/>
              </a:rPr>
              <a:t>Central Executive Network</a:t>
            </a:r>
          </a:p>
        </p:txBody>
      </p:sp>
    </p:spTree>
    <p:extLst>
      <p:ext uri="{BB962C8B-B14F-4D97-AF65-F5344CB8AC3E}">
        <p14:creationId xmlns:p14="http://schemas.microsoft.com/office/powerpoint/2010/main" val="3951098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par>
                                <p:cTn id="8" presetID="9"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4" name="Google Shape;354;p59"/>
          <p:cNvSpPr txBox="1">
            <a:spLocks noGrp="1"/>
          </p:cNvSpPr>
          <p:nvPr>
            <p:ph type="title"/>
          </p:nvPr>
        </p:nvSpPr>
        <p:spPr>
          <a:xfrm>
            <a:off x="415600" y="187738"/>
            <a:ext cx="11360800" cy="763600"/>
          </a:xfrm>
          <a:prstGeom prst="rect">
            <a:avLst/>
          </a:prstGeom>
          <a:noFill/>
          <a:ln>
            <a:noFill/>
          </a:ln>
        </p:spPr>
        <p:txBody>
          <a:bodyPr spcFirstLastPara="1" vert="horz" wrap="square" lIns="121900" tIns="121900" rIns="121900" bIns="121900" rtlCol="0" anchor="t" anchorCtr="0">
            <a:noAutofit/>
          </a:bodyPr>
          <a:lstStyle/>
          <a:p>
            <a:r>
              <a:rPr lang="en-US" sz="4000" b="1" dirty="0">
                <a:solidFill>
                  <a:schemeClr val="tx1"/>
                </a:solidFill>
                <a:latin typeface="Gill Sans MT" panose="020B0502020104020203" pitchFamily="34" charset="77"/>
              </a:rPr>
              <a:t>Enhancement of Mindfulness Learning</a:t>
            </a:r>
            <a:br>
              <a:rPr lang="en-US" sz="4000" b="1" dirty="0">
                <a:solidFill>
                  <a:schemeClr val="tx1"/>
                </a:solidFill>
                <a:latin typeface="Gill Sans MT" panose="020B0502020104020203" pitchFamily="34" charset="77"/>
              </a:rPr>
            </a:br>
            <a:endParaRPr sz="4000" b="1" dirty="0">
              <a:solidFill>
                <a:schemeClr val="tx1"/>
              </a:solidFill>
              <a:latin typeface="Gill Sans MT" panose="020B0502020104020203" pitchFamily="34" charset="77"/>
            </a:endParaRPr>
          </a:p>
          <a:p>
            <a:endParaRPr dirty="0">
              <a:solidFill>
                <a:schemeClr val="tx1"/>
              </a:solidFill>
              <a:latin typeface="Gill Sans MT" panose="020B0502020104020203" pitchFamily="34" charset="77"/>
            </a:endParaRPr>
          </a:p>
        </p:txBody>
      </p:sp>
      <p:sp>
        <p:nvSpPr>
          <p:cNvPr id="9" name="TextBox 8">
            <a:extLst>
              <a:ext uri="{FF2B5EF4-FFF2-40B4-BE49-F238E27FC236}">
                <a16:creationId xmlns:a16="http://schemas.microsoft.com/office/drawing/2014/main" id="{CBEBF5B5-0121-9F6F-94F5-CCF6A7FBE4A4}"/>
              </a:ext>
            </a:extLst>
          </p:cNvPr>
          <p:cNvSpPr txBox="1"/>
          <p:nvPr/>
        </p:nvSpPr>
        <p:spPr>
          <a:xfrm>
            <a:off x="147247" y="5788870"/>
            <a:ext cx="1774845" cy="369332"/>
          </a:xfrm>
          <a:prstGeom prst="rect">
            <a:avLst/>
          </a:prstGeom>
          <a:noFill/>
        </p:spPr>
        <p:txBody>
          <a:bodyPr wrap="none" rtlCol="0">
            <a:spAutoFit/>
          </a:bodyPr>
          <a:lstStyle/>
          <a:p>
            <a:pPr defTabSz="457200"/>
            <a:r>
              <a:rPr lang="en-US" dirty="0">
                <a:solidFill>
                  <a:srgbClr val="000000"/>
                </a:solidFill>
              </a:rPr>
              <a:t>Fox et al., 2005</a:t>
            </a:r>
          </a:p>
        </p:txBody>
      </p:sp>
      <p:sp>
        <p:nvSpPr>
          <p:cNvPr id="10" name="TextBox 9">
            <a:extLst>
              <a:ext uri="{FF2B5EF4-FFF2-40B4-BE49-F238E27FC236}">
                <a16:creationId xmlns:a16="http://schemas.microsoft.com/office/drawing/2014/main" id="{26AB0A1C-AB2E-770F-C233-0FEC78F05ACF}"/>
              </a:ext>
            </a:extLst>
          </p:cNvPr>
          <p:cNvSpPr txBox="1"/>
          <p:nvPr/>
        </p:nvSpPr>
        <p:spPr>
          <a:xfrm>
            <a:off x="5250114" y="5908001"/>
            <a:ext cx="1798890" cy="369332"/>
          </a:xfrm>
          <a:prstGeom prst="rect">
            <a:avLst/>
          </a:prstGeom>
          <a:noFill/>
        </p:spPr>
        <p:txBody>
          <a:bodyPr wrap="none" rtlCol="0">
            <a:spAutoFit/>
          </a:bodyPr>
          <a:lstStyle/>
          <a:p>
            <a:pPr defTabSz="457200"/>
            <a:r>
              <a:rPr lang="en-US" dirty="0">
                <a:solidFill>
                  <a:srgbClr val="000000"/>
                </a:solidFill>
              </a:rPr>
              <a:t>Chen et al., 2013</a:t>
            </a:r>
          </a:p>
        </p:txBody>
      </p:sp>
      <p:pic>
        <p:nvPicPr>
          <p:cNvPr id="12" name="Picture 11">
            <a:extLst>
              <a:ext uri="{FF2B5EF4-FFF2-40B4-BE49-F238E27FC236}">
                <a16:creationId xmlns:a16="http://schemas.microsoft.com/office/drawing/2014/main" id="{EAA04B78-42F3-3BED-5836-09094EBE9F61}"/>
              </a:ext>
            </a:extLst>
          </p:cNvPr>
          <p:cNvPicPr>
            <a:picLocks noChangeAspect="1"/>
          </p:cNvPicPr>
          <p:nvPr/>
        </p:nvPicPr>
        <p:blipFill rotWithShape="1">
          <a:blip r:embed="rId3"/>
          <a:srcRect l="39148" t="-3359" r="35865" b="44326"/>
          <a:stretch/>
        </p:blipFill>
        <p:spPr>
          <a:xfrm>
            <a:off x="9824662" y="1438067"/>
            <a:ext cx="1693384" cy="2894247"/>
          </a:xfrm>
          <a:prstGeom prst="rect">
            <a:avLst/>
          </a:prstGeom>
        </p:spPr>
      </p:pic>
      <p:pic>
        <p:nvPicPr>
          <p:cNvPr id="5" name="Picture 2" descr="A picture containing medical imaging, radiology, x-ray film&#10;&#10;Description automatically generated">
            <a:extLst>
              <a:ext uri="{FF2B5EF4-FFF2-40B4-BE49-F238E27FC236}">
                <a16:creationId xmlns:a16="http://schemas.microsoft.com/office/drawing/2014/main" id="{89B21985-B4F5-BF8C-4874-65D2E3F3F2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29" y="3543562"/>
            <a:ext cx="4346448" cy="175761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 descr="A picture containing medical imaging, radiology, medical, radiography&#10;&#10;Description automatically generated">
            <a:extLst>
              <a:ext uri="{FF2B5EF4-FFF2-40B4-BE49-F238E27FC236}">
                <a16:creationId xmlns:a16="http://schemas.microsoft.com/office/drawing/2014/main" id="{AC712698-54C2-F581-BBEC-115A710690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729" y="1785944"/>
            <a:ext cx="4346448" cy="175761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5">
            <a:extLst>
              <a:ext uri="{FF2B5EF4-FFF2-40B4-BE49-F238E27FC236}">
                <a16:creationId xmlns:a16="http://schemas.microsoft.com/office/drawing/2014/main" id="{5BE03D71-D7CF-0D7B-6C1A-5571C2ADF8EC}"/>
              </a:ext>
            </a:extLst>
          </p:cNvPr>
          <p:cNvSpPr>
            <a:spLocks noChangeArrowheads="1"/>
          </p:cNvSpPr>
          <p:nvPr/>
        </p:nvSpPr>
        <p:spPr bwMode="auto">
          <a:xfrm>
            <a:off x="525729" y="5346866"/>
            <a:ext cx="48432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Triple networks. </a:t>
            </a:r>
            <a:r>
              <a:rPr kumimoji="0" lang="en-US"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Central executive network, in red; Default-mode network, in blue; Salience network, in green.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B6B8D38C-8CB2-9CA9-1327-41D64EE07501}"/>
              </a:ext>
            </a:extLst>
          </p:cNvPr>
          <p:cNvPicPr>
            <a:picLocks noChangeAspect="1"/>
          </p:cNvPicPr>
          <p:nvPr/>
        </p:nvPicPr>
        <p:blipFill>
          <a:blip r:embed="rId6"/>
          <a:stretch>
            <a:fillRect/>
          </a:stretch>
        </p:blipFill>
        <p:spPr>
          <a:xfrm>
            <a:off x="6500577" y="3768482"/>
            <a:ext cx="2259220" cy="2160993"/>
          </a:xfrm>
          <a:prstGeom prst="rect">
            <a:avLst/>
          </a:prstGeom>
        </p:spPr>
      </p:pic>
      <p:sp>
        <p:nvSpPr>
          <p:cNvPr id="17" name="TextBox 16">
            <a:extLst>
              <a:ext uri="{FF2B5EF4-FFF2-40B4-BE49-F238E27FC236}">
                <a16:creationId xmlns:a16="http://schemas.microsoft.com/office/drawing/2014/main" id="{60FB07C7-D351-99F3-717B-5117AF119B7E}"/>
              </a:ext>
            </a:extLst>
          </p:cNvPr>
          <p:cNvSpPr txBox="1"/>
          <p:nvPr/>
        </p:nvSpPr>
        <p:spPr>
          <a:xfrm>
            <a:off x="6096000" y="1028939"/>
            <a:ext cx="5862880" cy="461665"/>
          </a:xfrm>
          <a:prstGeom prst="rect">
            <a:avLst/>
          </a:prstGeom>
          <a:noFill/>
        </p:spPr>
        <p:txBody>
          <a:bodyPr wrap="square" rtlCol="0">
            <a:spAutoFit/>
          </a:bodyPr>
          <a:lstStyle/>
          <a:p>
            <a:r>
              <a:rPr lang="en-US" sz="2400" b="1" dirty="0">
                <a:solidFill>
                  <a:srgbClr val="C00000"/>
                </a:solidFill>
                <a:latin typeface="Gill Sans MT" panose="020B0502020104020203" pitchFamily="34" charset="77"/>
              </a:rPr>
              <a:t>Positive Diametric Activity CEN&gt;DMN</a:t>
            </a:r>
            <a:endParaRPr lang="en-US" sz="2400" dirty="0">
              <a:solidFill>
                <a:srgbClr val="C00000"/>
              </a:solidFill>
            </a:endParaRPr>
          </a:p>
        </p:txBody>
      </p:sp>
      <p:pic>
        <p:nvPicPr>
          <p:cNvPr id="18" name="Picture 17">
            <a:extLst>
              <a:ext uri="{FF2B5EF4-FFF2-40B4-BE49-F238E27FC236}">
                <a16:creationId xmlns:a16="http://schemas.microsoft.com/office/drawing/2014/main" id="{AA694E96-8CB6-34C8-E213-4CD5FC7A45AB}"/>
              </a:ext>
            </a:extLst>
          </p:cNvPr>
          <p:cNvPicPr>
            <a:picLocks noChangeAspect="1"/>
          </p:cNvPicPr>
          <p:nvPr/>
        </p:nvPicPr>
        <p:blipFill rotWithShape="1">
          <a:blip r:embed="rId3"/>
          <a:srcRect l="-145" t="54705" r="51663" b="720"/>
          <a:stretch/>
        </p:blipFill>
        <p:spPr>
          <a:xfrm>
            <a:off x="6538997" y="1614826"/>
            <a:ext cx="3285665" cy="2185421"/>
          </a:xfrm>
          <a:prstGeom prst="rect">
            <a:avLst/>
          </a:prstGeom>
        </p:spPr>
      </p:pic>
      <p:sp>
        <p:nvSpPr>
          <p:cNvPr id="15" name="Rectangle 14">
            <a:extLst>
              <a:ext uri="{FF2B5EF4-FFF2-40B4-BE49-F238E27FC236}">
                <a16:creationId xmlns:a16="http://schemas.microsoft.com/office/drawing/2014/main" id="{C08D1C0D-3973-B0CE-FB84-293EFC67A1E0}"/>
              </a:ext>
            </a:extLst>
          </p:cNvPr>
          <p:cNvSpPr/>
          <p:nvPr/>
        </p:nvSpPr>
        <p:spPr>
          <a:xfrm>
            <a:off x="6538996" y="1555223"/>
            <a:ext cx="1338791" cy="6942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33270E0A-A0F7-6935-ACD0-2E5EE754D96B}"/>
              </a:ext>
            </a:extLst>
          </p:cNvPr>
          <p:cNvSpPr/>
          <p:nvPr/>
        </p:nvSpPr>
        <p:spPr>
          <a:xfrm>
            <a:off x="6538995" y="2758895"/>
            <a:ext cx="1338791" cy="10712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520235EE-A376-2975-5D68-C1A3951CBAC0}"/>
              </a:ext>
            </a:extLst>
          </p:cNvPr>
          <p:cNvSpPr/>
          <p:nvPr/>
        </p:nvSpPr>
        <p:spPr>
          <a:xfrm>
            <a:off x="6754711" y="3349798"/>
            <a:ext cx="1338791" cy="3391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7E2AF2FE-8D35-69E5-35BC-0ED0864CC8BA}"/>
              </a:ext>
            </a:extLst>
          </p:cNvPr>
          <p:cNvSpPr/>
          <p:nvPr/>
        </p:nvSpPr>
        <p:spPr>
          <a:xfrm>
            <a:off x="9506291" y="1616317"/>
            <a:ext cx="318370" cy="4439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2C17C996-5D3B-570D-CB2A-08FAB06B589A}"/>
              </a:ext>
            </a:extLst>
          </p:cNvPr>
          <p:cNvSpPr/>
          <p:nvPr/>
        </p:nvSpPr>
        <p:spPr>
          <a:xfrm>
            <a:off x="8556198" y="4362078"/>
            <a:ext cx="2961848" cy="156739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4" name="Google Shape;354;p59"/>
          <p:cNvSpPr txBox="1">
            <a:spLocks noGrp="1"/>
          </p:cNvSpPr>
          <p:nvPr>
            <p:ph type="title"/>
          </p:nvPr>
        </p:nvSpPr>
        <p:spPr>
          <a:xfrm>
            <a:off x="415600" y="278760"/>
            <a:ext cx="11360800" cy="763600"/>
          </a:xfrm>
          <a:prstGeom prst="rect">
            <a:avLst/>
          </a:prstGeom>
          <a:noFill/>
          <a:ln>
            <a:noFill/>
          </a:ln>
        </p:spPr>
        <p:txBody>
          <a:bodyPr spcFirstLastPara="1" vert="horz" wrap="square" lIns="121900" tIns="121900" rIns="121900" bIns="121900" rtlCol="0" anchor="t" anchorCtr="0">
            <a:noAutofit/>
          </a:bodyPr>
          <a:lstStyle/>
          <a:p>
            <a:r>
              <a:rPr lang="en-US" sz="3600" b="1" dirty="0">
                <a:solidFill>
                  <a:schemeClr val="tx1"/>
                </a:solidFill>
                <a:latin typeface="Gill Sans MT" panose="020B0502020104020203" pitchFamily="34" charset="77"/>
              </a:rPr>
              <a:t>Positive Diametric Activity FPN&gt;DMN</a:t>
            </a:r>
            <a:endParaRPr sz="3600" b="1" dirty="0">
              <a:solidFill>
                <a:schemeClr val="tx1"/>
              </a:solidFill>
              <a:latin typeface="Gill Sans MT" panose="020B0502020104020203" pitchFamily="34" charset="77"/>
            </a:endParaRPr>
          </a:p>
          <a:p>
            <a:endParaRPr dirty="0">
              <a:solidFill>
                <a:schemeClr val="tx1"/>
              </a:solidFill>
              <a:latin typeface="Gill Sans MT" panose="020B0502020104020203" pitchFamily="34" charset="77"/>
            </a:endParaRPr>
          </a:p>
        </p:txBody>
      </p:sp>
      <p:pic>
        <p:nvPicPr>
          <p:cNvPr id="2" name="Google Shape;704;p111">
            <a:extLst>
              <a:ext uri="{FF2B5EF4-FFF2-40B4-BE49-F238E27FC236}">
                <a16:creationId xmlns:a16="http://schemas.microsoft.com/office/drawing/2014/main" id="{C81FE92D-F268-AA42-E12C-414F12C656E1}"/>
              </a:ext>
            </a:extLst>
          </p:cNvPr>
          <p:cNvPicPr preferRelativeResize="0"/>
          <p:nvPr/>
        </p:nvPicPr>
        <p:blipFill rotWithShape="1">
          <a:blip r:embed="rId3">
            <a:alphaModFix/>
          </a:blip>
          <a:srcRect/>
          <a:stretch/>
        </p:blipFill>
        <p:spPr>
          <a:xfrm>
            <a:off x="3008329" y="1099875"/>
            <a:ext cx="6429182" cy="5154169"/>
          </a:xfrm>
          <a:prstGeom prst="rect">
            <a:avLst/>
          </a:prstGeom>
          <a:noFill/>
          <a:ln>
            <a:noFill/>
          </a:ln>
        </p:spPr>
      </p:pic>
      <p:pic>
        <p:nvPicPr>
          <p:cNvPr id="4" name="Picture 3">
            <a:extLst>
              <a:ext uri="{FF2B5EF4-FFF2-40B4-BE49-F238E27FC236}">
                <a16:creationId xmlns:a16="http://schemas.microsoft.com/office/drawing/2014/main" id="{77A28992-BE50-7400-8979-E8C7587B1452}"/>
              </a:ext>
            </a:extLst>
          </p:cNvPr>
          <p:cNvPicPr>
            <a:picLocks noChangeAspect="1"/>
          </p:cNvPicPr>
          <p:nvPr/>
        </p:nvPicPr>
        <p:blipFill>
          <a:blip r:embed="rId4"/>
          <a:stretch>
            <a:fillRect/>
          </a:stretch>
        </p:blipFill>
        <p:spPr>
          <a:xfrm>
            <a:off x="170334" y="1375851"/>
            <a:ext cx="2616200" cy="2053149"/>
          </a:xfrm>
          <a:prstGeom prst="rect">
            <a:avLst/>
          </a:prstGeom>
        </p:spPr>
      </p:pic>
      <p:sp>
        <p:nvSpPr>
          <p:cNvPr id="5" name="Right Arrow 4">
            <a:extLst>
              <a:ext uri="{FF2B5EF4-FFF2-40B4-BE49-F238E27FC236}">
                <a16:creationId xmlns:a16="http://schemas.microsoft.com/office/drawing/2014/main" id="{7B838801-A23D-2C02-5E42-7F07F0A26BBA}"/>
              </a:ext>
            </a:extLst>
          </p:cNvPr>
          <p:cNvSpPr/>
          <p:nvPr/>
        </p:nvSpPr>
        <p:spPr>
          <a:xfrm>
            <a:off x="2503778" y="2102219"/>
            <a:ext cx="2258876" cy="226454"/>
          </a:xfrm>
          <a:prstGeom prst="rightArrow">
            <a:avLst>
              <a:gd name="adj1" fmla="val 50000"/>
              <a:gd name="adj2" fmla="val 200579"/>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5AAB78EE-5CFB-AC33-72E7-A3EC3AE23729}"/>
              </a:ext>
            </a:extLst>
          </p:cNvPr>
          <p:cNvSpPr txBox="1"/>
          <p:nvPr/>
        </p:nvSpPr>
        <p:spPr>
          <a:xfrm>
            <a:off x="9437511" y="5884712"/>
            <a:ext cx="1826141" cy="369332"/>
          </a:xfrm>
          <a:prstGeom prst="rect">
            <a:avLst/>
          </a:prstGeom>
          <a:noFill/>
        </p:spPr>
        <p:txBody>
          <a:bodyPr wrap="none" rtlCol="0">
            <a:spAutoFit/>
          </a:bodyPr>
          <a:lstStyle/>
          <a:p>
            <a:r>
              <a:rPr lang="en-US" dirty="0"/>
              <a:t>Bauer et al. 2020</a:t>
            </a:r>
          </a:p>
        </p:txBody>
      </p:sp>
    </p:spTree>
    <p:extLst>
      <p:ext uri="{BB962C8B-B14F-4D97-AF65-F5344CB8AC3E}">
        <p14:creationId xmlns:p14="http://schemas.microsoft.com/office/powerpoint/2010/main" val="1158706081"/>
      </p:ext>
    </p:extLst>
  </p:cSld>
  <p:clrMapOvr>
    <a:masterClrMapping/>
  </p:clrMapOvr>
  <p:transition spd="slow">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1</TotalTime>
  <Words>1805</Words>
  <Application>Microsoft Macintosh PowerPoint</Application>
  <PresentationFormat>Widescreen</PresentationFormat>
  <Paragraphs>108</Paragraphs>
  <Slides>9</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Aptos Display</vt:lpstr>
      <vt:lpstr>Arial</vt:lpstr>
      <vt:lpstr>Gill Sans MT</vt:lpstr>
      <vt:lpstr>Söhne</vt:lpstr>
      <vt:lpstr>Times New Roman</vt:lpstr>
      <vt:lpstr>Office Theme</vt:lpstr>
      <vt:lpstr>PowerPoint Presentation</vt:lpstr>
      <vt:lpstr>Brain Networks involved in Mindfulness Meditation</vt:lpstr>
      <vt:lpstr>Default Mode Network (DMN)</vt:lpstr>
      <vt:lpstr>Salience Network (SN)</vt:lpstr>
      <vt:lpstr>Central Executive Network (CEN)</vt:lpstr>
      <vt:lpstr>Mechanistic model of mindfulness involving the triple networks</vt:lpstr>
      <vt:lpstr>Toward a brain network science of mindfulness</vt:lpstr>
      <vt:lpstr>Enhancement of Mindfulness Learning  </vt:lpstr>
      <vt:lpstr>Positive Diametric Activity FPN&gt;DMN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Bauer Hoss, Clemens</dc:creator>
  <cp:lastModifiedBy>Bauer Hoss, Clemens</cp:lastModifiedBy>
  <cp:revision>1</cp:revision>
  <dcterms:created xsi:type="dcterms:W3CDTF">2026-09-01T20:59:57Z</dcterms:created>
  <dcterms:modified xsi:type="dcterms:W3CDTF">2026-09-01T21:01:51Z</dcterms:modified>
</cp:coreProperties>
</file>