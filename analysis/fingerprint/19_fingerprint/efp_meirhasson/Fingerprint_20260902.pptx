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03120"/>
            <a:ext cx="10698480" cy="2743200"/>
          </a:xfrm>
          <a:prstGeom prst="rect">
            <a:avLst/>
          </a:prstGeom>
          <a:noFill/>
        </p:spPr>
        <p:txBody>
          <a:bodyPr wrap="square">
            <a:spAutoFit/>
          </a:bodyPr>
          <a:lstStyle/>
          <a:p>
            <a:r>
              <a:rPr sz="3400" b="1">
                <a:solidFill>
                  <a:srgbClr val="1F3A5F"/>
                </a:solidFill>
              </a:rPr>
              <a:t>From the Scanner to the Living Room:</a:t>
            </a:r>
          </a:p>
          <a:p>
            <a:r>
              <a:rPr sz="2400" b="1">
                <a:solidFill>
                  <a:srgbClr val="1F3A5F"/>
                </a:solidFill>
              </a:rPr>
              <a:t>Scaling Default Mode Network Neurofeedback with a Portable EEG Fingerprint</a:t>
            </a:r>
          </a:p>
          <a:p>
            <a:r>
              <a:rPr sz="1600">
                <a:solidFill>
                  <a:srgbClr val="555555"/>
                </a:solidFill>
              </a:rPr>
              <a:t>[Your name] · [Lab/Department]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Before we begin: a 3-minute experiment</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Close your eyes (or soften your gaze). We'll do this together, in silence.</a:t>
            </a:r>
          </a:p>
          <a:p>
            <a:pPr>
              <a:spcAft>
                <a:spcPts val="600"/>
              </a:spcAft>
            </a:pPr>
            <a:r>
              <a:rPr sz="1800" b="0"/>
              <a:t>• Part 1 — 30 seconds: just breathe. Notice your breath, nothing else.</a:t>
            </a:r>
          </a:p>
          <a:p>
            <a:pPr>
              <a:spcAft>
                <a:spcPts val="600"/>
              </a:spcAft>
            </a:pPr>
            <a:r>
              <a:rPr sz="1800" b="0"/>
              <a:t>• Part 2 — 2.5 minutes: bring to mind something unresolved — a decision you're unsure about, an interaction that didn't go the way you wanted, something still bothering you. Don't try to solve it. Just let your mind go there, and stay with it.</a:t>
            </a:r>
          </a:p>
          <a:p>
            <a:pPr>
              <a:spcAft>
                <a:spcPts val="600"/>
              </a:spcAft>
            </a:pPr>
            <a:r>
              <a:rPr sz="1800" b="0">
                <a:solidFill>
                  <a:srgbClr val="555555"/>
                </a:solidFill>
              </a:rPr>
              <a:t>• (Speaker: keep time silently — e.g. phone timer, screen turned away from the room. Don't narrate the timing out loud once part 2 starts; let the room sit in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What did you notice?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Ask the room: racing thoughts? Replaying the scenario? Judging yourself? Losing track of the breath entirely?</a:t>
            </a:r>
          </a:p>
          <a:p>
            <a:pPr>
              <a:spcAft>
                <a:spcPts val="600"/>
              </a:spcAft>
            </a:pPr>
            <a:r>
              <a:rPr sz="1900" b="1">
                <a:solidFill>
                  <a:srgbClr val="1F3A5F"/>
                </a:solidFill>
              </a:rPr>
              <a:t>• That drift — away from the present moment and into self-referential, evaluative, looping thought — has a name in neuroscience: the Default Mode Network (DMN).</a:t>
            </a:r>
          </a:p>
          <a:p>
            <a:pPr>
              <a:spcAft>
                <a:spcPts val="600"/>
              </a:spcAft>
            </a:pPr>
            <a:r>
              <a:rPr sz="1900" b="0"/>
              <a:t>• You didn't choose to ruminate just now. For most people, without training, that network runs the show the moment there's nothing else to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this matters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The DMN is most active exactly when we're NOT engaged in an external task — mind-wandering, self-referential processing, autobiographical memory.</a:t>
            </a:r>
          </a:p>
          <a:p>
            <a:pPr>
              <a:spcAft>
                <a:spcPts val="600"/>
              </a:spcAft>
            </a:pPr>
            <a:r>
              <a:rPr sz="1800" b="0"/>
              <a:t>• Excessive, hard-to-disengage DMN activity — rumination — is a transdiagnostic feature of depression, anxiety, and chronic stress, not just an occasional annoyance.</a:t>
            </a:r>
          </a:p>
          <a:p>
            <a:pPr>
              <a:spcAft>
                <a:spcPts val="600"/>
              </a:spcAft>
            </a:pPr>
            <a:r>
              <a:rPr sz="1800" b="1">
                <a:solidFill>
                  <a:srgbClr val="C46A00"/>
                </a:solidFill>
              </a:rPr>
              <a:t>• [Add your specific citations/prevalence stats here]</a:t>
            </a:r>
          </a:p>
          <a:p>
            <a:pPr>
              <a:spcAft>
                <a:spcPts val="600"/>
              </a:spcAft>
            </a:pPr>
            <a:r>
              <a:rPr sz="1800" b="0"/>
              <a:t>• The question this line of work asks: can people learn to quiet this network on demand?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mindfulness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Experienced meditators show reduced DMN activity and altered DMN connectivity, both at rest and during tasks, compared to non-meditators.</a:t>
            </a:r>
          </a:p>
          <a:p>
            <a:pPr>
              <a:spcAft>
                <a:spcPts val="600"/>
              </a:spcAft>
            </a:pPr>
            <a:r>
              <a:rPr sz="1800" b="0"/>
              <a:t>• Mindfulness training is, in effect, DMN self-regulation training — learned gradually, through sustained practice.</a:t>
            </a:r>
          </a:p>
          <a:p>
            <a:pPr>
              <a:spcAft>
                <a:spcPts val="600"/>
              </a:spcAft>
            </a:pPr>
            <a:r>
              <a:rPr sz="1800" b="1">
                <a:solidFill>
                  <a:srgbClr val="C46A00"/>
                </a:solidFill>
              </a:rPr>
              <a:t>• [Cite your preferred primary sources here — e.g. Brewer et al. 2011 PNAS]</a:t>
            </a:r>
          </a:p>
          <a:p>
            <a:pPr>
              <a:spcAft>
                <a:spcPts val="600"/>
              </a:spcAft>
            </a:pPr>
            <a:r>
              <a:rPr sz="1800" b="1">
                <a:solidFill>
                  <a:srgbClr val="B03A2E"/>
                </a:solidFill>
              </a:rPr>
              <a:t>• The catch: this normally takes months to years of practice before it generalizes.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Real-time neurofeedback gives someone a direct, immediate readout of their own brain state — turning an invisible, internal process into something they can see and steer.</a:t>
            </a:r>
          </a:p>
          <a:p>
            <a:pPr>
              <a:spcAft>
                <a:spcPts val="600"/>
              </a:spcAft>
            </a:pPr>
            <a:r>
              <a:rPr sz="1800" b="0"/>
              <a:t>• The hypothesis: if people can SEE their DMN/CEN balance moment to moment, they can learn to shift it far faster than through practice alone — training a muscle you couldn't previously feel.</a:t>
            </a:r>
          </a:p>
          <a:p>
            <a:pPr>
              <a:spcAft>
                <a:spcPts val="600"/>
              </a:spcAft>
            </a:pPr>
            <a:r>
              <a:rPr sz="1800" b="0"/>
              <a:t>• Our approach: a visual "ball" task — the ball rises toward a Central Executive Network (CEN) target when task-focused attention dominates, and toward the DMN target otherwise.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Prior fMRI evidence: this already works in the scanner</a:t>
            </a:r>
          </a:p>
          <a:p>
            <a:r>
              <a:rPr sz="1400">
                <a:solidFill>
                  <a:srgbClr val="555555"/>
                </a:solidFill>
              </a:rPr>
              <a:t>Zhang, Raya, Morfini, ... Bauer, Whitfield-Gabrieli (2023). Molecular Psychiatry.</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500" b="0"/>
              <a:t>• 9 adolescents with a lifetime history of depression/anxiety; DMN and CEN individually localized per person from a resting-state scan.</a:t>
            </a:r>
          </a:p>
          <a:p>
            <a:pPr>
              <a:spcAft>
                <a:spcPts val="600"/>
              </a:spcAft>
            </a:pPr>
            <a:r>
              <a:rPr sz="1500" b="0"/>
              <a:t>• One 15-minute mindfulness-based fMRI neurofeedback (mbNF) session: watch a dot driven by PDA = CEN activation − DMN activation move up with effective mental-noting practice — the exact same PDA metric and ball/dot mechanic used throughout this talk and in mindwear.</a:t>
            </a:r>
          </a:p>
          <a:p>
            <a:pPr>
              <a:spcAft>
                <a:spcPts val="600"/>
              </a:spcAft>
            </a:pPr>
            <a:r>
              <a:rPr sz="1500" b="1">
                <a:solidFill>
                  <a:srgbClr val="2E7D32"/>
                </a:solidFill>
              </a:rPr>
              <a:t>• Result: participants spent significantly more time in the target state (DMN &lt; CEN) than chance (p=.038), and all 9 of 9 adolescents showed reduced within-DMN connectivity after just one session.</a:t>
            </a:r>
          </a:p>
          <a:p>
            <a:pPr>
              <a:spcAft>
                <a:spcPts val="600"/>
              </a:spcAft>
            </a:pPr>
            <a:r>
              <a:rPr sz="1500" b="0"/>
              <a:t>• That connectivity reduction correlated with increased state mindfulness (r=−0.88, p=.002), and statistically mediated the link between neurofeedback performance and the mindfulness gain — i.e., quieting the DMN is plausibly the mechanism, not just a correlate.</a:t>
            </a:r>
          </a:p>
          <a:p>
            <a:pPr>
              <a:spcAft>
                <a:spcPts val="600"/>
              </a:spcAft>
            </a:pPr>
            <a:r>
              <a:rPr sz="1500" b="1">
                <a:solidFill>
                  <a:srgbClr val="1F3A5F"/>
                </a:solidFill>
              </a:rPr>
              <a:t>• This is the evidence base motivating scaling the same paradigm outside the scanner.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scaling problem</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fMRI neurofeedback works, but an MRI scanner is expensive, immobile, and inaccessible for repeated, at-home, or scalable clinical use.</a:t>
            </a:r>
          </a:p>
          <a:p>
            <a:pPr>
              <a:spcAft>
                <a:spcPts val="600"/>
              </a:spcAft>
            </a:pPr>
            <a:r>
              <a:rPr sz="1900" b="1">
                <a:solidFill>
                  <a:srgbClr val="1F3A5F"/>
                </a:solidFill>
              </a:rPr>
              <a:t>• If we want this to reach people beyond a single research scanner, we need the SAME signal, decodable from something portable.</a:t>
            </a:r>
          </a:p>
          <a:p>
            <a:pPr>
              <a:spcAft>
                <a:spcPts val="600"/>
              </a:spcAft>
            </a:pPr>
            <a:r>
              <a:rPr sz="1900" b="0"/>
              <a:t>• EEG is cheap, wearable, and real-time — but scalp EEG doesn't measure DMN/CEN BOLD activity directly. It has to be decoded.</a:t>
            </a:r>
          </a:p>
          <a:p>
            <a:pPr>
              <a:spcAft>
                <a:spcPts val="600"/>
              </a:spcAft>
            </a:pPr>
            <a:r>
              <a:rPr sz="1900" b="1">
                <a:solidFill>
                  <a:srgbClr val="1F3A5F"/>
                </a:solidFill>
              </a:rPr>
              <a:t>• That decoding problem is what the rest of this talk is about.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Meir-Hasson et al. (2014) — the EEG Finger-Print</a:t>
            </a:r>
          </a:p>
          <a:p>
            <a:r>
              <a:rPr sz="1400">
                <a:solidFill>
                  <a:srgbClr val="555555"/>
                </a:solidFill>
              </a:rPr>
              <a:t>NeuroImage 102:128–141  ·  [insert the paper's Fig. 1/Fig. 2 schematic here if desired]</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600" b="0"/>
              <a:t>• Goal: predict fMRI BOLD activity in a specific ROI — especially hard-to-reach subcortical regions like the amygdala — from simultaneous EEG, well enough to eventually let portable EEG stand in for the scanner during neurofeedback.</a:t>
            </a:r>
          </a:p>
          <a:p>
            <a:pPr>
              <a:spcAft>
                <a:spcPts val="600"/>
              </a:spcAft>
            </a:pPr>
            <a:r>
              <a:rPr sz="1600" b="1">
                <a:solidFill>
                  <a:srgbClr val="1F3A5F"/>
                </a:solidFill>
              </a:rPr>
              <a:t>• Core method (what we replicate): single electrode -&gt; Stockwell time-frequency transform -&gt; 10 data-driven equal-energy frequency bands (not fixed alpha/theta) -&gt; ridge regression on a [band x sliding time-delay] design.</a:t>
            </a:r>
          </a:p>
          <a:p>
            <a:pPr>
              <a:spcAft>
                <a:spcPts val="600"/>
              </a:spcAft>
            </a:pPr>
            <a:r>
              <a:rPr sz="1600" b="0"/>
              <a:t>• Key innovation: NO fixed hemodynamic delay. Each frequency band gets its own data-driven delay, per subject and electrode — because the true EEG-to-BOLD lag varies by all three.</a:t>
            </a:r>
          </a:p>
          <a:p>
            <a:pPr>
              <a:spcAft>
                <a:spcPts val="600"/>
              </a:spcAft>
            </a:pPr>
            <a:r>
              <a:rPr sz="1600" b="0"/>
              <a:t>• Validated with double cross-validation (outer block CV for honest test scores, inner CV for the ridge regularization strength) — the same discipline our own replication follows.</a:t>
            </a:r>
          </a:p>
          <a:p>
            <a:pPr>
              <a:spcAft>
                <a:spcPts val="600"/>
              </a:spcAft>
            </a:pPr>
            <a:r>
              <a:rPr sz="1600" b="0"/>
              <a:t>• Tested on two datasets: eyes-open/closed alpha modulation -&gt; visual cortex (n=4), and real-time theta/alpha relaxation neurofeedback -&gt; amygdala and dmPFC (n=20).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Meir-Hasson et al. (2014) — results</a:t>
            </a:r>
          </a:p>
          <a:p>
            <a:r>
              <a:rPr sz="1400">
                <a:solidFill>
                  <a:srgbClr val="555555"/>
                </a:solidFill>
              </a:rPr>
              <a:t>[insert the paper's Fig. 4/6/7 bar charts and amygdala EFP maps here if desired]</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600" b="0"/>
              <a:t>• Visual cortex (n=4): their EFP beat a traditional alpha-power predictor in ALL subjects, and beat a fixed-delay (HRF) predictor in all subjects (75% significantly).</a:t>
            </a:r>
          </a:p>
          <a:p>
            <a:pPr>
              <a:spcAft>
                <a:spcPts val="600"/>
              </a:spcAft>
            </a:pPr>
            <a:r>
              <a:rPr sz="1600" b="1">
                <a:solidFill>
                  <a:srgbClr val="2E7D32"/>
                </a:solidFill>
              </a:rPr>
              <a:t>• Amygdala (17/20 subjects cleared their validation threshold): EFP beat the traditional theta/alpha predictor in 95% of subjects (significant), and the fixed-delay predictor in 90% (35% significant). 85% of subjects reached r &gt; 0.6.</a:t>
            </a:r>
          </a:p>
          <a:p>
            <a:pPr>
              <a:spcAft>
                <a:spcPts val="600"/>
              </a:spcAft>
            </a:pPr>
            <a:r>
              <a:rPr sz="1600" b="0"/>
              <a:t>• Best electrode for amygdala was P3 (theta/alpha/beta/gamma all contributed); the dmPFC control region was best predicted by a DIFFERENT electrode (Fz) with a different frequency pattern entirely — evidence the fingerprint is region-specific, not a generic global signal.</a:t>
            </a:r>
          </a:p>
          <a:p>
            <a:pPr>
              <a:spcAft>
                <a:spcPts val="600"/>
              </a:spcAft>
            </a:pPr>
            <a:r>
              <a:rPr sz="1600" b="0"/>
              <a:t>• The delay between EEG and BOLD varied by subject, electrode, AND frequency band — directly justifying the sliding per-band delay design our own EFP inherits.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Our method: the EEG Finger-Print (EFP)</a:t>
            </a:r>
          </a:p>
          <a:p>
            <a:r>
              <a:rPr sz="1400">
                <a:solidFill>
                  <a:srgbClr val="555555"/>
                </a:solidFill>
              </a:rPr>
              <a:t>Replicating and extending Meir-Hasson 2014 for DMN, CEN, and PDA (CEN−DMN)</a:t>
            </a:r>
          </a:p>
        </p:txBody>
      </p:sp>
      <p:pic>
        <p:nvPicPr>
          <p:cNvPr id="3" name="Picture 2" descr="paper_fig2_schematic_PDA_tr.png"/>
          <p:cNvPicPr>
            <a:picLocks noChangeAspect="1"/>
          </p:cNvPicPr>
          <p:nvPr/>
        </p:nvPicPr>
        <p:blipFill>
          <a:blip r:embed="rId2"/>
          <a:stretch>
            <a:fillRect/>
          </a:stretch>
        </p:blipFill>
        <p:spPr>
          <a:xfrm>
            <a:off x="3291840" y="1325880"/>
            <a:ext cx="5597280" cy="4206240"/>
          </a:xfrm>
          <a:prstGeom prst="rect">
            <a:avLst/>
          </a:prstGeom>
        </p:spPr>
      </p:pic>
      <p:sp>
        <p:nvSpPr>
          <p:cNvPr id="4" name="TextBox 3"/>
          <p:cNvSpPr txBox="1"/>
          <p:nvPr/>
        </p:nvSpPr>
        <p:spPr>
          <a:xfrm>
            <a:off x="548640" y="5623560"/>
            <a:ext cx="11064240" cy="5029200"/>
          </a:xfrm>
          <a:prstGeom prst="rect">
            <a:avLst/>
          </a:prstGeom>
          <a:noFill/>
        </p:spPr>
        <p:txBody>
          <a:bodyPr wrap="square">
            <a:spAutoFit/>
          </a:bodyPr>
          <a:lstStyle/>
          <a:p>
            <a:pPr>
              <a:spcAft>
                <a:spcPts val="600"/>
              </a:spcAft>
            </a:pPr>
            <a:r>
              <a:rPr sz="1300" b="0"/>
              <a:t>• In plain terms: for each electrode, break the EEG into 10 frequency bands, look at how each band's power over the last ~12 seconds predicts the fMRI signal right now, and let a regression model learn a separate best lag PER frequency band — no assumed fixed delay.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works within-subject</a:t>
            </a:r>
          </a:p>
          <a:p>
            <a:r>
              <a:rPr sz="1400">
                <a:solidFill>
                  <a:srgbClr val="555555"/>
                </a:solidFill>
              </a:rPr>
              <a:t>n=19, single best electrode per subject</a:t>
            </a:r>
          </a:p>
        </p:txBody>
      </p:sp>
      <p:pic>
        <p:nvPicPr>
          <p:cNvPr id="3" name="Picture 2" descr="fig_efp_vs_baselines.png"/>
          <p:cNvPicPr>
            <a:picLocks noChangeAspect="1"/>
          </p:cNvPicPr>
          <p:nvPr/>
        </p:nvPicPr>
        <p:blipFill>
          <a:blip r:embed="rId2"/>
          <a:stretch>
            <a:fillRect/>
          </a:stretch>
        </p:blipFill>
        <p:spPr>
          <a:xfrm>
            <a:off x="1371600" y="1280160"/>
            <a:ext cx="9418320" cy="4499864"/>
          </a:xfrm>
          <a:prstGeom prst="rect">
            <a:avLst/>
          </a:prstGeom>
        </p:spPr>
      </p:pic>
      <p:sp>
        <p:nvSpPr>
          <p:cNvPr id="4" name="TextBox 3"/>
          <p:cNvSpPr txBox="1"/>
          <p:nvPr/>
        </p:nvSpPr>
        <p:spPr>
          <a:xfrm>
            <a:off x="548640" y="5760720"/>
            <a:ext cx="11064240" cy="5029200"/>
          </a:xfrm>
          <a:prstGeom prst="rect">
            <a:avLst/>
          </a:prstGeom>
          <a:noFill/>
        </p:spPr>
        <p:txBody>
          <a:bodyPr wrap="square">
            <a:spAutoFit/>
          </a:bodyPr>
          <a:lstStyle/>
          <a:p>
            <a:pPr>
              <a:spcAft>
                <a:spcPts val="600"/>
              </a:spcAft>
            </a:pPr>
            <a:r>
              <a:rPr sz="1400" b="0"/>
              <a:t>• EFP beats both a fixed-HRF baseline and the traditional theta/alpha ratio across every target — strongest for CEN, PDA, and their global-signal-controlled variants (r≈0.14–0.18).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generalizes to a NEW subject within our own cohort</a:t>
            </a:r>
          </a:p>
          <a:p>
            <a:r>
              <a:rPr sz="1400">
                <a:solidFill>
                  <a:srgbClr val="555555"/>
                </a:solidFill>
              </a:rPr>
              <a:t>Leave-one-subject-out (LOSO): train on 18, predict the 19th, never seen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1">
                <a:solidFill>
                  <a:srgbClr val="1F3A5F"/>
                </a:solidFill>
              </a:rPr>
              <a:t>• CEN: r=+0.114 (p=0.001)</a:t>
            </a:r>
          </a:p>
          <a:p>
            <a:pPr>
              <a:spcAft>
                <a:spcPts val="600"/>
              </a:spcAft>
            </a:pPr>
            <a:r>
              <a:rPr sz="2000" b="1">
                <a:solidFill>
                  <a:srgbClr val="1F3A5F"/>
                </a:solidFill>
              </a:rPr>
              <a:t>• DMN: r=+0.107 (p=0.001)</a:t>
            </a:r>
          </a:p>
          <a:p>
            <a:pPr>
              <a:spcAft>
                <a:spcPts val="600"/>
              </a:spcAft>
            </a:pPr>
            <a:r>
              <a:rPr sz="2000" b="1">
                <a:solidFill>
                  <a:srgbClr val="1F3A5F"/>
                </a:solidFill>
              </a:rPr>
              <a:t>• PDA: r=+0.157 (p=0.002)</a:t>
            </a:r>
          </a:p>
          <a:p>
            <a:pPr>
              <a:spcAft>
                <a:spcPts val="600"/>
              </a:spcAft>
            </a:pPr>
            <a:r>
              <a:rPr sz="2000" b="0"/>
              <a:t>• This is a single, general fingerprint (not personalized) — evidence the EFP captures a real, shared EEG-to-BOLD mapping, not subject-specific overfitting.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Adding 2 more subjects only helped</a:t>
            </a:r>
          </a:p>
          <a:p>
            <a:r>
              <a:rPr sz="1400">
                <a:solidFill>
                  <a:srgbClr val="555555"/>
                </a:solidFill>
              </a:rPr>
              <a:t>sub-dmnelf002/003 recovered via R128 trigger-marker reconstruction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3 targets moved from non-significant/marginal at n=17 to clearly significant at n=19.</a:t>
            </a:r>
          </a:p>
          <a:p>
            <a:pPr>
              <a:spcAft>
                <a:spcPts val="600"/>
              </a:spcAft>
            </a:pPr>
            <a:r>
              <a:rPr sz="2000" b="0"/>
              <a:t>• Several other targets got stronger (tighter p-values); nothing regressed meaningfully.</a:t>
            </a:r>
          </a:p>
          <a:p>
            <a:pPr>
              <a:spcAft>
                <a:spcPts val="600"/>
              </a:spcAft>
            </a:pPr>
            <a:r>
              <a:rPr sz="2000" b="1">
                <a:solidFill>
                  <a:srgbClr val="2E7D32"/>
                </a:solidFill>
              </a:rPr>
              <a:t>• Net effect of the 2 recovered subjects: real, if modest, improvement across the board.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replicates in a completely independent cohort</a:t>
            </a:r>
          </a:p>
          <a:p>
            <a:r>
              <a:rPr sz="1400">
                <a:solidFill>
                  <a:srgbClr val="555555"/>
                </a:solidFill>
              </a:rPr>
              <a:t>DMNELF-trained fingerprint, tested on rtBPD — zero rtBPD data used in training</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CEN  (electrode CP6)</a:t>
            </a:r>
          </a:p>
          <a:p>
            <a:pPr lvl="1">
              <a:spcAft>
                <a:spcPts val="600"/>
              </a:spcAft>
            </a:pPr>
            <a:r>
              <a:rPr sz="1600" b="0"/>
              <a:t>– Session 1 (nf1, n=19): r=+0.165, p=0.000</a:t>
            </a:r>
          </a:p>
          <a:p>
            <a:pPr lvl="1">
              <a:spcAft>
                <a:spcPts val="600"/>
              </a:spcAft>
            </a:pPr>
            <a:r>
              <a:rPr sz="1600" b="0"/>
              <a:t>– Session 2 (nf2, n=11): r=+0.161, p=0.002</a:t>
            </a:r>
          </a:p>
          <a:p>
            <a:pPr>
              <a:spcAft>
                <a:spcPts val="600"/>
              </a:spcAft>
            </a:pPr>
            <a:r>
              <a:rPr sz="1800" b="1">
                <a:solidFill>
                  <a:srgbClr val="1F3A5F"/>
                </a:solidFill>
              </a:rPr>
              <a:t>• DMN  (electrode O1)</a:t>
            </a:r>
          </a:p>
          <a:p>
            <a:pPr lvl="1">
              <a:spcAft>
                <a:spcPts val="600"/>
              </a:spcAft>
            </a:pPr>
            <a:r>
              <a:rPr sz="1600" b="0"/>
              <a:t>– Session 1 (nf1, n=19): r=+0.084, p=0.001</a:t>
            </a:r>
          </a:p>
          <a:p>
            <a:pPr lvl="1">
              <a:spcAft>
                <a:spcPts val="600"/>
              </a:spcAft>
            </a:pPr>
            <a:r>
              <a:rPr sz="1600" b="0"/>
              <a:t>– Session 2 (nf2, n=11): r=+0.077, p=0.008</a:t>
            </a:r>
          </a:p>
          <a:p>
            <a:pPr>
              <a:spcAft>
                <a:spcPts val="600"/>
              </a:spcAft>
            </a:pPr>
            <a:r>
              <a:rPr sz="1800" b="1">
                <a:solidFill>
                  <a:srgbClr val="2E7D32"/>
                </a:solidFill>
              </a:rPr>
              <a:t>• Two independent replications, in a cohort the model never saw during training — this is the strongest evidence that the fingerprint is a general EEG-to-BOLD mapping, not an artifact of one dataset.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Interpretable, not a black box</a:t>
            </a:r>
          </a:p>
        </p:txBody>
      </p:sp>
      <p:pic>
        <p:nvPicPr>
          <p:cNvPr id="3" name="Picture 2" descr="efp_group_fingerprint_PDA_tr.png"/>
          <p:cNvPicPr>
            <a:picLocks noChangeAspect="1"/>
          </p:cNvPicPr>
          <p:nvPr/>
        </p:nvPicPr>
        <p:blipFill>
          <a:blip r:embed="rId2"/>
          <a:stretch>
            <a:fillRect/>
          </a:stretch>
        </p:blipFill>
        <p:spPr>
          <a:xfrm>
            <a:off x="274320" y="1280160"/>
            <a:ext cx="5852160" cy="3344091"/>
          </a:xfrm>
          <a:prstGeom prst="rect">
            <a:avLst/>
          </a:prstGeom>
        </p:spPr>
      </p:pic>
      <p:pic>
        <p:nvPicPr>
          <p:cNvPr id="4" name="Picture 3" descr="efp_group_fingerprint_GSR_CEN_tr.png"/>
          <p:cNvPicPr>
            <a:picLocks noChangeAspect="1"/>
          </p:cNvPicPr>
          <p:nvPr/>
        </p:nvPicPr>
        <p:blipFill>
          <a:blip r:embed="rId3"/>
          <a:stretch>
            <a:fillRect/>
          </a:stretch>
        </p:blipFill>
        <p:spPr>
          <a:xfrm>
            <a:off x="6126480" y="1280160"/>
            <a:ext cx="5852160" cy="3344091"/>
          </a:xfrm>
          <a:prstGeom prst="rect">
            <a:avLst/>
          </a:prstGeom>
        </p:spPr>
      </p:pic>
      <p:sp>
        <p:nvSpPr>
          <p:cNvPr id="5" name="TextBox 4"/>
          <p:cNvSpPr txBox="1"/>
          <p:nvPr/>
        </p:nvSpPr>
        <p:spPr>
          <a:xfrm>
            <a:off x="548640" y="5120640"/>
            <a:ext cx="11064240" cy="5029200"/>
          </a:xfrm>
          <a:prstGeom prst="rect">
            <a:avLst/>
          </a:prstGeom>
          <a:noFill/>
        </p:spPr>
        <p:txBody>
          <a:bodyPr wrap="square">
            <a:spAutoFit/>
          </a:bodyPr>
          <a:lstStyle/>
          <a:p>
            <a:pPr>
              <a:spcAft>
                <a:spcPts val="600"/>
              </a:spcAft>
            </a:pPr>
            <a:r>
              <a:rPr sz="1400" b="0"/>
              <a:t>• The learned [frequency × delay] weights peak at ~4–7 second lags — matching the known hemodynamic delay — even though the model was never told this. It re-discovered an HRF-like structure on its own, differing across frequency bands.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From a validated fingerprint to a usable tool</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We now have a general, cross-cohort-validated EEG fingerprint for CEN and DMN.</a:t>
            </a:r>
          </a:p>
          <a:p>
            <a:pPr>
              <a:spcAft>
                <a:spcPts val="600"/>
              </a:spcAft>
            </a:pPr>
            <a:r>
              <a:rPr sz="2000" b="0"/>
              <a:t>• That's enough signal to build something a person could use outside the scanner — not with a 31-channel research cap, but with a consumer-grade, 12-channel portable headset.</a:t>
            </a:r>
          </a:p>
          <a:p>
            <a:pPr>
              <a:spcAft>
                <a:spcPts val="600"/>
              </a:spcAft>
            </a:pPr>
            <a:r>
              <a:rPr sz="2000" b="1">
                <a:solidFill>
                  <a:srgbClr val="1F3A5F"/>
                </a:solidFill>
              </a:rPr>
              <a:t>• That tool is mindwear.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mindwear: portable DMN/CEN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Runs the same visual ball-feedback task as our scanner protocol, driven by a portable 12-channel EEG headset instead of an MRI scanner.</a:t>
            </a:r>
          </a:p>
          <a:p>
            <a:pPr>
              <a:spcAft>
                <a:spcPts val="600"/>
              </a:spcAft>
            </a:pPr>
            <a:r>
              <a:rPr sz="1800" b="0"/>
              <a:t>• The EEG-to-network decoder is the same EFP approach just shown — trained on our DMNELF cohort, montage-restricted to the portable headset's 12 channels.</a:t>
            </a:r>
          </a:p>
          <a:p>
            <a:pPr>
              <a:spcAft>
                <a:spcPts val="600"/>
              </a:spcAft>
            </a:pPr>
            <a:r>
              <a:rPr sz="1800" b="0"/>
              <a:t>• Includes a built-in comparison mode: replay a recorded session and watch the EEG-decoded ball run side by side with the scanner ground truth, on the same run.</a:t>
            </a:r>
          </a:p>
          <a:p>
            <a:pPr>
              <a:spcAft>
                <a:spcPts val="600"/>
              </a:spcAft>
            </a:pPr>
            <a:r>
              <a:rPr sz="1800" b="1">
                <a:solidFill>
                  <a:srgbClr val="C46A00"/>
                </a:solidFill>
              </a:rPr>
              <a:t>• [Insert a mindwear screenshot / architecture diagram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Let's try it live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Demo on myself first — a short live feedback run, so you can see the ball move in real time.</a:t>
            </a:r>
          </a:p>
          <a:p>
            <a:pPr>
              <a:spcAft>
                <a:spcPts val="600"/>
              </a:spcAft>
            </a:pPr>
            <a:r>
              <a:rPr sz="1900" b="0"/>
              <a:t>• Then: any volunteers? (headset fit takes ~1–2 minutes; keep a spare pair of alcohol wipes and the fit-quality checklist within reach)</a:t>
            </a:r>
          </a:p>
          <a:p>
            <a:pPr>
              <a:spcAft>
                <a:spcPts val="600"/>
              </a:spcAft>
            </a:pPr>
            <a:r>
              <a:rPr sz="1900" b="0">
                <a:solidFill>
                  <a:srgbClr val="555555"/>
                </a:solidFill>
              </a:rPr>
              <a:t>• What to watch for: it will be noisier than an fMRI signal — that's expected and is exactly what the earlier results characterized. Watch the overall trend over the run, not moment-to-moment jitter.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Takeaways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1">
                <a:solidFill>
                  <a:srgbClr val="1F3A5F"/>
                </a:solidFill>
              </a:rPr>
              <a:t>• A single-electrode EEG fingerprint, replicating Meir-Hasson 2014, decodes DMN/CEN/PDA within-subject, generalizes to new subjects (LOSO), and replicates in a fully independent cohort (rtBPD) for CEN and DMN.</a:t>
            </a:r>
          </a:p>
          <a:p>
            <a:pPr>
              <a:spcAft>
                <a:spcPts val="600"/>
              </a:spcAft>
            </a:pPr>
            <a:r>
              <a:rPr sz="1900" b="0"/>
              <a:t>• That validated fingerprint now powers mindwear, a portable, scanner-free neurofeedback tool.</a:t>
            </a:r>
          </a:p>
          <a:p>
            <a:pPr>
              <a:spcAft>
                <a:spcPts val="600"/>
              </a:spcAft>
            </a:pPr>
            <a:r>
              <a:rPr sz="1900" b="0"/>
              <a:t>• Next: scaling access to DMN-targeted self-regulation training beyond the scanner — to the clinic, and eventually, the living room.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broader paradigm: mindfulness + targeted neurofeedback</a:t>
            </a:r>
          </a:p>
          <a:p>
            <a:r>
              <a:rPr sz="1400">
                <a:solidFill>
                  <a:srgbClr val="555555"/>
                </a:solidFill>
              </a:rPr>
              <a:t>Bauer et al. (2025). Psychiatry Research: Neuroimaging 353:112050  ·  [insert poster/slide graphics here]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500" b="0"/>
              <a:t>• Same recipe — real-time fMRI neurofeedback delivered from a symptom-relevant region, paired with the same "mental-noting" mindfulness technique — also tested in schizophrenia patients with treatment-resistant auditory hallucinations, targeting superior temporal gyrus (STG) instead of DMN/CEN.</a:t>
            </a:r>
          </a:p>
          <a:p>
            <a:pPr>
              <a:spcAft>
                <a:spcPts val="600"/>
              </a:spcAft>
            </a:pPr>
            <a:r>
              <a:rPr sz="1500" b="0"/>
              <a:t>• Randomized, sham-controlled (n=23): STG-targeted neurofeedback produced significantly greater reductions in secondary auditory cortex activity and its connectivity to prefrontal cognitive-control regions than sham feedback from an unrelated region.</a:t>
            </a:r>
          </a:p>
          <a:p>
            <a:pPr>
              <a:spcAft>
                <a:spcPts val="600"/>
              </a:spcAft>
            </a:pPr>
            <a:r>
              <a:rPr sz="1500" b="0"/>
              <a:t>• Auditory hallucination severity dropped in both groups (consistent with mindfulness itself contributing), but only real, region-specific feedback changed the underlying circuit — the same logic underlying why targeting DMN/CEN specifically (not a generic relaxation signal) should matter here.</a:t>
            </a:r>
          </a:p>
          <a:p>
            <a:pPr>
              <a:spcAft>
                <a:spcPts val="600"/>
              </a:spcAft>
            </a:pPr>
            <a:r>
              <a:rPr sz="1500" b="1">
                <a:solidFill>
                  <a:srgbClr val="1F3A5F"/>
                </a:solidFill>
              </a:rPr>
              <a:t>• Together with the mbNF result on slide 7, this is a second, independent population and target region where the same mindfulness-plus-neurofeedback framework produced measurable brain change — this approach is not a one-off.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