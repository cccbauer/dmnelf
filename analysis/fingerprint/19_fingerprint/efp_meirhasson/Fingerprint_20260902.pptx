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8"/>
    <p:sldId id="278"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snapToObjects="1">
      <p:cViewPr varScale="1">
        <p:scale>
          <a:sx n="120" d="100"/>
          <a:sy n="120" d="100"/>
        </p:scale>
        <p:origin x="800"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openxmlformats.org/officeDocument/2006/relationships/notesMaster" Target="notesMasters/notesMaster1.xml"/><Relationship Id="rId28" Type="http://schemas.openxmlformats.org/officeDocument/2006/relationships/slide" Target="slides/slide22.xml"/><Relationship Id="rId29"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slide. Set the frame for the room: this talk moves from an experiential opening, through the science (replication + cross-cohort validation), to mindwear and a live demo. Fill in your name/lab/date on the slide itself before presenting.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Facilitation: ask the room to close their eyes or soften their gaze; say you'll do this together in silence and you'll tell them when it's over -- don't narrate the phases as they happen. Part 1 (30s): just breathe. Part 2 (2.5 min): bring to mind something unresolved -- a decision you're unsure about, an interaction that didn't go the way you wanted, something still bothering you. Don't try to solve it, just stay with it. Keep time silently (phone, not a visible countdown) -- don't narrate once part 2 starts.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Bring the room back gently. Don't ask 'how was that' yet -- ask 'what did you notice?' and take 2-3 answers before explaining anything. Expect: racing thoughts, replaying the scenario, self-judgment, losing the thread of the instruction. That's the point -- nobody chose to ruminate, it happened automatically. Bridge line: 'What you just experienced -- unprompted, self-referential, looping thought -- has a name in neuroscience: the Default Mode Network. It's called default because, left with nothing else to do, that's where the brain goes.'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DMN activity rises when we're not engaged in an external task -- mind-wandering, self-referential thought, autobiographical memory; the room just generated some on purpose. When that pattern gets stuck it's rumination, a cross-cutting feature of depression and anxiety, not a niche symptom. Add your own citations/prevalence numbers on this slide before presenting (left as a placeholder deliberately). Land on: can people learn to quiet this network on demand?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Mindfulness practice is associated with reduced DMN activity and altered connectivity, at rest and during tasks -- meditators have effectively trained themselves to do, at will, something like the reverse of what the room just experienced involuntarily. Add your preferred primary source (e.g. Brewer et al. 2011 PNAS) on this slide. The catch: normally takes months to years of practice before it generalizes -- that's the opening for neurofeedback as a shortcut.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Real-time neurofeedback gives someone a direct, immediate readout of their own brain state. The hypothesis: seeing your DMN/CEN balance moment to moment lets you learn to shift it far faster than practice alone. Introduce the visual ball task here: it rises toward CEN when task-focused attention dominates, toward DMN otherwise -- this is the exact mechanic used in every result on the following slides.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Zhang, Raya, Morfini, ... Bauer, Whitfield-Gabrieli (2023), Molecular Psychiatry. 9 adolescents with a lifetime history of depression/anxiety; DMN/CEN individually localized per person. One 15-minute mbNF session, using PDA = CEN activation - DMN activation -- the exact same metric and dot/ball mechanic used throughout this talk and in mindwear. Result: participants spent significantly more time in the target state than chance (p=.038); ALL 9 of 9 adolescents showed reduced within-DMN connectivity after just one session; that reduction correlated with increased state mindfulness (r=-0.88, p=.002) and statistically mediated the performance-to-mindfulness link. This is the evidence base that motivates scaling the same paradigm outside the scanner.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fMRI neurofeedback works, but a scanner is expensive, immobile, and inaccessible for repeated/at-home/clinical use. If this is going to reach people beyond one research scanner, we need the SAME signal decodable from something portable. EEG is cheap and real-time but doesn't measure DMN/CEN BOLD directly -- it has to be decoded. That decoding problem is the rest of the talk.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Meir-Hasson et al. (2014), NeuroImage 102:128-141. Goal: predict fMRI BOLD in a specific ROI (they focused on the amygdala) from simultaneous EEG, well enough to eventually let portable EEG stand in for the scanner. Core method we replicate: single electrode -&gt; Stockwell time-frequency transform -&gt; 10 data-driven equal-energy frequency bands (not fixed alpha/theta) -&gt; ridge regression on a [band x sliding time-delay] design. Key innovation: no fixed hemodynamic delay -- each frequency band gets its own data-driven delay, per subject and electrode. Validated with double cross-validation (same discipline our own replication follows).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Their results: visual cortex (n=4) -- EFP beat a traditional alpha-power predictor in ALL subjects, beat a fixed-delay predictor in all subjects (75% significantly). Amygdala (17/20 subjects cleared their validation threshold) -- EFP beat theta/alpha in 95% (significant), beat fixed-delay in 90% (35% significant); 85% of subjects reached r&gt;0.6. Best electrode for amygdala was P3; the dmPFC control region was best predicted by a DIFFERENT electrode (Fz) with a different frequency pattern -- evidence the fingerprint is region-specific, not a generic global signal. Delay varied by subject, electrode, AND frequency band -- direct justification for the sliding per-band delay design.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in plain language (you'll get asked about this, know it cold): for each electrode, break the EEG into 10 frequency bands, look at how each band's power over the last ~12 seconds predicts the fMRI signal right now, and let a regression model learn a separate best lag PER frequency band -- no assumed fixed delay. Why this is legit: fit and evaluated with double cross-validation (outer loop holds out blocks of time, inner loop picks the regularization strength) -- the numbers on the next slides are not fit-and-report-the-same-data results.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n=19, each subject's own single best electrode. EFP beats both a fixed-HRF baseline and the traditional theta/alpha ratio across every target -- strongest for CEN, PDA, and their global-signal-controlled variants (r~0.14-0.18). Say these as correlations between predicted and actual signal, not accuracy percentages.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Leave-one-subject-out: train a single GENERAL model on 18 subjects, predict the 19th, who was never seen -- a harder, more honest test than the within-subject slide (there, each subject had their own fitted model). CEN r=+0.114 (p=.001), DMN r=+0.107 (p=.001), PDA r=+0.157 (p=.002). This is evidence the EFP captures a real, shared EEG-to-BOLD mapping, not subject-specific overfitting.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sub-dmnelf002/003 were recovered via R128 fMRI trigger-marker reconstruction, growing the cohort from 17 to 19. 3 targets moved from non-significant/marginal to clearly significant; several others got stronger; nothing regressed meaningfully. Useful if asked about sample size: the signal is getting cleaner as the cohort grows, not noisier.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HEADLINE SLIDE. The DMNELF-trained fingerprint, applied with ZERO retraining, to a completely different study's participants (rtBPD) -- CEN r=+0.165 (nf1, p&lt;.001) / +0.161 (nf2, p=.002); DMN r=+0.084 (nf1, p=.001) / +0.077 (nf2, p=.008). Two independent replications in a cohort the model never saw during training. This answers 'does this generalize beyond your own dataset' -- say so explicitly. Note (only if asked): PDA also replicates here (nf1 p=.017, nf2 p=.007) in this classic research-cap method -- but that is a SEPARATE finding from mindwear's deployed portable decoder, where PDA specifically has no out-of-sample validity. Don't conflate the two. The slide leads with CEN/DMN because those are the targets that transfer most consistently across every version of this analysis.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model was never told anything about hemodynamics, yet the learned [frequency x delay] weights peak at physiologically plausible 4-7 second lags, differing across frequency bands. Good 'this learned something real, not noise' visual if anyone's skeptical about a black-box model.</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Pivot from science to product: we now have a general, cross-cohort-validated EEG fingerprint for CEN and DMN -- enough signal to build something usable outside the scanner, not with a 31-channel research cap but a consumer-grade 12-channel portable headset. That tool is mindwear.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mindwear runs the identical visual ball-feedback paradigm, driven by the same EFP approach, montage-restricted to the portable headset's 12 channels. Built-in comparison mode: replay a recorded session and watch the EEG-decoded ball run side by side with the scanner ground truth, on the same run. Add a screenshot/architecture diagram here if you have one.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on yourself first so the room sees the ball move before any volunteer. Headset fit takes ~1-2 minutes; keep alcohol wipes + fit-quality checklist within reach. Framing while it runs: 'This is noisier than the fMRI data you saw earlier -- that's expected, exactly what we spent the whole talk characterizing. Watch the trend over the run, not moment-to-moment jitter.' Pre-empts the obvious 'it's jittery' reaction.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sentence each: replication succeeded (within-subject, LOSO, and cross-cohort for CEN/DMN) -&gt; that validated fingerprint now powers mindwear, a portable scanner-free tool -&gt; next is scaling access to DMN-targeted self-regulation training beyond the scanner.</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Bauer et al. (2025), Psychiatry Research: Neuroimaging 353:112050. Same recipe -- real-time fMRI neurofeedback from a symptom-relevant region + the same 'mental-noting' mindfulness technique -- tested in schizophrenia patients with treatment-resistant auditory hallucinations, targeting STG instead of DMN/CEN. Randomized, sham-controlled (n=23): real feedback produced significantly greater reductions in secondary auditory cortex activity and its connectivity to prefrontal control regions than sham. Hallucination severity dropped in both groups, but only real region-specific feedback changed the underlying circuit -- same logic for why targeting DMN/CEN specifically (not generic relaxation) should matter. Together with slide 7, this is a second independent population/region where the same framework produced measurable brain change.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Bauer et al. (2026, in prep) -- rtBPD cohort, real-time fMRI neurofeedback plus 1 month of daily mindfulness practice. ZAN-BPD-SR (BPD symptom severity) dropped significantly baseline to post-treatment (dz=-0.69, p=.007, n=19); PHQ-9 depression severity also dropped (dz=-0.65, p=.011, n=19). This is a genuine clinical outcome, not just a neural one, in a different patient population than the DMNELF replication cohort discussed earlier.</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Continuing the rtBPD results: mPFC-PCC connectivity (a core DMN hub-to-hub connection) decreased across the treatment course (nf2-post &lt; nf1-pre), a robust group-level effect across two clusters. Critically, the amount of reduction in mPFC-left DLPFC connectivity correlates with the amount of ZAN-BPD-SR score reduction (r=0.816, n=17) -- brain-behavior evidence, not just a brain-only or behavior-only finding. This closes the case that targeting this network with neurofeedback + mindfulness produces changes that matter clinically.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2103120"/>
            <a:ext cx="10698480" cy="2215991"/>
          </a:xfrm>
          <a:prstGeom prst="rect">
            <a:avLst/>
          </a:prstGeom>
          <a:noFill/>
        </p:spPr>
        <p:txBody>
          <a:bodyPr wrap="square">
            <a:spAutoFit/>
          </a:bodyPr>
          <a:lstStyle/>
          <a:p>
            <a:r>
              <a:rPr sz="3400" b="1">
                <a:solidFill>
                  <a:srgbClr val="1F3A5F"/>
                </a:solidFill>
              </a:rPr>
              <a:t>From Scanner to</a:t>
            </a:r>
            <a:r>
              <a:rPr lang="en-US" sz="3400" b="1">
                <a:solidFill>
                  <a:srgbClr val="1F3A5F"/>
                </a:solidFill>
              </a:rPr>
              <a:t> Wearable</a:t>
            </a:r>
            <a:endParaRPr sz="3400" b="1">
              <a:solidFill>
                <a:srgbClr val="1F3A5F"/>
              </a:solidFill>
            </a:endParaRPr>
          </a:p>
          <a:p>
            <a:r>
              <a:rPr sz="2400" b="1">
                <a:solidFill>
                  <a:srgbClr val="1F3A5F"/>
                </a:solidFill>
              </a:rPr>
              <a:t>Scaling Default Mode Network Neurofeedback with a Portable EEG Fingerprint</a:t>
            </a:r>
          </a:p>
          <a:p>
            <a:endParaRPr lang="en-US" sz="1600">
              <a:solidFill>
                <a:srgbClr val="555555"/>
              </a:solidFill>
            </a:endParaRPr>
          </a:p>
          <a:p>
            <a:endParaRPr lang="en-US" sz="1600">
              <a:solidFill>
                <a:srgbClr val="555555"/>
              </a:solidFill>
            </a:endParaRPr>
          </a:p>
          <a:p>
            <a:r>
              <a:rPr lang="en-US" sz="1600">
                <a:solidFill>
                  <a:srgbClr val="555555"/>
                </a:solidFill>
              </a:rPr>
              <a:t>Clemens Bauer</a:t>
            </a:r>
            <a:r>
              <a:rPr sz="1600">
                <a:solidFill>
                  <a:srgbClr val="555555"/>
                </a:solidFill>
              </a:rPr>
              <a:t>· </a:t>
            </a:r>
            <a:endParaRPr lang="en-US" sz="1600">
              <a:solidFill>
                <a:srgbClr val="555555"/>
              </a:solidFill>
            </a:endParaRPr>
          </a:p>
          <a:p>
            <a:r>
              <a:rPr lang="en-US" sz="1600">
                <a:solidFill>
                  <a:srgbClr val="555555"/>
                </a:solidFill>
              </a:rPr>
              <a:t>Epic Lab Center for Precition Psychiatry</a:t>
            </a:r>
            <a:r>
              <a:rPr sz="1600">
                <a:solidFill>
                  <a:srgbClr val="555555"/>
                </a:solidFill>
              </a:rPr>
              <a:t>· </a:t>
            </a:r>
            <a:endParaRPr lang="en-US" sz="1600">
              <a:solidFill>
                <a:srgbClr val="555555"/>
              </a:solidFill>
            </a:endParaRPr>
          </a:p>
          <a:p>
            <a:r>
              <a:rPr lang="en-US" sz="1600">
                <a:solidFill>
                  <a:srgbClr val="555555"/>
                </a:solidFill>
              </a:rPr>
              <a:t>09.02.2026</a:t>
            </a:r>
            <a:endParaRPr sz="1600">
              <a:solidFill>
                <a:srgbClr val="555555"/>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11247120" cy="914400"/>
          </a:xfrm>
          <a:prstGeom prst="rect">
            <a:avLst/>
          </a:prstGeom>
          <a:noFill/>
        </p:spPr>
        <p:txBody>
          <a:bodyPr wrap="square">
            <a:spAutoFit/>
          </a:bodyPr>
          <a:lstStyle/>
          <a:p>
            <a:r>
              <a:rPr sz="2800" b="1">
                <a:solidFill>
                  <a:srgbClr val="1F3A5F"/>
                </a:solidFill>
              </a:rPr>
              <a:t>Before we begin: a 3-minute experiment</a:t>
            </a:r>
          </a:p>
        </p:txBody>
      </p:sp>
      <p:sp>
        <p:nvSpPr>
          <p:cNvPr id="3" name="TextBox 2"/>
          <p:cNvSpPr txBox="1"/>
          <p:nvPr/>
        </p:nvSpPr>
        <p:spPr>
          <a:xfrm>
            <a:off x="548640" y="1371600"/>
            <a:ext cx="11064240" cy="5029200"/>
          </a:xfrm>
          <a:prstGeom prst="rect">
            <a:avLst/>
          </a:prstGeom>
          <a:noFill/>
        </p:spPr>
        <p:txBody>
          <a:bodyPr wrap="square">
            <a:spAutoFit/>
          </a:bodyPr>
          <a:lstStyle/>
          <a:p>
            <a:pPr>
              <a:spcAft>
                <a:spcPts val="600"/>
              </a:spcAft>
            </a:pPr>
            <a:r>
              <a:rPr sz="1800" b="1">
                <a:solidFill>
                  <a:srgbClr val="1F3A5F"/>
                </a:solidFill>
              </a:rPr>
              <a:t>• Close your eyes (or soften your gaze). We'll do this together, in silence.</a:t>
            </a:r>
          </a:p>
          <a:p>
            <a:pPr>
              <a:spcAft>
                <a:spcPts val="600"/>
              </a:spcAft>
            </a:pPr>
            <a:r>
              <a:rPr sz="1800" b="0"/>
              <a:t>• Part 1 — 30 seconds: just breathe. Notice your breath, nothing else.</a:t>
            </a:r>
          </a:p>
          <a:p>
            <a:pPr>
              <a:spcAft>
                <a:spcPts val="600"/>
              </a:spcAft>
            </a:pPr>
            <a:r>
              <a:rPr sz="1800" b="0"/>
              <a:t>• Part 2 — 2.5 minutes: bring to mind something unresolved — a decision you're unsure about, an interaction that didn't go the way you wanted, something still bothering you. Don't try to solve it. Just let your mind go there, and stay with it.</a:t>
            </a:r>
          </a:p>
          <a:p>
            <a:pPr>
              <a:spcAft>
                <a:spcPts val="600"/>
              </a:spcAft>
            </a:pPr>
            <a:r>
              <a:rPr sz="1800" b="0">
                <a:solidFill>
                  <a:srgbClr val="555555"/>
                </a:solidFill>
              </a:rPr>
              <a:t>• (Speaker: keep time silently — e.g. phone timer, screen turned away from the room. Don't narrate the timing out loud once part 2 starts; let the room sit in it.)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11247120" cy="914400"/>
          </a:xfrm>
          <a:prstGeom prst="rect">
            <a:avLst/>
          </a:prstGeom>
          <a:noFill/>
        </p:spPr>
        <p:txBody>
          <a:bodyPr wrap="square">
            <a:spAutoFit/>
          </a:bodyPr>
          <a:lstStyle/>
          <a:p>
            <a:r>
              <a:rPr sz="2800" b="1">
                <a:solidFill>
                  <a:srgbClr val="1F3A5F"/>
                </a:solidFill>
              </a:rPr>
              <a:t>What did you notice?</a:t>
            </a:r>
          </a:p>
        </p:txBody>
      </p:sp>
      <p:sp>
        <p:nvSpPr>
          <p:cNvPr id="3" name="TextBox 2"/>
          <p:cNvSpPr txBox="1"/>
          <p:nvPr/>
        </p:nvSpPr>
        <p:spPr>
          <a:xfrm>
            <a:off x="548640" y="1371600"/>
            <a:ext cx="11064240" cy="5029200"/>
          </a:xfrm>
          <a:prstGeom prst="rect">
            <a:avLst/>
          </a:prstGeom>
          <a:noFill/>
        </p:spPr>
        <p:txBody>
          <a:bodyPr wrap="square">
            <a:spAutoFit/>
          </a:bodyPr>
          <a:lstStyle/>
          <a:p>
            <a:pPr>
              <a:spcAft>
                <a:spcPts val="600"/>
              </a:spcAft>
            </a:pPr>
            <a:r>
              <a:rPr sz="1900" b="0"/>
              <a:t>• Ask the room: racing thoughts? Replaying the scenario? Judging yourself? Losing track of the breath entirely?</a:t>
            </a:r>
          </a:p>
          <a:p>
            <a:pPr>
              <a:spcAft>
                <a:spcPts val="600"/>
              </a:spcAft>
            </a:pPr>
            <a:r>
              <a:rPr sz="1900" b="1">
                <a:solidFill>
                  <a:srgbClr val="1F3A5F"/>
                </a:solidFill>
              </a:rPr>
              <a:t>• That drift — away from the present moment and into self-referential, evaluative, looping thought — has a name in neuroscience: the Default Mode Network (DMN).</a:t>
            </a:r>
          </a:p>
          <a:p>
            <a:pPr>
              <a:spcAft>
                <a:spcPts val="600"/>
              </a:spcAft>
            </a:pPr>
            <a:r>
              <a:rPr sz="1900" b="0"/>
              <a:t>• You didn't choose to ruminate just now. For most people, without training, that network runs the show the moment there's nothing else to do.</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11247120" cy="914400"/>
          </a:xfrm>
          <a:prstGeom prst="rect">
            <a:avLst/>
          </a:prstGeom>
          <a:noFill/>
        </p:spPr>
        <p:txBody>
          <a:bodyPr wrap="square">
            <a:spAutoFit/>
          </a:bodyPr>
          <a:lstStyle/>
          <a:p>
            <a:r>
              <a:rPr sz="2800" b="1">
                <a:solidFill>
                  <a:srgbClr val="1F3A5F"/>
                </a:solidFill>
              </a:rPr>
              <a:t>Why this matters</a:t>
            </a:r>
          </a:p>
        </p:txBody>
      </p:sp>
      <p:sp>
        <p:nvSpPr>
          <p:cNvPr id="3" name="TextBox 2"/>
          <p:cNvSpPr txBox="1"/>
          <p:nvPr/>
        </p:nvSpPr>
        <p:spPr>
          <a:xfrm>
            <a:off x="548640" y="1371600"/>
            <a:ext cx="11064240" cy="5029200"/>
          </a:xfrm>
          <a:prstGeom prst="rect">
            <a:avLst/>
          </a:prstGeom>
          <a:noFill/>
        </p:spPr>
        <p:txBody>
          <a:bodyPr wrap="square">
            <a:spAutoFit/>
          </a:bodyPr>
          <a:lstStyle/>
          <a:p>
            <a:pPr>
              <a:spcAft>
                <a:spcPts val="600"/>
              </a:spcAft>
            </a:pPr>
            <a:r>
              <a:rPr sz="1800" b="0"/>
              <a:t>• The DMN is most active exactly when we're NOT engaged in an external task — mind-wandering, self-referential processing, autobiographical memory.</a:t>
            </a:r>
          </a:p>
          <a:p>
            <a:pPr>
              <a:spcAft>
                <a:spcPts val="600"/>
              </a:spcAft>
            </a:pPr>
            <a:r>
              <a:rPr sz="1800" b="0"/>
              <a:t>• Excessive, hard-to-disengage DMN activity — rumination — is a transdiagnostic feature of depression, anxiety, and chronic stress, not just an occasional annoyance.</a:t>
            </a:r>
          </a:p>
          <a:p>
            <a:pPr>
              <a:spcAft>
                <a:spcPts val="600"/>
              </a:spcAft>
            </a:pPr>
            <a:r>
              <a:rPr sz="1800" b="1">
                <a:solidFill>
                  <a:srgbClr val="C46A00"/>
                </a:solidFill>
              </a:rPr>
              <a:t>• [Add your specific citations/prevalence stats here]</a:t>
            </a:r>
          </a:p>
          <a:p>
            <a:pPr>
              <a:spcAft>
                <a:spcPts val="600"/>
              </a:spcAft>
            </a:pPr>
            <a:r>
              <a:rPr sz="1800" b="0"/>
              <a:t>• The question this line of work asks: can people learn to quiet this network on demand?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11247120" cy="914400"/>
          </a:xfrm>
          <a:prstGeom prst="rect">
            <a:avLst/>
          </a:prstGeom>
          <a:noFill/>
        </p:spPr>
        <p:txBody>
          <a:bodyPr wrap="square">
            <a:spAutoFit/>
          </a:bodyPr>
          <a:lstStyle/>
          <a:p>
            <a:r>
              <a:rPr sz="2800" b="1">
                <a:solidFill>
                  <a:srgbClr val="1F3A5F"/>
                </a:solidFill>
              </a:rPr>
              <a:t>Why mindfulness</a:t>
            </a:r>
          </a:p>
        </p:txBody>
      </p:sp>
      <p:sp>
        <p:nvSpPr>
          <p:cNvPr id="3" name="TextBox 2"/>
          <p:cNvSpPr txBox="1"/>
          <p:nvPr/>
        </p:nvSpPr>
        <p:spPr>
          <a:xfrm>
            <a:off x="548640" y="1371600"/>
            <a:ext cx="11064240" cy="5029200"/>
          </a:xfrm>
          <a:prstGeom prst="rect">
            <a:avLst/>
          </a:prstGeom>
          <a:noFill/>
        </p:spPr>
        <p:txBody>
          <a:bodyPr wrap="square">
            <a:spAutoFit/>
          </a:bodyPr>
          <a:lstStyle/>
          <a:p>
            <a:pPr>
              <a:spcAft>
                <a:spcPts val="600"/>
              </a:spcAft>
            </a:pPr>
            <a:r>
              <a:rPr sz="1800" b="0"/>
              <a:t>• Experienced meditators show reduced DMN activity and altered DMN connectivity, both at rest and during tasks, compared to non-meditators.</a:t>
            </a:r>
          </a:p>
          <a:p>
            <a:pPr>
              <a:spcAft>
                <a:spcPts val="600"/>
              </a:spcAft>
            </a:pPr>
            <a:r>
              <a:rPr sz="1800" b="0"/>
              <a:t>• Mindfulness training is, in effect, DMN self-regulation training — learned gradually, through sustained practice.</a:t>
            </a:r>
          </a:p>
          <a:p>
            <a:pPr>
              <a:spcAft>
                <a:spcPts val="600"/>
              </a:spcAft>
            </a:pPr>
            <a:r>
              <a:rPr sz="1800" b="1">
                <a:solidFill>
                  <a:srgbClr val="C46A00"/>
                </a:solidFill>
              </a:rPr>
              <a:t>• [Cite your preferred primary sources here — e.g. Brewer et al. 2011 PNAS]</a:t>
            </a:r>
          </a:p>
          <a:p>
            <a:pPr>
              <a:spcAft>
                <a:spcPts val="600"/>
              </a:spcAft>
            </a:pPr>
            <a:r>
              <a:rPr sz="1800" b="1">
                <a:solidFill>
                  <a:srgbClr val="B03A2E"/>
                </a:solidFill>
              </a:rPr>
              <a:t>• The catch: this normally takes months to years of practice before it generalizes.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11247120" cy="914400"/>
          </a:xfrm>
          <a:prstGeom prst="rect">
            <a:avLst/>
          </a:prstGeom>
          <a:noFill/>
        </p:spPr>
        <p:txBody>
          <a:bodyPr wrap="square">
            <a:spAutoFit/>
          </a:bodyPr>
          <a:lstStyle/>
          <a:p>
            <a:r>
              <a:rPr sz="2800" b="1">
                <a:solidFill>
                  <a:srgbClr val="1F3A5F"/>
                </a:solidFill>
              </a:rPr>
              <a:t>Why neurofeedback</a:t>
            </a:r>
          </a:p>
        </p:txBody>
      </p:sp>
      <p:sp>
        <p:nvSpPr>
          <p:cNvPr id="3" name="TextBox 2"/>
          <p:cNvSpPr txBox="1"/>
          <p:nvPr/>
        </p:nvSpPr>
        <p:spPr>
          <a:xfrm>
            <a:off x="548640" y="1371600"/>
            <a:ext cx="11064240" cy="5029200"/>
          </a:xfrm>
          <a:prstGeom prst="rect">
            <a:avLst/>
          </a:prstGeom>
          <a:noFill/>
        </p:spPr>
        <p:txBody>
          <a:bodyPr wrap="square">
            <a:spAutoFit/>
          </a:bodyPr>
          <a:lstStyle/>
          <a:p>
            <a:pPr>
              <a:spcAft>
                <a:spcPts val="600"/>
              </a:spcAft>
            </a:pPr>
            <a:r>
              <a:rPr sz="1800" b="0"/>
              <a:t>• Real-time neurofeedback gives someone a direct, immediate readout of their own brain state — turning an invisible, internal process into something they can see and steer.</a:t>
            </a:r>
          </a:p>
          <a:p>
            <a:pPr>
              <a:spcAft>
                <a:spcPts val="600"/>
              </a:spcAft>
            </a:pPr>
            <a:r>
              <a:rPr sz="1800" b="0"/>
              <a:t>• The hypothesis: if people can SEE their DMN/CEN balance moment to moment, they can learn to shift it far faster than through practice alone — training a muscle you couldn't previously feel.</a:t>
            </a:r>
          </a:p>
          <a:p>
            <a:pPr>
              <a:spcAft>
                <a:spcPts val="600"/>
              </a:spcAft>
            </a:pPr>
            <a:r>
              <a:rPr sz="1800" b="0"/>
              <a:t>• Our approach: a visual "ball" task — the ball rises toward a Central Executive Network (CEN) target when task-focused attention dominates, and toward the DMN target otherwise.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11247120" cy="914400"/>
          </a:xfrm>
          <a:prstGeom prst="rect">
            <a:avLst/>
          </a:prstGeom>
          <a:noFill/>
        </p:spPr>
        <p:txBody>
          <a:bodyPr wrap="square">
            <a:spAutoFit/>
          </a:bodyPr>
          <a:lstStyle/>
          <a:p>
            <a:r>
              <a:rPr sz="2800" b="1">
                <a:solidFill>
                  <a:srgbClr val="1F3A5F"/>
                </a:solidFill>
              </a:rPr>
              <a:t>Prior fMRI evidence: this already works in the scanner</a:t>
            </a:r>
          </a:p>
          <a:p>
            <a:r>
              <a:rPr sz="1400">
                <a:solidFill>
                  <a:srgbClr val="555555"/>
                </a:solidFill>
              </a:rPr>
              <a:t>Zhang, Raya, Morfini, ... Bauer, Whitfield-Gabrieli (2023). Molecular Psychiatry.</a:t>
            </a:r>
          </a:p>
        </p:txBody>
      </p:sp>
      <p:sp>
        <p:nvSpPr>
          <p:cNvPr id="3" name="TextBox 2"/>
          <p:cNvSpPr txBox="1"/>
          <p:nvPr/>
        </p:nvSpPr>
        <p:spPr>
          <a:xfrm>
            <a:off x="548640" y="4251960"/>
            <a:ext cx="11064240" cy="2468880"/>
          </a:xfrm>
          <a:prstGeom prst="rect">
            <a:avLst/>
          </a:prstGeom>
          <a:noFill/>
        </p:spPr>
        <p:txBody>
          <a:bodyPr wrap="square">
            <a:spAutoFit/>
          </a:bodyPr>
          <a:lstStyle/>
          <a:p>
            <a:pPr>
              <a:spcAft>
                <a:spcPts val="300"/>
              </a:spcAft>
            </a:pPr>
            <a:r>
              <a:rPr sz="1200" b="0"/>
              <a:t>• 9 adolescents with a lifetime history of depression/anxiety; DMN and CEN individually localized per person from a resting-state scan.</a:t>
            </a:r>
          </a:p>
          <a:p>
            <a:pPr>
              <a:spcAft>
                <a:spcPts val="300"/>
              </a:spcAft>
            </a:pPr>
            <a:r>
              <a:rPr sz="1200" b="0"/>
              <a:t>• One 15-minute mindfulness-based fMRI neurofeedback (mbNF) session: watch a dot driven by PDA = CEN activation − DMN activation move up with effective mental-noting practice — the exact same PDA metric and ball/dot mechanic used throughout this talk and in mindwear.</a:t>
            </a:r>
          </a:p>
          <a:p>
            <a:pPr>
              <a:spcAft>
                <a:spcPts val="300"/>
              </a:spcAft>
            </a:pPr>
            <a:r>
              <a:rPr sz="1200" b="1">
                <a:solidFill>
                  <a:srgbClr val="2E7D32"/>
                </a:solidFill>
              </a:rPr>
              <a:t>• Result: participants spent significantly more time in the target state (DMN &lt; CEN) than chance (p=.038), and all 9 of 9 adolescents showed reduced within-DMN connectivity after just one session.</a:t>
            </a:r>
          </a:p>
          <a:p>
            <a:pPr>
              <a:spcAft>
                <a:spcPts val="300"/>
              </a:spcAft>
            </a:pPr>
            <a:r>
              <a:rPr sz="1200" b="0"/>
              <a:t>• That connectivity reduction correlated with increased state mindfulness (r=−0.88, p=.002), and statistically mediated the link between neurofeedback performance and the mindfulness gain — i.e., quieting the DMN is plausibly the mechanism, not just a correlate.</a:t>
            </a:r>
          </a:p>
          <a:p>
            <a:pPr>
              <a:spcAft>
                <a:spcPts val="300"/>
              </a:spcAft>
            </a:pPr>
            <a:r>
              <a:rPr sz="1200" b="1">
                <a:solidFill>
                  <a:srgbClr val="1F3A5F"/>
                </a:solidFill>
              </a:rPr>
              <a:t>• This is the evidence base motivating scaling the same paradigm outside the scanner.</a:t>
            </a:r>
          </a:p>
        </p:txBody>
      </p:sp>
      <p:pic>
        <p:nvPicPr>
          <p:cNvPr id="4" name="Picture 3" descr="Zhang2023_fig3.png"/>
          <p:cNvPicPr>
            <a:picLocks noChangeAspect="1"/>
          </p:cNvPicPr>
          <p:nvPr/>
        </p:nvPicPr>
        <p:blipFill>
          <a:blip r:embed="rId3"/>
          <a:stretch>
            <a:fillRect/>
          </a:stretch>
        </p:blipFill>
        <p:spPr>
          <a:xfrm>
            <a:off x="3689812" y="1280160"/>
            <a:ext cx="4812069" cy="283464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11247120" cy="914400"/>
          </a:xfrm>
          <a:prstGeom prst="rect">
            <a:avLst/>
          </a:prstGeom>
          <a:noFill/>
        </p:spPr>
        <p:txBody>
          <a:bodyPr wrap="square">
            <a:spAutoFit/>
          </a:bodyPr>
          <a:lstStyle/>
          <a:p>
            <a:r>
              <a:rPr sz="2800" b="1">
                <a:solidFill>
                  <a:srgbClr val="1F3A5F"/>
                </a:solidFill>
              </a:rPr>
              <a:t>The scaling problem</a:t>
            </a:r>
          </a:p>
        </p:txBody>
      </p:sp>
      <p:sp>
        <p:nvSpPr>
          <p:cNvPr id="3" name="TextBox 2"/>
          <p:cNvSpPr txBox="1"/>
          <p:nvPr/>
        </p:nvSpPr>
        <p:spPr>
          <a:xfrm>
            <a:off x="548640" y="1371600"/>
            <a:ext cx="11064240" cy="5029200"/>
          </a:xfrm>
          <a:prstGeom prst="rect">
            <a:avLst/>
          </a:prstGeom>
          <a:noFill/>
        </p:spPr>
        <p:txBody>
          <a:bodyPr wrap="square">
            <a:spAutoFit/>
          </a:bodyPr>
          <a:lstStyle/>
          <a:p>
            <a:pPr>
              <a:spcAft>
                <a:spcPts val="600"/>
              </a:spcAft>
            </a:pPr>
            <a:r>
              <a:rPr sz="1900" b="0"/>
              <a:t>• fMRI neurofeedback works, but an MRI scanner is expensive, immobile, and inaccessible for repeated, at-home, or scalable clinical use.</a:t>
            </a:r>
          </a:p>
          <a:p>
            <a:pPr>
              <a:spcAft>
                <a:spcPts val="600"/>
              </a:spcAft>
            </a:pPr>
            <a:r>
              <a:rPr sz="1900" b="1">
                <a:solidFill>
                  <a:srgbClr val="1F3A5F"/>
                </a:solidFill>
              </a:rPr>
              <a:t>• If we want this to reach people beyond a single research scanner, we need the SAME signal, decodable from something portable.</a:t>
            </a:r>
          </a:p>
          <a:p>
            <a:pPr>
              <a:spcAft>
                <a:spcPts val="600"/>
              </a:spcAft>
            </a:pPr>
            <a:r>
              <a:rPr sz="1900" b="0"/>
              <a:t>• EEG is cheap, wearable, and real-time — but scalp EEG doesn't measure DMN/CEN BOLD activity directly. It has to be decoded.</a:t>
            </a:r>
          </a:p>
          <a:p>
            <a:pPr>
              <a:spcAft>
                <a:spcPts val="600"/>
              </a:spcAft>
            </a:pPr>
            <a:r>
              <a:rPr sz="1900" b="1">
                <a:solidFill>
                  <a:srgbClr val="1F3A5F"/>
                </a:solidFill>
              </a:rPr>
              <a:t>• That decoding problem is what the rest of this talk is about.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11247120" cy="914400"/>
          </a:xfrm>
          <a:prstGeom prst="rect">
            <a:avLst/>
          </a:prstGeom>
          <a:noFill/>
        </p:spPr>
        <p:txBody>
          <a:bodyPr wrap="square">
            <a:spAutoFit/>
          </a:bodyPr>
          <a:lstStyle/>
          <a:p>
            <a:r>
              <a:rPr sz="2800" b="1">
                <a:solidFill>
                  <a:srgbClr val="1F3A5F"/>
                </a:solidFill>
              </a:rPr>
              <a:t>Meir-Hasson et al. (2014) — the EEG Finger-Print</a:t>
            </a:r>
          </a:p>
          <a:p>
            <a:r>
              <a:rPr sz="1400">
                <a:solidFill>
                  <a:srgbClr val="555555"/>
                </a:solidFill>
              </a:rPr>
              <a:t>NeuroImage 102:128–141  ·  [insert the paper's Fig. 1/Fig. 2 schematic here if desired]</a:t>
            </a:r>
          </a:p>
        </p:txBody>
      </p:sp>
      <p:sp>
        <p:nvSpPr>
          <p:cNvPr id="3" name="TextBox 2"/>
          <p:cNvSpPr txBox="1"/>
          <p:nvPr/>
        </p:nvSpPr>
        <p:spPr>
          <a:xfrm>
            <a:off x="548640" y="4160520"/>
            <a:ext cx="11064240" cy="2560320"/>
          </a:xfrm>
          <a:prstGeom prst="rect">
            <a:avLst/>
          </a:prstGeom>
          <a:noFill/>
        </p:spPr>
        <p:txBody>
          <a:bodyPr wrap="square">
            <a:spAutoFit/>
          </a:bodyPr>
          <a:lstStyle/>
          <a:p>
            <a:pPr>
              <a:spcAft>
                <a:spcPts val="300"/>
              </a:spcAft>
            </a:pPr>
            <a:r>
              <a:rPr sz="1300" b="0"/>
              <a:t>• Goal: predict fMRI BOLD activity in a specific ROI — especially hard-to-reach subcortical regions like the amygdala — from simultaneous EEG, well enough to eventually let portable EEG stand in for the scanner during neurofeedback.</a:t>
            </a:r>
          </a:p>
          <a:p>
            <a:pPr>
              <a:spcAft>
                <a:spcPts val="300"/>
              </a:spcAft>
            </a:pPr>
            <a:r>
              <a:rPr sz="1300" b="1">
                <a:solidFill>
                  <a:srgbClr val="1F3A5F"/>
                </a:solidFill>
              </a:rPr>
              <a:t>• Core method (what we replicate): single electrode -&gt; Stockwell time-frequency transform -&gt; 10 data-driven equal-energy frequency bands (not fixed alpha/theta) -&gt; ridge regression on a [band x sliding time-delay] design.</a:t>
            </a:r>
          </a:p>
          <a:p>
            <a:pPr>
              <a:spcAft>
                <a:spcPts val="300"/>
              </a:spcAft>
            </a:pPr>
            <a:r>
              <a:rPr sz="1300" b="0"/>
              <a:t>• Key innovation: NO fixed hemodynamic delay. Each frequency band gets its own data-driven delay, per subject and electrode — because the true EEG-to-BOLD lag varies by all three.</a:t>
            </a:r>
          </a:p>
          <a:p>
            <a:pPr>
              <a:spcAft>
                <a:spcPts val="300"/>
              </a:spcAft>
            </a:pPr>
            <a:r>
              <a:rPr sz="1300" b="0"/>
              <a:t>• Validated with double cross-validation (outer block CV for honest test scores, inner CV for the ridge regularization strength) — the same discipline our own replication follows.</a:t>
            </a:r>
          </a:p>
          <a:p>
            <a:pPr>
              <a:spcAft>
                <a:spcPts val="300"/>
              </a:spcAft>
            </a:pPr>
            <a:r>
              <a:rPr sz="1300" b="0"/>
              <a:t>• Tested on two datasets: eyes-open/closed alpha modulation -&gt; visual cortex (n=4), and real-time theta/alpha relaxation neurofeedback -&gt; amygdala and dmPFC (n=20).</a:t>
            </a:r>
          </a:p>
        </p:txBody>
      </p:sp>
      <p:pic>
        <p:nvPicPr>
          <p:cNvPr id="4" name="Picture 3" descr="MeirHasson_fig2.png"/>
          <p:cNvPicPr>
            <a:picLocks noChangeAspect="1"/>
          </p:cNvPicPr>
          <p:nvPr/>
        </p:nvPicPr>
        <p:blipFill>
          <a:blip r:embed="rId3"/>
          <a:stretch>
            <a:fillRect/>
          </a:stretch>
        </p:blipFill>
        <p:spPr>
          <a:xfrm>
            <a:off x="3863473" y="1280160"/>
            <a:ext cx="4464749" cy="27432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11247120" cy="914400"/>
          </a:xfrm>
          <a:prstGeom prst="rect">
            <a:avLst/>
          </a:prstGeom>
          <a:noFill/>
        </p:spPr>
        <p:txBody>
          <a:bodyPr wrap="square">
            <a:spAutoFit/>
          </a:bodyPr>
          <a:lstStyle/>
          <a:p>
            <a:r>
              <a:rPr sz="2800" b="1">
                <a:solidFill>
                  <a:srgbClr val="1F3A5F"/>
                </a:solidFill>
              </a:rPr>
              <a:t>Meir-Hasson et al. (2014) — results</a:t>
            </a:r>
          </a:p>
          <a:p>
            <a:r>
              <a:rPr sz="1400">
                <a:solidFill>
                  <a:srgbClr val="555555"/>
                </a:solidFill>
              </a:rPr>
              <a:t>[insert the paper's Fig. 4/6/7 bar charts and amygdala EFP maps here if desired]</a:t>
            </a:r>
          </a:p>
        </p:txBody>
      </p:sp>
      <p:sp>
        <p:nvSpPr>
          <p:cNvPr id="3" name="TextBox 2"/>
          <p:cNvSpPr txBox="1"/>
          <p:nvPr/>
        </p:nvSpPr>
        <p:spPr>
          <a:xfrm>
            <a:off x="548640" y="4160520"/>
            <a:ext cx="11064240" cy="2560320"/>
          </a:xfrm>
          <a:prstGeom prst="rect">
            <a:avLst/>
          </a:prstGeom>
          <a:noFill/>
        </p:spPr>
        <p:txBody>
          <a:bodyPr wrap="square">
            <a:spAutoFit/>
          </a:bodyPr>
          <a:lstStyle/>
          <a:p>
            <a:pPr>
              <a:spcAft>
                <a:spcPts val="300"/>
              </a:spcAft>
            </a:pPr>
            <a:r>
              <a:rPr sz="1300" b="0"/>
              <a:t>• Visual cortex (n=4): their EFP beat a traditional alpha-power predictor in ALL subjects, and beat a fixed-delay (HRF) predictor in all subjects (75% significantly).</a:t>
            </a:r>
          </a:p>
          <a:p>
            <a:pPr>
              <a:spcAft>
                <a:spcPts val="300"/>
              </a:spcAft>
            </a:pPr>
            <a:r>
              <a:rPr sz="1300" b="1">
                <a:solidFill>
                  <a:srgbClr val="2E7D32"/>
                </a:solidFill>
              </a:rPr>
              <a:t>• Amygdala (17/20 subjects cleared their validation threshold): EFP beat the traditional theta/alpha predictor in 95% of subjects (significant), and the fixed-delay predictor in 90% (35% significant). 85% of subjects reached r &gt; 0.6.</a:t>
            </a:r>
          </a:p>
          <a:p>
            <a:pPr>
              <a:spcAft>
                <a:spcPts val="300"/>
              </a:spcAft>
            </a:pPr>
            <a:r>
              <a:rPr sz="1300" b="0"/>
              <a:t>• Best electrode for amygdala was P3 (theta/alpha/beta/gamma all contributed); the dmPFC control region was best predicted by a DIFFERENT electrode (Fz) with a different frequency pattern entirely — evidence the fingerprint is region-specific, not a generic global signal.</a:t>
            </a:r>
          </a:p>
          <a:p>
            <a:pPr>
              <a:spcAft>
                <a:spcPts val="300"/>
              </a:spcAft>
            </a:pPr>
            <a:r>
              <a:rPr sz="1300" b="0"/>
              <a:t>• The delay between EEG and BOLD varied by subject, electrode, AND frequency band — directly justifying the sliding per-band delay design our own EFP inherits.</a:t>
            </a:r>
          </a:p>
        </p:txBody>
      </p:sp>
      <p:pic>
        <p:nvPicPr>
          <p:cNvPr id="4" name="Picture 3" descr="MeirHasson_fig3.png"/>
          <p:cNvPicPr>
            <a:picLocks noChangeAspect="1"/>
          </p:cNvPicPr>
          <p:nvPr/>
        </p:nvPicPr>
        <p:blipFill>
          <a:blip r:embed="rId3"/>
          <a:stretch>
            <a:fillRect/>
          </a:stretch>
        </p:blipFill>
        <p:spPr>
          <a:xfrm>
            <a:off x="3542619" y="1280160"/>
            <a:ext cx="5106455" cy="27432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11247120" cy="914400"/>
          </a:xfrm>
          <a:prstGeom prst="rect">
            <a:avLst/>
          </a:prstGeom>
          <a:noFill/>
        </p:spPr>
        <p:txBody>
          <a:bodyPr wrap="square">
            <a:spAutoFit/>
          </a:bodyPr>
          <a:lstStyle/>
          <a:p>
            <a:r>
              <a:rPr sz="2800" b="1">
                <a:solidFill>
                  <a:srgbClr val="1F3A5F"/>
                </a:solidFill>
              </a:rPr>
              <a:t>Our method: the EEG Finger-Print (EFP)</a:t>
            </a:r>
          </a:p>
          <a:p>
            <a:r>
              <a:rPr sz="1400">
                <a:solidFill>
                  <a:srgbClr val="555555"/>
                </a:solidFill>
              </a:rPr>
              <a:t>Replicating and extending Meir-Hasson 2014 for DMN, CEN, and PDA (CEN−DMN)</a:t>
            </a:r>
          </a:p>
        </p:txBody>
      </p:sp>
      <p:pic>
        <p:nvPicPr>
          <p:cNvPr id="3" name="Picture 2" descr="paper_fig2_schematic_PDA_tr.png"/>
          <p:cNvPicPr>
            <a:picLocks noChangeAspect="1"/>
          </p:cNvPicPr>
          <p:nvPr/>
        </p:nvPicPr>
        <p:blipFill>
          <a:blip r:embed="rId2"/>
          <a:stretch>
            <a:fillRect/>
          </a:stretch>
        </p:blipFill>
        <p:spPr>
          <a:xfrm>
            <a:off x="3291840" y="1325880"/>
            <a:ext cx="5597280" cy="4206240"/>
          </a:xfrm>
          <a:prstGeom prst="rect">
            <a:avLst/>
          </a:prstGeom>
        </p:spPr>
      </p:pic>
      <p:sp>
        <p:nvSpPr>
          <p:cNvPr id="4" name="TextBox 3"/>
          <p:cNvSpPr txBox="1"/>
          <p:nvPr/>
        </p:nvSpPr>
        <p:spPr>
          <a:xfrm>
            <a:off x="548640" y="5623560"/>
            <a:ext cx="11064240" cy="5029200"/>
          </a:xfrm>
          <a:prstGeom prst="rect">
            <a:avLst/>
          </a:prstGeom>
          <a:noFill/>
        </p:spPr>
        <p:txBody>
          <a:bodyPr wrap="square">
            <a:spAutoFit/>
          </a:bodyPr>
          <a:lstStyle/>
          <a:p>
            <a:pPr>
              <a:spcAft>
                <a:spcPts val="600"/>
              </a:spcAft>
            </a:pPr>
            <a:r>
              <a:rPr sz="1300" b="0"/>
              <a:t>• In plain terms: for each electrode, break the EEG into 10 frequency bands, look at how each band's power over the last ~12 seconds predicts the fMRI signal right now, and let a regression model learn a separate best lag PER frequency band — no assumed fixed delay.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11247120" cy="914400"/>
          </a:xfrm>
          <a:prstGeom prst="rect">
            <a:avLst/>
          </a:prstGeom>
          <a:noFill/>
        </p:spPr>
        <p:txBody>
          <a:bodyPr wrap="square">
            <a:spAutoFit/>
          </a:bodyPr>
          <a:lstStyle/>
          <a:p>
            <a:r>
              <a:rPr sz="2800" b="1">
                <a:solidFill>
                  <a:srgbClr val="1F3A5F"/>
                </a:solidFill>
              </a:rPr>
              <a:t>It works within-subject</a:t>
            </a:r>
          </a:p>
          <a:p>
            <a:r>
              <a:rPr sz="1400">
                <a:solidFill>
                  <a:srgbClr val="555555"/>
                </a:solidFill>
              </a:rPr>
              <a:t>n=19, single best electrode per subject</a:t>
            </a:r>
          </a:p>
        </p:txBody>
      </p:sp>
      <p:pic>
        <p:nvPicPr>
          <p:cNvPr id="3" name="Picture 2" descr="fig_efp_vs_baselines.png"/>
          <p:cNvPicPr>
            <a:picLocks noChangeAspect="1"/>
          </p:cNvPicPr>
          <p:nvPr/>
        </p:nvPicPr>
        <p:blipFill>
          <a:blip r:embed="rId2"/>
          <a:stretch>
            <a:fillRect/>
          </a:stretch>
        </p:blipFill>
        <p:spPr>
          <a:xfrm>
            <a:off x="1371600" y="1280160"/>
            <a:ext cx="9418320" cy="4499864"/>
          </a:xfrm>
          <a:prstGeom prst="rect">
            <a:avLst/>
          </a:prstGeom>
        </p:spPr>
      </p:pic>
      <p:sp>
        <p:nvSpPr>
          <p:cNvPr id="4" name="TextBox 3"/>
          <p:cNvSpPr txBox="1"/>
          <p:nvPr/>
        </p:nvSpPr>
        <p:spPr>
          <a:xfrm>
            <a:off x="548640" y="5760720"/>
            <a:ext cx="11064240" cy="5029200"/>
          </a:xfrm>
          <a:prstGeom prst="rect">
            <a:avLst/>
          </a:prstGeom>
          <a:noFill/>
        </p:spPr>
        <p:txBody>
          <a:bodyPr wrap="square">
            <a:spAutoFit/>
          </a:bodyPr>
          <a:lstStyle/>
          <a:p>
            <a:pPr>
              <a:spcAft>
                <a:spcPts val="600"/>
              </a:spcAft>
            </a:pPr>
            <a:r>
              <a:rPr sz="1400" b="0"/>
              <a:t>• EFP beats both a fixed-HRF baseline and the traditional theta/alpha ratio across every target — strongest for CEN, PDA, and their global-signal-controlled variants (r≈0.14–0.18).</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11247120" cy="914400"/>
          </a:xfrm>
          <a:prstGeom prst="rect">
            <a:avLst/>
          </a:prstGeom>
          <a:noFill/>
        </p:spPr>
        <p:txBody>
          <a:bodyPr wrap="square">
            <a:spAutoFit/>
          </a:bodyPr>
          <a:lstStyle/>
          <a:p>
            <a:r>
              <a:rPr sz="2800" b="1">
                <a:solidFill>
                  <a:srgbClr val="1F3A5F"/>
                </a:solidFill>
              </a:rPr>
              <a:t>It generalizes to a NEW subject within our own cohort</a:t>
            </a:r>
          </a:p>
          <a:p>
            <a:r>
              <a:rPr sz="1400">
                <a:solidFill>
                  <a:srgbClr val="555555"/>
                </a:solidFill>
              </a:rPr>
              <a:t>Leave-one-subject-out (LOSO): train on 18, predict the 19th, never seen</a:t>
            </a:r>
          </a:p>
        </p:txBody>
      </p:sp>
      <p:sp>
        <p:nvSpPr>
          <p:cNvPr id="3" name="TextBox 2"/>
          <p:cNvSpPr txBox="1"/>
          <p:nvPr/>
        </p:nvSpPr>
        <p:spPr>
          <a:xfrm>
            <a:off x="548640" y="1371600"/>
            <a:ext cx="11064240" cy="5029200"/>
          </a:xfrm>
          <a:prstGeom prst="rect">
            <a:avLst/>
          </a:prstGeom>
          <a:noFill/>
        </p:spPr>
        <p:txBody>
          <a:bodyPr wrap="square">
            <a:spAutoFit/>
          </a:bodyPr>
          <a:lstStyle/>
          <a:p>
            <a:pPr>
              <a:spcAft>
                <a:spcPts val="600"/>
              </a:spcAft>
            </a:pPr>
            <a:r>
              <a:rPr sz="2000" b="1">
                <a:solidFill>
                  <a:srgbClr val="1F3A5F"/>
                </a:solidFill>
              </a:rPr>
              <a:t>• CEN: r=+0.114 (p=0.001)</a:t>
            </a:r>
          </a:p>
          <a:p>
            <a:pPr>
              <a:spcAft>
                <a:spcPts val="600"/>
              </a:spcAft>
            </a:pPr>
            <a:r>
              <a:rPr sz="2000" b="1">
                <a:solidFill>
                  <a:srgbClr val="1F3A5F"/>
                </a:solidFill>
              </a:rPr>
              <a:t>• DMN: r=+0.107 (p=0.001)</a:t>
            </a:r>
          </a:p>
          <a:p>
            <a:pPr>
              <a:spcAft>
                <a:spcPts val="600"/>
              </a:spcAft>
            </a:pPr>
            <a:r>
              <a:rPr sz="2000" b="1">
                <a:solidFill>
                  <a:srgbClr val="1F3A5F"/>
                </a:solidFill>
              </a:rPr>
              <a:t>• PDA: r=+0.157 (p=0.002)</a:t>
            </a:r>
          </a:p>
          <a:p>
            <a:pPr>
              <a:spcAft>
                <a:spcPts val="600"/>
              </a:spcAft>
            </a:pPr>
            <a:r>
              <a:rPr sz="2000" b="0"/>
              <a:t>• This is a single, general fingerprint (not personalized) — evidence the EFP captures a real, shared EEG-to-BOLD mapping, not subject-specific overfitting.</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11247120" cy="914400"/>
          </a:xfrm>
          <a:prstGeom prst="rect">
            <a:avLst/>
          </a:prstGeom>
          <a:noFill/>
        </p:spPr>
        <p:txBody>
          <a:bodyPr wrap="square">
            <a:spAutoFit/>
          </a:bodyPr>
          <a:lstStyle/>
          <a:p>
            <a:r>
              <a:rPr sz="2800" b="1">
                <a:solidFill>
                  <a:srgbClr val="1F3A5F"/>
                </a:solidFill>
              </a:rPr>
              <a:t>Adding 2 more subjects only helped</a:t>
            </a:r>
          </a:p>
          <a:p>
            <a:r>
              <a:rPr sz="1400">
                <a:solidFill>
                  <a:srgbClr val="555555"/>
                </a:solidFill>
              </a:rPr>
              <a:t>sub-dmnelf002/003 recovered via R128 trigger-marker reconstruction</a:t>
            </a:r>
          </a:p>
        </p:txBody>
      </p:sp>
      <p:sp>
        <p:nvSpPr>
          <p:cNvPr id="3" name="TextBox 2"/>
          <p:cNvSpPr txBox="1"/>
          <p:nvPr/>
        </p:nvSpPr>
        <p:spPr>
          <a:xfrm>
            <a:off x="548640" y="1371600"/>
            <a:ext cx="11064240" cy="5029200"/>
          </a:xfrm>
          <a:prstGeom prst="rect">
            <a:avLst/>
          </a:prstGeom>
          <a:noFill/>
        </p:spPr>
        <p:txBody>
          <a:bodyPr wrap="square">
            <a:spAutoFit/>
          </a:bodyPr>
          <a:lstStyle/>
          <a:p>
            <a:pPr>
              <a:spcAft>
                <a:spcPts val="600"/>
              </a:spcAft>
            </a:pPr>
            <a:r>
              <a:rPr sz="2000" b="0"/>
              <a:t>• 3 targets moved from non-significant/marginal at n=17 to clearly significant at n=19.</a:t>
            </a:r>
          </a:p>
          <a:p>
            <a:pPr>
              <a:spcAft>
                <a:spcPts val="600"/>
              </a:spcAft>
            </a:pPr>
            <a:r>
              <a:rPr sz="2000" b="0"/>
              <a:t>• Several other targets got stronger (tighter p-values); nothing regressed meaningfully.</a:t>
            </a:r>
          </a:p>
          <a:p>
            <a:pPr>
              <a:spcAft>
                <a:spcPts val="600"/>
              </a:spcAft>
            </a:pPr>
            <a:r>
              <a:rPr sz="2000" b="1">
                <a:solidFill>
                  <a:srgbClr val="2E7D32"/>
                </a:solidFill>
              </a:rPr>
              <a:t>• Net effect of the 2 recovered subjects: real, if modest, improvement across the board.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11247120" cy="914400"/>
          </a:xfrm>
          <a:prstGeom prst="rect">
            <a:avLst/>
          </a:prstGeom>
          <a:noFill/>
        </p:spPr>
        <p:txBody>
          <a:bodyPr wrap="square">
            <a:spAutoFit/>
          </a:bodyPr>
          <a:lstStyle/>
          <a:p>
            <a:r>
              <a:rPr sz="2800" b="1">
                <a:solidFill>
                  <a:srgbClr val="1F3A5F"/>
                </a:solidFill>
              </a:rPr>
              <a:t>It replicates in a completely independent cohort</a:t>
            </a:r>
          </a:p>
          <a:p>
            <a:r>
              <a:rPr sz="1400">
                <a:solidFill>
                  <a:srgbClr val="555555"/>
                </a:solidFill>
              </a:rPr>
              <a:t>DMNELF-trained fingerprint, tested on rtBPD — zero rtBPD data used in training</a:t>
            </a:r>
          </a:p>
        </p:txBody>
      </p:sp>
      <p:sp>
        <p:nvSpPr>
          <p:cNvPr id="3" name="TextBox 2"/>
          <p:cNvSpPr txBox="1"/>
          <p:nvPr/>
        </p:nvSpPr>
        <p:spPr>
          <a:xfrm>
            <a:off x="548640" y="1371600"/>
            <a:ext cx="11064240" cy="5029200"/>
          </a:xfrm>
          <a:prstGeom prst="rect">
            <a:avLst/>
          </a:prstGeom>
          <a:noFill/>
        </p:spPr>
        <p:txBody>
          <a:bodyPr wrap="square">
            <a:spAutoFit/>
          </a:bodyPr>
          <a:lstStyle/>
          <a:p>
            <a:pPr>
              <a:spcAft>
                <a:spcPts val="600"/>
              </a:spcAft>
            </a:pPr>
            <a:r>
              <a:rPr sz="1800" b="1">
                <a:solidFill>
                  <a:srgbClr val="1F3A5F"/>
                </a:solidFill>
              </a:rPr>
              <a:t>• CEN  (electrode CP6)</a:t>
            </a:r>
          </a:p>
          <a:p>
            <a:pPr lvl="1">
              <a:spcAft>
                <a:spcPts val="600"/>
              </a:spcAft>
            </a:pPr>
            <a:r>
              <a:rPr sz="1600" b="0"/>
              <a:t>– Session 1 (nf1, n=19): r=+0.165, p=0.000</a:t>
            </a:r>
          </a:p>
          <a:p>
            <a:pPr lvl="1">
              <a:spcAft>
                <a:spcPts val="600"/>
              </a:spcAft>
            </a:pPr>
            <a:r>
              <a:rPr sz="1600" b="0"/>
              <a:t>– Session 2 (nf2, n=11): r=+0.161, p=0.002</a:t>
            </a:r>
          </a:p>
          <a:p>
            <a:pPr>
              <a:spcAft>
                <a:spcPts val="600"/>
              </a:spcAft>
            </a:pPr>
            <a:r>
              <a:rPr sz="1800" b="1">
                <a:solidFill>
                  <a:srgbClr val="1F3A5F"/>
                </a:solidFill>
              </a:rPr>
              <a:t>• DMN  (electrode O1)</a:t>
            </a:r>
          </a:p>
          <a:p>
            <a:pPr lvl="1">
              <a:spcAft>
                <a:spcPts val="600"/>
              </a:spcAft>
            </a:pPr>
            <a:r>
              <a:rPr sz="1600" b="0"/>
              <a:t>– Session 1 (nf1, n=19): r=+0.084, p=0.001</a:t>
            </a:r>
          </a:p>
          <a:p>
            <a:pPr lvl="1">
              <a:spcAft>
                <a:spcPts val="600"/>
              </a:spcAft>
            </a:pPr>
            <a:r>
              <a:rPr sz="1600" b="0"/>
              <a:t>– Session 2 (nf2, n=11): r=+0.077, p=0.008</a:t>
            </a:r>
          </a:p>
          <a:p>
            <a:pPr>
              <a:spcAft>
                <a:spcPts val="600"/>
              </a:spcAft>
            </a:pPr>
            <a:r>
              <a:rPr sz="1800" b="1">
                <a:solidFill>
                  <a:srgbClr val="2E7D32"/>
                </a:solidFill>
              </a:rPr>
              <a:t>• Two independent replications, in a cohort the model never saw during training — this is the strongest evidence that the fingerprint is a general EEG-to-BOLD mapping, not an artifact of one dataset.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11247120" cy="914400"/>
          </a:xfrm>
          <a:prstGeom prst="rect">
            <a:avLst/>
          </a:prstGeom>
          <a:noFill/>
        </p:spPr>
        <p:txBody>
          <a:bodyPr wrap="square">
            <a:spAutoFit/>
          </a:bodyPr>
          <a:lstStyle/>
          <a:p>
            <a:r>
              <a:rPr sz="2800" b="1">
                <a:solidFill>
                  <a:srgbClr val="1F3A5F"/>
                </a:solidFill>
              </a:rPr>
              <a:t>Interpretable, not a black box</a:t>
            </a:r>
          </a:p>
        </p:txBody>
      </p:sp>
      <p:pic>
        <p:nvPicPr>
          <p:cNvPr id="3" name="Picture 2" descr="efp_group_fingerprint_PDA_tr.png"/>
          <p:cNvPicPr>
            <a:picLocks noChangeAspect="1"/>
          </p:cNvPicPr>
          <p:nvPr/>
        </p:nvPicPr>
        <p:blipFill>
          <a:blip r:embed="rId2"/>
          <a:stretch>
            <a:fillRect/>
          </a:stretch>
        </p:blipFill>
        <p:spPr>
          <a:xfrm>
            <a:off x="274320" y="1280160"/>
            <a:ext cx="5852160" cy="3344091"/>
          </a:xfrm>
          <a:prstGeom prst="rect">
            <a:avLst/>
          </a:prstGeom>
        </p:spPr>
      </p:pic>
      <p:pic>
        <p:nvPicPr>
          <p:cNvPr id="4" name="Picture 3" descr="efp_group_fingerprint_GSR_CEN_tr.png"/>
          <p:cNvPicPr>
            <a:picLocks noChangeAspect="1"/>
          </p:cNvPicPr>
          <p:nvPr/>
        </p:nvPicPr>
        <p:blipFill>
          <a:blip r:embed="rId3"/>
          <a:stretch>
            <a:fillRect/>
          </a:stretch>
        </p:blipFill>
        <p:spPr>
          <a:xfrm>
            <a:off x="6126480" y="1280160"/>
            <a:ext cx="5852160" cy="3344091"/>
          </a:xfrm>
          <a:prstGeom prst="rect">
            <a:avLst/>
          </a:prstGeom>
        </p:spPr>
      </p:pic>
      <p:sp>
        <p:nvSpPr>
          <p:cNvPr id="5" name="TextBox 4"/>
          <p:cNvSpPr txBox="1"/>
          <p:nvPr/>
        </p:nvSpPr>
        <p:spPr>
          <a:xfrm>
            <a:off x="548640" y="5120640"/>
            <a:ext cx="11064240" cy="5029200"/>
          </a:xfrm>
          <a:prstGeom prst="rect">
            <a:avLst/>
          </a:prstGeom>
          <a:noFill/>
        </p:spPr>
        <p:txBody>
          <a:bodyPr wrap="square">
            <a:spAutoFit/>
          </a:bodyPr>
          <a:lstStyle/>
          <a:p>
            <a:pPr>
              <a:spcAft>
                <a:spcPts val="600"/>
              </a:spcAft>
            </a:pPr>
            <a:r>
              <a:rPr sz="1400" b="0"/>
              <a:t>• The learned [frequency × delay] weights peak at ~4–7 second lags — matching the known hemodynamic delay — even though the model was never told this. It re-discovered an HRF-like structure on its own, differing across frequency bands.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11247120" cy="914400"/>
          </a:xfrm>
          <a:prstGeom prst="rect">
            <a:avLst/>
          </a:prstGeom>
          <a:noFill/>
        </p:spPr>
        <p:txBody>
          <a:bodyPr wrap="square">
            <a:spAutoFit/>
          </a:bodyPr>
          <a:lstStyle/>
          <a:p>
            <a:r>
              <a:rPr sz="2800" b="1">
                <a:solidFill>
                  <a:srgbClr val="1F3A5F"/>
                </a:solidFill>
              </a:rPr>
              <a:t>From a validated fingerprint to a usable tool</a:t>
            </a:r>
          </a:p>
        </p:txBody>
      </p:sp>
      <p:sp>
        <p:nvSpPr>
          <p:cNvPr id="3" name="TextBox 2"/>
          <p:cNvSpPr txBox="1"/>
          <p:nvPr/>
        </p:nvSpPr>
        <p:spPr>
          <a:xfrm>
            <a:off x="548640" y="1371600"/>
            <a:ext cx="11064240" cy="5029200"/>
          </a:xfrm>
          <a:prstGeom prst="rect">
            <a:avLst/>
          </a:prstGeom>
          <a:noFill/>
        </p:spPr>
        <p:txBody>
          <a:bodyPr wrap="square">
            <a:spAutoFit/>
          </a:bodyPr>
          <a:lstStyle/>
          <a:p>
            <a:pPr>
              <a:spcAft>
                <a:spcPts val="600"/>
              </a:spcAft>
            </a:pPr>
            <a:r>
              <a:rPr sz="2000" b="0"/>
              <a:t>• We now have a general, cross-cohort-validated EEG fingerprint for CEN and DMN.</a:t>
            </a:r>
          </a:p>
          <a:p>
            <a:pPr>
              <a:spcAft>
                <a:spcPts val="600"/>
              </a:spcAft>
            </a:pPr>
            <a:r>
              <a:rPr sz="2000" b="0"/>
              <a:t>• That's enough signal to build something a person could use outside the scanner — not with a 31-channel research cap, but with a consumer-grade, 12-channel portable headset.</a:t>
            </a:r>
          </a:p>
          <a:p>
            <a:pPr>
              <a:spcAft>
                <a:spcPts val="600"/>
              </a:spcAft>
            </a:pPr>
            <a:r>
              <a:rPr sz="2000" b="1">
                <a:solidFill>
                  <a:srgbClr val="1F3A5F"/>
                </a:solidFill>
              </a:rPr>
              <a:t>• That tool is mindwear.</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11247120" cy="914400"/>
          </a:xfrm>
          <a:prstGeom prst="rect">
            <a:avLst/>
          </a:prstGeom>
          <a:noFill/>
        </p:spPr>
        <p:txBody>
          <a:bodyPr wrap="square">
            <a:spAutoFit/>
          </a:bodyPr>
          <a:lstStyle/>
          <a:p>
            <a:r>
              <a:rPr sz="2800" b="1">
                <a:solidFill>
                  <a:srgbClr val="1F3A5F"/>
                </a:solidFill>
              </a:rPr>
              <a:t>mindwear: portable DMN/CEN neurofeedback</a:t>
            </a:r>
          </a:p>
        </p:txBody>
      </p:sp>
      <p:sp>
        <p:nvSpPr>
          <p:cNvPr id="3" name="TextBox 2"/>
          <p:cNvSpPr txBox="1"/>
          <p:nvPr/>
        </p:nvSpPr>
        <p:spPr>
          <a:xfrm>
            <a:off x="548640" y="1371600"/>
            <a:ext cx="11064240" cy="5029200"/>
          </a:xfrm>
          <a:prstGeom prst="rect">
            <a:avLst/>
          </a:prstGeom>
          <a:noFill/>
        </p:spPr>
        <p:txBody>
          <a:bodyPr wrap="square">
            <a:spAutoFit/>
          </a:bodyPr>
          <a:lstStyle/>
          <a:p>
            <a:pPr>
              <a:spcAft>
                <a:spcPts val="600"/>
              </a:spcAft>
            </a:pPr>
            <a:r>
              <a:rPr sz="1800" b="0"/>
              <a:t>• Runs the same visual ball-feedback task as our scanner protocol, driven by a portable 12-channel EEG headset instead of an MRI scanner.</a:t>
            </a:r>
          </a:p>
          <a:p>
            <a:pPr>
              <a:spcAft>
                <a:spcPts val="600"/>
              </a:spcAft>
            </a:pPr>
            <a:r>
              <a:rPr sz="1800" b="0"/>
              <a:t>• The EEG-to-network decoder is the same EFP approach just shown — trained on our DMNELF cohort, montage-restricted to the portable headset's 12 channels.</a:t>
            </a:r>
          </a:p>
          <a:p>
            <a:pPr>
              <a:spcAft>
                <a:spcPts val="600"/>
              </a:spcAft>
            </a:pPr>
            <a:r>
              <a:rPr sz="1800" b="0"/>
              <a:t>• Includes a built-in comparison mode: replay a recorded session and watch the EEG-decoded ball run side by side with the scanner ground truth, on the same run.</a:t>
            </a:r>
          </a:p>
          <a:p>
            <a:pPr>
              <a:spcAft>
                <a:spcPts val="600"/>
              </a:spcAft>
            </a:pPr>
            <a:r>
              <a:rPr sz="1800" b="1">
                <a:solidFill>
                  <a:srgbClr val="C46A00"/>
                </a:solidFill>
              </a:rPr>
              <a:t>• [Insert a mindwear screenshot / architecture diagram here]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11247120" cy="914400"/>
          </a:xfrm>
          <a:prstGeom prst="rect">
            <a:avLst/>
          </a:prstGeom>
          <a:noFill/>
        </p:spPr>
        <p:txBody>
          <a:bodyPr wrap="square">
            <a:spAutoFit/>
          </a:bodyPr>
          <a:lstStyle/>
          <a:p>
            <a:r>
              <a:rPr sz="2800" b="1">
                <a:solidFill>
                  <a:srgbClr val="1F3A5F"/>
                </a:solidFill>
              </a:rPr>
              <a:t>Let's try it live</a:t>
            </a:r>
          </a:p>
        </p:txBody>
      </p:sp>
      <p:sp>
        <p:nvSpPr>
          <p:cNvPr id="3" name="TextBox 2"/>
          <p:cNvSpPr txBox="1"/>
          <p:nvPr/>
        </p:nvSpPr>
        <p:spPr>
          <a:xfrm>
            <a:off x="548640" y="1371600"/>
            <a:ext cx="11064240" cy="5029200"/>
          </a:xfrm>
          <a:prstGeom prst="rect">
            <a:avLst/>
          </a:prstGeom>
          <a:noFill/>
        </p:spPr>
        <p:txBody>
          <a:bodyPr wrap="square">
            <a:spAutoFit/>
          </a:bodyPr>
          <a:lstStyle/>
          <a:p>
            <a:pPr>
              <a:spcAft>
                <a:spcPts val="600"/>
              </a:spcAft>
            </a:pPr>
            <a:r>
              <a:rPr sz="1900" b="0"/>
              <a:t>• Demo on myself first — a short live feedback run, so you can see the ball move in real time.</a:t>
            </a:r>
          </a:p>
          <a:p>
            <a:pPr>
              <a:spcAft>
                <a:spcPts val="600"/>
              </a:spcAft>
            </a:pPr>
            <a:r>
              <a:rPr sz="1900" b="0"/>
              <a:t>• Then: any volunteers? (headset fit takes ~1–2 minutes; keep a spare pair of alcohol wipes and the fit-quality checklist within reach)</a:t>
            </a:r>
          </a:p>
          <a:p>
            <a:pPr>
              <a:spcAft>
                <a:spcPts val="600"/>
              </a:spcAft>
            </a:pPr>
            <a:r>
              <a:rPr sz="1900" b="0">
                <a:solidFill>
                  <a:srgbClr val="555555"/>
                </a:solidFill>
              </a:rPr>
              <a:t>• What to watch for: it will be noisier than an fMRI signal — that's expected and is exactly what the earlier results characterized. Watch the overall trend over the run, not moment-to-moment jitter.</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11247120" cy="914400"/>
          </a:xfrm>
          <a:prstGeom prst="rect">
            <a:avLst/>
          </a:prstGeom>
          <a:noFill/>
        </p:spPr>
        <p:txBody>
          <a:bodyPr wrap="square">
            <a:spAutoFit/>
          </a:bodyPr>
          <a:lstStyle/>
          <a:p>
            <a:r>
              <a:rPr sz="2800" b="1">
                <a:solidFill>
                  <a:srgbClr val="1F3A5F"/>
                </a:solidFill>
              </a:rPr>
              <a:t>Takeaways</a:t>
            </a:r>
          </a:p>
        </p:txBody>
      </p:sp>
      <p:sp>
        <p:nvSpPr>
          <p:cNvPr id="3" name="TextBox 2"/>
          <p:cNvSpPr txBox="1"/>
          <p:nvPr/>
        </p:nvSpPr>
        <p:spPr>
          <a:xfrm>
            <a:off x="548640" y="1371600"/>
            <a:ext cx="11064240" cy="5029200"/>
          </a:xfrm>
          <a:prstGeom prst="rect">
            <a:avLst/>
          </a:prstGeom>
          <a:noFill/>
        </p:spPr>
        <p:txBody>
          <a:bodyPr wrap="square">
            <a:spAutoFit/>
          </a:bodyPr>
          <a:lstStyle/>
          <a:p>
            <a:pPr>
              <a:spcAft>
                <a:spcPts val="600"/>
              </a:spcAft>
            </a:pPr>
            <a:r>
              <a:rPr sz="1900" b="1">
                <a:solidFill>
                  <a:srgbClr val="1F3A5F"/>
                </a:solidFill>
              </a:rPr>
              <a:t>• A single-electrode EEG fingerprint, replicating Meir-Hasson 2014, decodes DMN/CEN/PDA within-subject, generalizes to new subjects (LOSO), and replicates in a fully independent cohort (rtBPD) for CEN and DMN.</a:t>
            </a:r>
          </a:p>
          <a:p>
            <a:pPr>
              <a:spcAft>
                <a:spcPts val="600"/>
              </a:spcAft>
            </a:pPr>
            <a:r>
              <a:rPr sz="1900" b="0"/>
              <a:t>• That validated fingerprint now powers mindwear, a portable, scanner-free neurofeedback tool.</a:t>
            </a:r>
          </a:p>
          <a:p>
            <a:pPr>
              <a:spcAft>
                <a:spcPts val="600"/>
              </a:spcAft>
            </a:pPr>
            <a:r>
              <a:rPr sz="1900" b="0"/>
              <a:t>• Next: scaling access to DMN-targeted self-regulation training beyond the scanner — to the clinic, and eventually, the living room.</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11247120" cy="914400"/>
          </a:xfrm>
          <a:prstGeom prst="rect">
            <a:avLst/>
          </a:prstGeom>
          <a:noFill/>
        </p:spPr>
        <p:txBody>
          <a:bodyPr wrap="square">
            <a:spAutoFit/>
          </a:bodyPr>
          <a:lstStyle/>
          <a:p>
            <a:r>
              <a:rPr sz="2800" b="1">
                <a:solidFill>
                  <a:srgbClr val="1F3A5F"/>
                </a:solidFill>
              </a:rPr>
              <a:t>The broader paradigm: mindfulness + targeted neurofeedback</a:t>
            </a:r>
          </a:p>
          <a:p>
            <a:r>
              <a:rPr sz="1400">
                <a:solidFill>
                  <a:srgbClr val="555555"/>
                </a:solidFill>
              </a:rPr>
              <a:t>Bauer et al. (2025). Psychiatry Research: Neuroimaging 353:112050  ·  [insert poster/slide graphics here]</a:t>
            </a:r>
          </a:p>
        </p:txBody>
      </p:sp>
      <p:sp>
        <p:nvSpPr>
          <p:cNvPr id="3" name="TextBox 2"/>
          <p:cNvSpPr txBox="1"/>
          <p:nvPr/>
        </p:nvSpPr>
        <p:spPr>
          <a:xfrm>
            <a:off x="548640" y="3520440"/>
            <a:ext cx="11064240" cy="3200400"/>
          </a:xfrm>
          <a:prstGeom prst="rect">
            <a:avLst/>
          </a:prstGeom>
          <a:noFill/>
        </p:spPr>
        <p:txBody>
          <a:bodyPr wrap="square">
            <a:spAutoFit/>
          </a:bodyPr>
          <a:lstStyle/>
          <a:p>
            <a:pPr>
              <a:spcAft>
                <a:spcPts val="300"/>
              </a:spcAft>
            </a:pPr>
            <a:r>
              <a:rPr sz="1300" b="0"/>
              <a:t>• Same recipe — real-time fMRI neurofeedback delivered from a symptom-relevant region, paired with the same "mental-noting" mindfulness technique — also tested in schizophrenia patients with treatment-resistant auditory hallucinations, targeting superior temporal gyrus (STG) instead of DMN/CEN.</a:t>
            </a:r>
          </a:p>
          <a:p>
            <a:pPr>
              <a:spcAft>
                <a:spcPts val="300"/>
              </a:spcAft>
            </a:pPr>
            <a:r>
              <a:rPr sz="1300" b="0"/>
              <a:t>• Randomized, sham-controlled (n=23): STG-targeted neurofeedback produced significantly greater reductions in secondary auditory cortex activity and its connectivity to prefrontal cognitive-control regions than sham feedback from an unrelated region.</a:t>
            </a:r>
          </a:p>
          <a:p>
            <a:pPr>
              <a:spcAft>
                <a:spcPts val="300"/>
              </a:spcAft>
            </a:pPr>
            <a:r>
              <a:rPr sz="1300" b="0"/>
              <a:t>• Auditory hallucination severity dropped in both groups (consistent with mindfulness itself contributing), but only real, region-specific feedback changed the underlying circuit — the same logic underlying why targeting DMN/CEN specifically (not a generic relaxation signal) should matter here.</a:t>
            </a:r>
          </a:p>
          <a:p>
            <a:pPr>
              <a:spcAft>
                <a:spcPts val="300"/>
              </a:spcAft>
            </a:pPr>
            <a:r>
              <a:rPr sz="1300" b="1">
                <a:solidFill>
                  <a:srgbClr val="1F3A5F"/>
                </a:solidFill>
              </a:rPr>
              <a:t>• Together with the mbNF result on slide 7, this is a second, independent population and target region where the same mindfulness-plus-neurofeedback framework produced measurable brain change — this approach is not a one-off.</a:t>
            </a:r>
          </a:p>
        </p:txBody>
      </p:sp>
      <p:pic>
        <p:nvPicPr>
          <p:cNvPr id="4" name="Picture 3" descr="Bauer2025_fig3.png"/>
          <p:cNvPicPr>
            <a:picLocks noChangeAspect="1"/>
          </p:cNvPicPr>
          <p:nvPr/>
        </p:nvPicPr>
        <p:blipFill>
          <a:blip r:embed="rId3"/>
          <a:stretch>
            <a:fillRect/>
          </a:stretch>
        </p:blipFill>
        <p:spPr>
          <a:xfrm>
            <a:off x="532461" y="1280160"/>
            <a:ext cx="3432517" cy="2103120"/>
          </a:xfrm>
          <a:prstGeom prst="rect">
            <a:avLst/>
          </a:prstGeom>
        </p:spPr>
      </p:pic>
      <p:pic>
        <p:nvPicPr>
          <p:cNvPr id="5" name="Picture 4" descr="Bauer2025_fig4.png"/>
          <p:cNvPicPr>
            <a:picLocks noChangeAspect="1"/>
          </p:cNvPicPr>
          <p:nvPr/>
        </p:nvPicPr>
        <p:blipFill>
          <a:blip r:embed="rId4"/>
          <a:stretch>
            <a:fillRect/>
          </a:stretch>
        </p:blipFill>
        <p:spPr>
          <a:xfrm>
            <a:off x="4239298" y="1280160"/>
            <a:ext cx="3648567" cy="2103120"/>
          </a:xfrm>
          <a:prstGeom prst="rect">
            <a:avLst/>
          </a:prstGeom>
        </p:spPr>
      </p:pic>
      <p:pic>
        <p:nvPicPr>
          <p:cNvPr id="6" name="Picture 5" descr="Bauer2025_fig5.png"/>
          <p:cNvPicPr>
            <a:picLocks noChangeAspect="1"/>
          </p:cNvPicPr>
          <p:nvPr/>
        </p:nvPicPr>
        <p:blipFill>
          <a:blip r:embed="rId5"/>
          <a:stretch>
            <a:fillRect/>
          </a:stretch>
        </p:blipFill>
        <p:spPr>
          <a:xfrm>
            <a:off x="8162185" y="1280160"/>
            <a:ext cx="3497048" cy="210312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914400"/>
          </a:xfrm>
          <a:prstGeom prst="rect">
            <a:avLst/>
          </a:prstGeom>
          <a:noFill/>
        </p:spPr>
        <p:txBody>
          <a:bodyPr wrap="square">
            <a:spAutoFit/>
          </a:bodyPr>
          <a:lstStyle/>
          <a:p>
            <a:r>
              <a:rPr sz="2800" b="1">
                <a:solidFill>
                  <a:srgbClr val="1F3A5F"/>
                </a:solidFill>
              </a:rPr>
              <a:t>Clinical outcome: rtBPD (Bauer et al., 2026, in prep)</a:t>
            </a:r>
          </a:p>
          <a:p>
            <a:r>
              <a:rPr sz="1400">
                <a:solidFill>
                  <a:srgbClr val="555555"/>
                </a:solidFill>
              </a:rPr>
              <a:t>Real-time fMRI neurofeedback + 1 month of daily mindfulness practice, n=19</a:t>
            </a:r>
          </a:p>
        </p:txBody>
      </p:sp>
      <p:sp>
        <p:nvSpPr>
          <p:cNvPr id="5" name="TextBox 4"/>
          <p:cNvSpPr txBox="1"/>
          <p:nvPr/>
        </p:nvSpPr>
        <p:spPr>
          <a:xfrm>
            <a:off x="548640" y="4892040"/>
            <a:ext cx="11064240" cy="1737360"/>
          </a:xfrm>
          <a:prstGeom prst="rect">
            <a:avLst/>
          </a:prstGeom>
          <a:noFill/>
        </p:spPr>
        <p:txBody>
          <a:bodyPr wrap="square">
            <a:spAutoFit/>
          </a:bodyPr>
          <a:lstStyle/>
          <a:p>
            <a:pPr>
              <a:spcAft>
                <a:spcPts val="500"/>
              </a:spcAft>
            </a:pPr>
            <a:r>
              <a:rPr sz="1500" b="1">
                <a:solidFill>
                  <a:srgbClr val="2E7D32"/>
                </a:solidFill>
              </a:rPr>
              <a:t>• ZAN-BPD-SR total (borderline personality disorder symptom severity, 8 items, 0-32) dropped significantly from baseline to post-treatment (dz=-0.69, p=.007, n=19).</a:t>
            </a:r>
          </a:p>
          <a:p>
            <a:pPr>
              <a:spcAft>
                <a:spcPts val="500"/>
              </a:spcAft>
            </a:pPr>
            <a:r>
              <a:rPr sz="1500" b="1">
                <a:solidFill>
                  <a:srgbClr val="2E7D32"/>
                </a:solidFill>
              </a:rPr>
              <a:t>• PHQ-9 (depression severity) also dropped significantly over the same period (dz=-0.65, p=.011, n=19).</a:t>
            </a:r>
          </a:p>
          <a:p>
            <a:pPr>
              <a:spcAft>
                <a:spcPts val="500"/>
              </a:spcAft>
            </a:pPr>
            <a:r>
              <a:rPr sz="1500" b="0"/>
              <a:t>• This is a real clinical (not just neural) outcome, in a different patient population than the DMNELF replication cohort.</a:t>
            </a:r>
          </a:p>
        </p:txBody>
      </p:sp>
      <p:pic>
        <p:nvPicPr>
          <p:cNvPr id="6" name="Picture 5" descr="image.png"/>
          <p:cNvPicPr>
            <a:picLocks noChangeAspect="1"/>
          </p:cNvPicPr>
          <p:nvPr/>
        </p:nvPicPr>
        <p:blipFill>
          <a:blip r:embed="rId2"/>
          <a:stretch>
            <a:fillRect/>
          </a:stretch>
        </p:blipFill>
        <p:spPr>
          <a:xfrm>
            <a:off x="3097076" y="1371600"/>
            <a:ext cx="5997543" cy="329184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914400"/>
          </a:xfrm>
          <a:prstGeom prst="rect">
            <a:avLst/>
          </a:prstGeom>
          <a:noFill/>
        </p:spPr>
        <p:txBody>
          <a:bodyPr wrap="square">
            <a:spAutoFit/>
          </a:bodyPr>
          <a:lstStyle/>
          <a:p>
            <a:r>
              <a:rPr sz="2800" b="1">
                <a:solidFill>
                  <a:srgbClr val="1F3A5F"/>
                </a:solidFill>
              </a:rPr>
              <a:t>Connectivity change tracks clinical change</a:t>
            </a:r>
          </a:p>
          <a:p>
            <a:r>
              <a:rPr sz="1400">
                <a:solidFill>
                  <a:srgbClr val="555555"/>
                </a:solidFill>
              </a:rPr>
              <a:t>mPFC-PCC connectivity decreases with treatment, and the decrease predicts symptom improvement</a:t>
            </a:r>
          </a:p>
        </p:txBody>
      </p:sp>
      <p:pic>
        <p:nvPicPr>
          <p:cNvPr id="3" name="Picture 2" descr="image.png"/>
          <p:cNvPicPr>
            <a:picLocks noChangeAspect="1"/>
          </p:cNvPicPr>
          <p:nvPr/>
        </p:nvPicPr>
        <p:blipFill>
          <a:blip r:embed="rId2"/>
          <a:stretch>
            <a:fillRect/>
          </a:stretch>
        </p:blipFill>
        <p:spPr>
          <a:xfrm>
            <a:off x="60958" y="1280160"/>
            <a:ext cx="5742114" cy="3291840"/>
          </a:xfrm>
          <a:prstGeom prst="rect">
            <a:avLst/>
          </a:prstGeom>
        </p:spPr>
      </p:pic>
      <p:pic>
        <p:nvPicPr>
          <p:cNvPr id="4" name="Picture 3" descr="Bauer2026_fig3.png"/>
          <p:cNvPicPr>
            <a:picLocks noChangeAspect="1"/>
          </p:cNvPicPr>
          <p:nvPr/>
        </p:nvPicPr>
        <p:blipFill>
          <a:blip r:embed="rId3"/>
          <a:stretch>
            <a:fillRect/>
          </a:stretch>
        </p:blipFill>
        <p:spPr>
          <a:xfrm>
            <a:off x="6031672" y="1280160"/>
            <a:ext cx="6099064" cy="3291840"/>
          </a:xfrm>
          <a:prstGeom prst="rect">
            <a:avLst/>
          </a:prstGeom>
        </p:spPr>
      </p:pic>
      <p:sp>
        <p:nvSpPr>
          <p:cNvPr id="5" name="TextBox 4"/>
          <p:cNvSpPr txBox="1"/>
          <p:nvPr/>
        </p:nvSpPr>
        <p:spPr>
          <a:xfrm>
            <a:off x="548640" y="4800600"/>
            <a:ext cx="11064240" cy="1874519"/>
          </a:xfrm>
          <a:prstGeom prst="rect">
            <a:avLst/>
          </a:prstGeom>
          <a:noFill/>
        </p:spPr>
        <p:txBody>
          <a:bodyPr wrap="square">
            <a:spAutoFit/>
          </a:bodyPr>
          <a:lstStyle/>
          <a:p>
            <a:pPr>
              <a:spcAft>
                <a:spcPts val="500"/>
              </a:spcAft>
            </a:pPr>
            <a:r>
              <a:rPr sz="1400" b="1">
                <a:solidFill>
                  <a:srgbClr val="2E7D32"/>
                </a:solidFill>
              </a:rPr>
              <a:t>• Left: mPFC-PCC connectivity -- a core DMN hub-to-hub connection -- decreased across the treatment course (nf2-post &lt; nf1-pre), a robust group-level effect across two clusters (posteromedial PCC-like, anterior ACC/mid-frontal-like).</a:t>
            </a:r>
          </a:p>
          <a:p>
            <a:pPr>
              <a:spcAft>
                <a:spcPts val="500"/>
              </a:spcAft>
            </a:pPr>
            <a:r>
              <a:rPr sz="1400" b="1">
                <a:solidFill>
                  <a:srgbClr val="2E7D32"/>
                </a:solidFill>
              </a:rPr>
              <a:t>• Right: the amount of reduction in mPFC-left DLPFC connectivity correlates with the amount of reduction in ZAN-BPD-SR score (r=0.816, n=17) -- more connectivity change tracks with more clinical improvement.</a:t>
            </a:r>
          </a:p>
          <a:p>
            <a:pPr>
              <a:spcAft>
                <a:spcPts val="500"/>
              </a:spcAft>
            </a:pPr>
            <a:r>
              <a:rPr sz="1400" b="0"/>
              <a:t>• Together with the clinical outcome on the previous slide, this is brain-behavior evidence that targeting this network with neurofeedback + mindfulness produces changes that matter clinically, not just statistically in the brain.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Metadata/LabelInfo.xml><?xml version="1.0" encoding="utf-8"?>
<clbl:labelList xmlns:clbl="http://schemas.microsoft.com/office/2020/mipLabelMetadata">
  <clbl:label id="{7893ce20-a697-4fd6-a4da-14011f6a471d}" enabled="1" method="Standard" siteId="{a8eec281-aaa3-4dae-ac9b-9a398b9215e7}" contentBits="0" removed="0"/>
</clbl:labelList>
</file>

<file path=docProps/app.xml><?xml version="1.0" encoding="utf-8"?>
<Properties xmlns="http://schemas.openxmlformats.org/officeDocument/2006/extended-properties" xmlns:vt="http://schemas.openxmlformats.org/officeDocument/2006/docPropsVTypes">
  <TotalTime>3</TotalTime>
  <Words>2199</Words>
  <Application>Microsoft Macintosh PowerPoint</Application>
  <PresentationFormat>Widescreen</PresentationFormat>
  <Paragraphs>106</Paragraphs>
  <Slides>21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Bauer Hoss, Clemens</cp:lastModifiedBy>
  <cp:revision>2</cp:revision>
  <dcterms:created xsi:type="dcterms:W3CDTF">2013-01-27T09:14:16Z</dcterms:created>
  <dcterms:modified xsi:type="dcterms:W3CDTF">2026-09-01T19:17:10Z</dcterms:modified>
  <cp:category/>
</cp:coreProperties>
</file>